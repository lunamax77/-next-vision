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5124176" cy="10689336"/>
  <p:notesSz cx="10689336" cy="15124176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jpg"/><Relationship Id="rId4" Type="http://schemas.openxmlformats.org/officeDocument/2006/relationships/image" Target="../media/image-1-4.jpg"/><Relationship Id="rId5" Type="http://schemas.openxmlformats.org/officeDocument/2006/relationships/image" Target="../media/image-1-5.jpg"/><Relationship Id="rId6" Type="http://schemas.openxmlformats.org/officeDocument/2006/relationships/image" Target="../media/image-1-6.jpg"/><Relationship Id="rId7" Type="http://schemas.openxmlformats.org/officeDocument/2006/relationships/image" Target="../media/image-1-7.jpg"/><Relationship Id="rId8" Type="http://schemas.openxmlformats.org/officeDocument/2006/relationships/image" Target="../media/image-1-2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jpg"/><Relationship Id="rId3" Type="http://schemas.openxmlformats.org/officeDocument/2006/relationships/image" Target="../media/image-2-3.jpg"/><Relationship Id="rId4" Type="http://schemas.openxmlformats.org/officeDocument/2006/relationships/image" Target="../media/image-2-4.jpg"/><Relationship Id="rId5" Type="http://schemas.openxmlformats.org/officeDocument/2006/relationships/image" Target="../media/image-2-5.jp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5486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66666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『ともに夢をつくる』</a:t>
            </a:r>
            <a:endParaRPr lang="en-US" sz="1800" dirty="0"/>
          </a:p>
        </p:txBody>
      </p:sp>
      <p:pic>
        <p:nvPicPr>
          <p:cNvPr id="3" name="Image 0" descr="site/dreamcreation/image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051560"/>
            <a:ext cx="3566160" cy="1764792"/>
          </a:xfrm>
          <a:prstGeom prst="rect">
            <a:avLst/>
          </a:prstGeom>
        </p:spPr>
      </p:pic>
      <p:pic>
        <p:nvPicPr>
          <p:cNvPr id="4" name="Image 1" descr="strip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02920" y="2971800"/>
            <a:ext cx="4572000" cy="54864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02920" y="3154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spc="600" kern="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COMPANY PROFILE 2026</a:t>
            </a:r>
            <a:endParaRPr lang="en-US" sz="1100" dirty="0"/>
          </a:p>
        </p:txBody>
      </p:sp>
      <p:sp>
        <p:nvSpPr>
          <p:cNvPr id="6" name="Text 2"/>
          <p:cNvSpPr txBox="1"/>
          <p:nvPr/>
        </p:nvSpPr>
        <p:spPr>
          <a:xfrm>
            <a:off x="502920" y="374904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9999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PHILOSOPHY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502920" y="3968496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C3C3C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企業理念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502920" y="443484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rgbClr val="3C3C3C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Make customers happy</a:t>
            </a:r>
            <a:endParaRPr lang="en-US" sz="1900" dirty="0"/>
          </a:p>
          <a:p>
            <a:pPr indent="0" marL="0">
              <a:buNone/>
            </a:pPr>
            <a:r>
              <a:rPr lang="en-US" sz="1900" i="1" dirty="0">
                <a:solidFill>
                  <a:srgbClr val="3C3C3C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and make society happy.</a:t>
            </a:r>
            <a:endParaRPr lang="en-US" sz="1900" dirty="0"/>
          </a:p>
        </p:txBody>
      </p:sp>
      <p:sp>
        <p:nvSpPr>
          <p:cNvPr id="9" name="Text 5"/>
          <p:cNvSpPr txBox="1"/>
          <p:nvPr/>
        </p:nvSpPr>
        <p:spPr>
          <a:xfrm>
            <a:off x="502920" y="5303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3C3C3C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お客様を幸せに、社会を幸せに。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502920" y="571500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「顧客満足・社会貢献・人との出会い」をキーワードに、セールスプロモーション・イベント・人材の力で、あらゆる方向へ創造的な価値をつくります。社内スローガンは「grow &amp; Fun!」。</a:t>
            </a:r>
            <a:endParaRPr lang="en-US" sz="1000" dirty="0"/>
          </a:p>
        </p:txBody>
      </p:sp>
      <p:sp>
        <p:nvSpPr>
          <p:cNvPr id="11" name="Text 7"/>
          <p:cNvSpPr txBox="1"/>
          <p:nvPr/>
        </p:nvSpPr>
        <p:spPr>
          <a:xfrm>
            <a:off x="502920" y="681228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9999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MESSAGE</a:t>
            </a:r>
            <a:endParaRPr lang="en-US" sz="900" dirty="0"/>
          </a:p>
        </p:txBody>
      </p:sp>
      <p:sp>
        <p:nvSpPr>
          <p:cNvPr id="12" name="Text 8"/>
          <p:cNvSpPr txBox="1"/>
          <p:nvPr/>
        </p:nvSpPr>
        <p:spPr>
          <a:xfrm>
            <a:off x="502920" y="7031736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C3C3C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代表メッセージ</a:t>
            </a:r>
            <a:endParaRPr lang="en-US" sz="1800" dirty="0"/>
          </a:p>
        </p:txBody>
      </p:sp>
      <p:pic>
        <p:nvPicPr>
          <p:cNvPr id="13" name="Image 2" descr="site/dreamcreation/images/takemura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02920" y="7498080"/>
            <a:ext cx="1600200" cy="214884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2286000" y="7498080"/>
            <a:ext cx="27889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企業の使命は、どこまでいっても社会への貢献。まずは雇用を生み出し、人々が幸せに暮らすための活動拠点であり続けること。通信商材の販売促進から始まり、イベント・人材へと広げてきた今も、「一人ひとりの夢を、実現する力に変える」原点は変わりません。1週間後の100%より、3日後の70%。現場で結果を出し続けます。</a:t>
            </a:r>
            <a:endParaRPr lang="en-US" sz="950" dirty="0"/>
          </a:p>
        </p:txBody>
      </p:sp>
      <p:sp>
        <p:nvSpPr>
          <p:cNvPr id="15" name="Text 10"/>
          <p:cNvSpPr txBox="1"/>
          <p:nvPr/>
        </p:nvSpPr>
        <p:spPr>
          <a:xfrm>
            <a:off x="2286000" y="928116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代表取締役　</a:t>
            </a:r>
            <a:pPr indent="0" marL="0">
              <a:buNone/>
            </a:pPr>
            <a:r>
              <a:rPr lang="en-US" sz="1500" dirty="0">
                <a:solidFill>
                  <a:srgbClr val="3C3C3C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竹村 英哲</a:t>
            </a:r>
            <a:endParaRPr lang="en-US" sz="900" dirty="0"/>
          </a:p>
        </p:txBody>
      </p:sp>
      <p:sp>
        <p:nvSpPr>
          <p:cNvPr id="16" name="Text 11"/>
          <p:cNvSpPr txBox="1"/>
          <p:nvPr/>
        </p:nvSpPr>
        <p:spPr>
          <a:xfrm>
            <a:off x="5532120" y="548640"/>
            <a:ext cx="9089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9999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BUSINESS</a:t>
            </a:r>
            <a:endParaRPr lang="en-US" sz="900" dirty="0"/>
          </a:p>
        </p:txBody>
      </p:sp>
      <p:sp>
        <p:nvSpPr>
          <p:cNvPr id="17" name="Text 12"/>
          <p:cNvSpPr txBox="1"/>
          <p:nvPr/>
        </p:nvSpPr>
        <p:spPr>
          <a:xfrm>
            <a:off x="5532120" y="768096"/>
            <a:ext cx="9089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C3C3C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4つの事業で、売れる仕組みをつくる。</a:t>
            </a:r>
            <a:endParaRPr lang="en-US" sz="1800" dirty="0"/>
          </a:p>
        </p:txBody>
      </p:sp>
      <p:pic>
        <p:nvPicPr>
          <p:cNvPr id="18" name="Image 3" descr="site/dreamcreation/images/svc-sales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532120" y="1280160"/>
            <a:ext cx="2100834" cy="128016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5532120" y="2670048"/>
            <a:ext cx="210083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999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Sales Promotion</a:t>
            </a:r>
            <a:endParaRPr lang="en-US" sz="800" dirty="0"/>
          </a:p>
        </p:txBody>
      </p:sp>
      <p:sp>
        <p:nvSpPr>
          <p:cNvPr id="20" name="Text 14"/>
          <p:cNvSpPr txBox="1"/>
          <p:nvPr/>
        </p:nvSpPr>
        <p:spPr>
          <a:xfrm>
            <a:off x="5532120" y="2852928"/>
            <a:ext cx="210083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3C3C3C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セールスプロモーション</a:t>
            </a:r>
            <a:endParaRPr lang="en-US" sz="1300" dirty="0"/>
          </a:p>
        </p:txBody>
      </p:sp>
      <p:sp>
        <p:nvSpPr>
          <p:cNvPr id="21" name="Text 15"/>
          <p:cNvSpPr txBox="1"/>
          <p:nvPr/>
        </p:nvSpPr>
        <p:spPr>
          <a:xfrm>
            <a:off x="5532120" y="3200400"/>
            <a:ext cx="210083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家電量販店・携帯ショップ・商業施設での推奨販売、特販部隊、キャンペーン事務局運営、サンプリング。</a:t>
            </a:r>
            <a:endParaRPr lang="en-US" sz="900" dirty="0"/>
          </a:p>
        </p:txBody>
      </p:sp>
      <p:pic>
        <p:nvPicPr>
          <p:cNvPr id="22" name="Image 4" descr="site/dreamcreation/images/svc-event.jp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7861554" y="1280160"/>
            <a:ext cx="2100834" cy="128016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7861554" y="2670048"/>
            <a:ext cx="210083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999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Event</a:t>
            </a:r>
            <a:endParaRPr lang="en-US" sz="800" dirty="0"/>
          </a:p>
        </p:txBody>
      </p:sp>
      <p:sp>
        <p:nvSpPr>
          <p:cNvPr id="24" name="Text 17"/>
          <p:cNvSpPr txBox="1"/>
          <p:nvPr/>
        </p:nvSpPr>
        <p:spPr>
          <a:xfrm>
            <a:off x="7861554" y="2852928"/>
            <a:ext cx="210083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3C3C3C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イベントプロモーション</a:t>
            </a:r>
            <a:endParaRPr lang="en-US" sz="1300" dirty="0"/>
          </a:p>
        </p:txBody>
      </p:sp>
      <p:sp>
        <p:nvSpPr>
          <p:cNvPr id="25" name="Text 18"/>
          <p:cNvSpPr txBox="1"/>
          <p:nvPr/>
        </p:nvSpPr>
        <p:spPr>
          <a:xfrm>
            <a:off x="7861554" y="3200400"/>
            <a:ext cx="210083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エアー遊具・ワークショップ・縁日などのファミリー集客イベントを、企画から当日運営までワンストップで。</a:t>
            </a:r>
            <a:endParaRPr lang="en-US" sz="900" dirty="0"/>
          </a:p>
        </p:txBody>
      </p:sp>
      <p:pic>
        <p:nvPicPr>
          <p:cNvPr id="26" name="Image 5" descr="site/dreamcreation/images/svc-agency.jp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10190988" y="1280160"/>
            <a:ext cx="2100834" cy="1280160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10190988" y="2670048"/>
            <a:ext cx="210083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999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Agency</a:t>
            </a:r>
            <a:endParaRPr lang="en-US" sz="800" dirty="0"/>
          </a:p>
        </p:txBody>
      </p:sp>
      <p:sp>
        <p:nvSpPr>
          <p:cNvPr id="28" name="Text 20"/>
          <p:cNvSpPr txBox="1"/>
          <p:nvPr/>
        </p:nvSpPr>
        <p:spPr>
          <a:xfrm>
            <a:off x="10190988" y="2852928"/>
            <a:ext cx="210083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3C3C3C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代理店・営業代行</a:t>
            </a:r>
            <a:endParaRPr lang="en-US" sz="1300" dirty="0"/>
          </a:p>
        </p:txBody>
      </p:sp>
      <p:sp>
        <p:nvSpPr>
          <p:cNvPr id="29" name="Text 21"/>
          <p:cNvSpPr txBox="1"/>
          <p:nvPr/>
        </p:nvSpPr>
        <p:spPr>
          <a:xfrm>
            <a:off x="10190988" y="3200400"/>
            <a:ext cx="210083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通信・光回線・キャッシュレス決済・省エネ商材の販売、加盟店開拓、KPI設計から改善までの営業代行。</a:t>
            </a:r>
            <a:endParaRPr lang="en-US" sz="900" dirty="0"/>
          </a:p>
        </p:txBody>
      </p:sp>
      <p:pic>
        <p:nvPicPr>
          <p:cNvPr id="30" name="Image 6" descr="site/dreamcreation/images/svc-staffing.jp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12520422" y="1280160"/>
            <a:ext cx="2100834" cy="1280160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12520422" y="2670048"/>
            <a:ext cx="210083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999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Staffing &amp; Training</a:t>
            </a:r>
            <a:endParaRPr lang="en-US" sz="800" dirty="0"/>
          </a:p>
        </p:txBody>
      </p:sp>
      <p:sp>
        <p:nvSpPr>
          <p:cNvPr id="32" name="Text 23"/>
          <p:cNvSpPr txBox="1"/>
          <p:nvPr/>
        </p:nvSpPr>
        <p:spPr>
          <a:xfrm>
            <a:off x="12520422" y="2852928"/>
            <a:ext cx="210083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3C3C3C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人材派遣・研修</a:t>
            </a:r>
            <a:endParaRPr lang="en-US" sz="1300" dirty="0"/>
          </a:p>
        </p:txBody>
      </p:sp>
      <p:sp>
        <p:nvSpPr>
          <p:cNvPr id="33" name="Text 24"/>
          <p:cNvSpPr txBox="1"/>
          <p:nvPr/>
        </p:nvSpPr>
        <p:spPr>
          <a:xfrm>
            <a:off x="12520422" y="3200400"/>
            <a:ext cx="210083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販売・イベントに強い人材の派遣(派27-304911)。臨店研修・講師派遣・日テレHR研修で現場力を育成。</a:t>
            </a:r>
            <a:endParaRPr lang="en-US" sz="900" dirty="0"/>
          </a:p>
        </p:txBody>
      </p:sp>
      <p:sp>
        <p:nvSpPr>
          <p:cNvPr id="34" name="Text 25"/>
          <p:cNvSpPr txBox="1"/>
          <p:nvPr/>
        </p:nvSpPr>
        <p:spPr>
          <a:xfrm>
            <a:off x="5532120" y="4251960"/>
            <a:ext cx="9089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9999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BY THE NUMBERS</a:t>
            </a:r>
            <a:endParaRPr lang="en-US" sz="900" dirty="0"/>
          </a:p>
        </p:txBody>
      </p:sp>
      <p:sp>
        <p:nvSpPr>
          <p:cNvPr id="35" name="Text 26"/>
          <p:cNvSpPr txBox="1"/>
          <p:nvPr/>
        </p:nvSpPr>
        <p:spPr>
          <a:xfrm>
            <a:off x="5532120" y="4471416"/>
            <a:ext cx="9089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C3C3C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数字で見るDreamCreation</a:t>
            </a:r>
            <a:endParaRPr lang="en-US" sz="1800" dirty="0"/>
          </a:p>
        </p:txBody>
      </p:sp>
      <p:sp>
        <p:nvSpPr>
          <p:cNvPr id="36" name="Shape 27"/>
          <p:cNvSpPr/>
          <p:nvPr/>
        </p:nvSpPr>
        <p:spPr>
          <a:xfrm>
            <a:off x="5532120" y="4937760"/>
            <a:ext cx="1671523" cy="141732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37" name="Text 28"/>
          <p:cNvSpPr txBox="1"/>
          <p:nvPr/>
        </p:nvSpPr>
        <p:spPr>
          <a:xfrm>
            <a:off x="5715000" y="5029200"/>
            <a:ext cx="1397203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rgbClr val="3C3C3C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2017</a:t>
            </a:r>
            <a:pPr indent="0" marL="0">
              <a:buNone/>
            </a:pPr>
            <a:r>
              <a:rPr lang="en-US" sz="1100" dirty="0">
                <a:solidFill>
                  <a:srgbClr val="3C3C3C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 年</a:t>
            </a:r>
            <a:endParaRPr lang="en-US" sz="3200" dirty="0"/>
          </a:p>
        </p:txBody>
      </p:sp>
      <p:sp>
        <p:nvSpPr>
          <p:cNvPr id="38" name="Text 29"/>
          <p:cNvSpPr txBox="1"/>
          <p:nvPr/>
        </p:nvSpPr>
        <p:spPr>
          <a:xfrm>
            <a:off x="5715000" y="5715000"/>
            <a:ext cx="139720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大阪で創業。</a:t>
            </a: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通信販促の現場から出発</a:t>
            </a:r>
            <a:endParaRPr lang="en-US" sz="850" dirty="0"/>
          </a:p>
        </p:txBody>
      </p:sp>
      <p:sp>
        <p:nvSpPr>
          <p:cNvPr id="39" name="Shape 30"/>
          <p:cNvSpPr/>
          <p:nvPr/>
        </p:nvSpPr>
        <p:spPr>
          <a:xfrm>
            <a:off x="7386523" y="4937760"/>
            <a:ext cx="1671523" cy="141732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40" name="Text 31"/>
          <p:cNvSpPr txBox="1"/>
          <p:nvPr/>
        </p:nvSpPr>
        <p:spPr>
          <a:xfrm>
            <a:off x="7569403" y="5029200"/>
            <a:ext cx="1397203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rgbClr val="3C3C3C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45</a:t>
            </a:r>
            <a:pPr indent="0" marL="0">
              <a:buNone/>
            </a:pPr>
            <a:r>
              <a:rPr lang="en-US" sz="1100" dirty="0">
                <a:solidFill>
                  <a:srgbClr val="3C3C3C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 都府県</a:t>
            </a:r>
            <a:endParaRPr lang="en-US" sz="3200" dirty="0"/>
          </a:p>
        </p:txBody>
      </p:sp>
      <p:sp>
        <p:nvSpPr>
          <p:cNvPr id="41" name="Text 32"/>
          <p:cNvSpPr txBox="1"/>
          <p:nvPr/>
        </p:nvSpPr>
        <p:spPr>
          <a:xfrm>
            <a:off x="7569403" y="5715000"/>
            <a:ext cx="139720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北海道・広島を除く</a:t>
            </a: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全国で対応</a:t>
            </a:r>
            <a:endParaRPr lang="en-US" sz="850" dirty="0"/>
          </a:p>
        </p:txBody>
      </p:sp>
      <p:sp>
        <p:nvSpPr>
          <p:cNvPr id="42" name="Shape 33"/>
          <p:cNvSpPr/>
          <p:nvPr/>
        </p:nvSpPr>
        <p:spPr>
          <a:xfrm>
            <a:off x="9240926" y="4937760"/>
            <a:ext cx="1671523" cy="141732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43" name="Text 34"/>
          <p:cNvSpPr txBox="1"/>
          <p:nvPr/>
        </p:nvSpPr>
        <p:spPr>
          <a:xfrm>
            <a:off x="9423806" y="5029200"/>
            <a:ext cx="1397203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rgbClr val="3C3C3C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192</a:t>
            </a:r>
            <a:pPr indent="0" marL="0">
              <a:buNone/>
            </a:pPr>
            <a:r>
              <a:rPr lang="en-US" sz="1100" dirty="0">
                <a:solidFill>
                  <a:srgbClr val="3C3C3C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 名</a:t>
            </a:r>
            <a:endParaRPr lang="en-US" sz="3200" dirty="0"/>
          </a:p>
        </p:txBody>
      </p:sp>
      <p:sp>
        <p:nvSpPr>
          <p:cNvPr id="44" name="Text 35"/>
          <p:cNvSpPr txBox="1"/>
          <p:nvPr/>
        </p:nvSpPr>
        <p:spPr>
          <a:xfrm>
            <a:off x="9423806" y="5715000"/>
            <a:ext cx="139720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派遣スタッフ稼働</a:t>
            </a: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(2022年10月 最大時)</a:t>
            </a:r>
            <a:endParaRPr lang="en-US" sz="850" dirty="0"/>
          </a:p>
        </p:txBody>
      </p:sp>
      <p:sp>
        <p:nvSpPr>
          <p:cNvPr id="45" name="Shape 36"/>
          <p:cNvSpPr/>
          <p:nvPr/>
        </p:nvSpPr>
        <p:spPr>
          <a:xfrm>
            <a:off x="11095330" y="4937760"/>
            <a:ext cx="1671523" cy="141732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46" name="Text 37"/>
          <p:cNvSpPr txBox="1"/>
          <p:nvPr/>
        </p:nvSpPr>
        <p:spPr>
          <a:xfrm>
            <a:off x="11278210" y="5029200"/>
            <a:ext cx="1397203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rgbClr val="3C3C3C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6</a:t>
            </a:r>
            <a:pPr indent="0" marL="0">
              <a:buNone/>
            </a:pPr>
            <a:r>
              <a:rPr lang="en-US" sz="1100" dirty="0">
                <a:solidFill>
                  <a:srgbClr val="3C3C3C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 キャリア</a:t>
            </a:r>
            <a:endParaRPr lang="en-US" sz="3200" dirty="0"/>
          </a:p>
        </p:txBody>
      </p:sp>
      <p:sp>
        <p:nvSpPr>
          <p:cNvPr id="47" name="Text 38"/>
          <p:cNvSpPr txBox="1"/>
          <p:nvPr/>
        </p:nvSpPr>
        <p:spPr>
          <a:xfrm>
            <a:off x="11278210" y="5715000"/>
            <a:ext cx="139720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ドコモ・SB・KDDI・楽天</a:t>
            </a: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・光コラボ・イオンモバイル</a:t>
            </a:r>
            <a:endParaRPr lang="en-US" sz="850" dirty="0"/>
          </a:p>
        </p:txBody>
      </p:sp>
      <p:sp>
        <p:nvSpPr>
          <p:cNvPr id="48" name="Shape 39"/>
          <p:cNvSpPr/>
          <p:nvPr/>
        </p:nvSpPr>
        <p:spPr>
          <a:xfrm>
            <a:off x="12949733" y="4937760"/>
            <a:ext cx="1671523" cy="141732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49" name="Text 40"/>
          <p:cNvSpPr txBox="1"/>
          <p:nvPr/>
        </p:nvSpPr>
        <p:spPr>
          <a:xfrm>
            <a:off x="13132613" y="5029200"/>
            <a:ext cx="1397203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rgbClr val="3C3C3C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37</a:t>
            </a:r>
            <a:pPr indent="0" marL="0">
              <a:buNone/>
            </a:pPr>
            <a:r>
              <a:rPr lang="en-US" sz="1100" dirty="0">
                <a:solidFill>
                  <a:srgbClr val="3C3C3C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 社</a:t>
            </a:r>
            <a:endParaRPr lang="en-US" sz="3200" dirty="0"/>
          </a:p>
        </p:txBody>
      </p:sp>
      <p:sp>
        <p:nvSpPr>
          <p:cNvPr id="50" name="Text 41"/>
          <p:cNvSpPr txBox="1"/>
          <p:nvPr/>
        </p:nvSpPr>
        <p:spPr>
          <a:xfrm>
            <a:off x="13132613" y="5715000"/>
            <a:ext cx="139720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パートナー企業との</a:t>
            </a: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連携ネットワーク</a:t>
            </a:r>
            <a:endParaRPr lang="en-US" sz="850" dirty="0"/>
          </a:p>
        </p:txBody>
      </p:sp>
      <p:sp>
        <p:nvSpPr>
          <p:cNvPr id="51" name="Text 42"/>
          <p:cNvSpPr txBox="1"/>
          <p:nvPr/>
        </p:nvSpPr>
        <p:spPr>
          <a:xfrm>
            <a:off x="5532120" y="6583680"/>
            <a:ext cx="4361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9999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STRENGTHS</a:t>
            </a:r>
            <a:endParaRPr lang="en-US" sz="900" dirty="0"/>
          </a:p>
        </p:txBody>
      </p:sp>
      <p:sp>
        <p:nvSpPr>
          <p:cNvPr id="52" name="Text 43"/>
          <p:cNvSpPr txBox="1"/>
          <p:nvPr/>
        </p:nvSpPr>
        <p:spPr>
          <a:xfrm>
            <a:off x="5532120" y="6803136"/>
            <a:ext cx="4361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C3C3C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選ばれる理由</a:t>
            </a:r>
            <a:endParaRPr lang="en-US" sz="1800" dirty="0"/>
          </a:p>
        </p:txBody>
      </p:sp>
      <p:sp>
        <p:nvSpPr>
          <p:cNvPr id="53" name="Text 44"/>
          <p:cNvSpPr txBox="1"/>
          <p:nvPr/>
        </p:nvSpPr>
        <p:spPr>
          <a:xfrm>
            <a:off x="5532120" y="726948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C3C3C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現場力</a:t>
            </a:r>
            <a:endParaRPr lang="en-US" sz="1100" dirty="0"/>
          </a:p>
        </p:txBody>
      </p:sp>
      <p:sp>
        <p:nvSpPr>
          <p:cNvPr id="54" name="Text 45"/>
          <p:cNvSpPr txBox="1"/>
          <p:nvPr/>
        </p:nvSpPr>
        <p:spPr>
          <a:xfrm>
            <a:off x="6720840" y="7269480"/>
            <a:ext cx="3172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キャッチに頼らず「視認→立寄→参加→会話→商談」をKPI管理。2時間単位で打ち手を切り替える運営。</a:t>
            </a:r>
            <a:endParaRPr lang="en-US" sz="900" dirty="0"/>
          </a:p>
        </p:txBody>
      </p:sp>
      <p:sp>
        <p:nvSpPr>
          <p:cNvPr id="55" name="Shape 46"/>
          <p:cNvSpPr/>
          <p:nvPr/>
        </p:nvSpPr>
        <p:spPr>
          <a:xfrm>
            <a:off x="5532120" y="7818120"/>
            <a:ext cx="4361688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</p:sp>
      <p:sp>
        <p:nvSpPr>
          <p:cNvPr id="56" name="Text 47"/>
          <p:cNvSpPr txBox="1"/>
          <p:nvPr/>
        </p:nvSpPr>
        <p:spPr>
          <a:xfrm>
            <a:off x="5532120" y="7872984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C3C3C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事前入店</a:t>
            </a:r>
            <a:endParaRPr lang="en-US" sz="1100" dirty="0"/>
          </a:p>
        </p:txBody>
      </p:sp>
      <p:sp>
        <p:nvSpPr>
          <p:cNvPr id="57" name="Text 48"/>
          <p:cNvSpPr txBox="1"/>
          <p:nvPr/>
        </p:nvSpPr>
        <p:spPr>
          <a:xfrm>
            <a:off x="6720840" y="7872984"/>
            <a:ext cx="3172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開催前に店舗へ入り関係構築と見込み獲得。実施週の平均PI達成率115%(未実施週70%)。</a:t>
            </a:r>
            <a:endParaRPr lang="en-US" sz="900" dirty="0"/>
          </a:p>
        </p:txBody>
      </p:sp>
      <p:sp>
        <p:nvSpPr>
          <p:cNvPr id="58" name="Shape 49"/>
          <p:cNvSpPr/>
          <p:nvPr/>
        </p:nvSpPr>
        <p:spPr>
          <a:xfrm>
            <a:off x="5532120" y="8421624"/>
            <a:ext cx="4361688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</p:sp>
      <p:sp>
        <p:nvSpPr>
          <p:cNvPr id="59" name="Text 50"/>
          <p:cNvSpPr txBox="1"/>
          <p:nvPr/>
        </p:nvSpPr>
        <p:spPr>
          <a:xfrm>
            <a:off x="5532120" y="8476488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C3C3C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研修・品質</a:t>
            </a:r>
            <a:endParaRPr lang="en-US" sz="1100" dirty="0"/>
          </a:p>
        </p:txBody>
      </p:sp>
      <p:sp>
        <p:nvSpPr>
          <p:cNvPr id="60" name="Text 51"/>
          <p:cNvSpPr txBox="1"/>
          <p:nvPr/>
        </p:nvSpPr>
        <p:spPr>
          <a:xfrm>
            <a:off x="6720840" y="8476488"/>
            <a:ext cx="3172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日テレHR研修を四半期ごと、社内テストを毎月。全体インシデント防止会議を月次で実施。</a:t>
            </a:r>
            <a:endParaRPr lang="en-US" sz="900" dirty="0"/>
          </a:p>
        </p:txBody>
      </p:sp>
      <p:sp>
        <p:nvSpPr>
          <p:cNvPr id="61" name="Shape 52"/>
          <p:cNvSpPr/>
          <p:nvPr/>
        </p:nvSpPr>
        <p:spPr>
          <a:xfrm>
            <a:off x="5532120" y="9025128"/>
            <a:ext cx="4361688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</p:sp>
      <p:sp>
        <p:nvSpPr>
          <p:cNvPr id="62" name="Text 53"/>
          <p:cNvSpPr txBox="1"/>
          <p:nvPr/>
        </p:nvSpPr>
        <p:spPr>
          <a:xfrm>
            <a:off x="5532120" y="9079992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C3C3C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見える化</a:t>
            </a:r>
            <a:endParaRPr lang="en-US" sz="1100" dirty="0"/>
          </a:p>
        </p:txBody>
      </p:sp>
      <p:sp>
        <p:nvSpPr>
          <p:cNvPr id="63" name="Text 54"/>
          <p:cNvSpPr txBox="1"/>
          <p:nvPr/>
        </p:nvSpPr>
        <p:spPr>
          <a:xfrm>
            <a:off x="6720840" y="9079992"/>
            <a:ext cx="3172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LINE WORKSでGPS勤怠・既読・KPIを一元管理。スタッフとは月1回の面談。</a:t>
            </a:r>
            <a:endParaRPr lang="en-US" sz="900" dirty="0"/>
          </a:p>
        </p:txBody>
      </p:sp>
      <p:sp>
        <p:nvSpPr>
          <p:cNvPr id="64" name="Text 55"/>
          <p:cNvSpPr txBox="1"/>
          <p:nvPr/>
        </p:nvSpPr>
        <p:spPr>
          <a:xfrm>
            <a:off x="10259568" y="6583680"/>
            <a:ext cx="4361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9999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OUR VALUES</a:t>
            </a:r>
            <a:endParaRPr lang="en-US" sz="900" dirty="0"/>
          </a:p>
        </p:txBody>
      </p:sp>
      <p:sp>
        <p:nvSpPr>
          <p:cNvPr id="65" name="Text 56"/>
          <p:cNvSpPr txBox="1"/>
          <p:nvPr/>
        </p:nvSpPr>
        <p:spPr>
          <a:xfrm>
            <a:off x="10259568" y="6803136"/>
            <a:ext cx="4361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C3C3C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5つの「楽しい」</a:t>
            </a:r>
            <a:endParaRPr lang="en-US" sz="1800" dirty="0"/>
          </a:p>
        </p:txBody>
      </p:sp>
      <p:sp>
        <p:nvSpPr>
          <p:cNvPr id="66" name="Text 57"/>
          <p:cNvSpPr txBox="1"/>
          <p:nvPr/>
        </p:nvSpPr>
        <p:spPr>
          <a:xfrm>
            <a:off x="10259568" y="726948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C3C3C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No.1</a:t>
            </a:r>
            <a:endParaRPr lang="en-US" sz="1400" dirty="0"/>
          </a:p>
        </p:txBody>
      </p:sp>
      <p:sp>
        <p:nvSpPr>
          <p:cNvPr id="67" name="Text 58"/>
          <p:cNvSpPr txBox="1"/>
          <p:nvPr/>
        </p:nvSpPr>
        <p:spPr>
          <a:xfrm>
            <a:off x="11448288" y="72694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999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いちばんって楽しい</a:t>
            </a:r>
            <a:endParaRPr lang="en-US" sz="900" dirty="0"/>
          </a:p>
        </p:txBody>
      </p:sp>
      <p:sp>
        <p:nvSpPr>
          <p:cNvPr id="68" name="Text 59"/>
          <p:cNvSpPr txBox="1"/>
          <p:nvPr/>
        </p:nvSpPr>
        <p:spPr>
          <a:xfrm>
            <a:off x="13094208" y="7269480"/>
            <a:ext cx="1527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C3C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やる以上は圧倒的No.1を目指す</a:t>
            </a:r>
            <a:endParaRPr lang="en-US" sz="950" dirty="0"/>
          </a:p>
        </p:txBody>
      </p:sp>
      <p:sp>
        <p:nvSpPr>
          <p:cNvPr id="69" name="Shape 60"/>
          <p:cNvSpPr/>
          <p:nvPr/>
        </p:nvSpPr>
        <p:spPr>
          <a:xfrm>
            <a:off x="10259568" y="7717536"/>
            <a:ext cx="4361688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</p:sp>
      <p:sp>
        <p:nvSpPr>
          <p:cNvPr id="70" name="Text 61"/>
          <p:cNvSpPr txBox="1"/>
          <p:nvPr/>
        </p:nvSpPr>
        <p:spPr>
          <a:xfrm>
            <a:off x="10259568" y="7754112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C3C3C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挑戦</a:t>
            </a:r>
            <a:endParaRPr lang="en-US" sz="1400" dirty="0"/>
          </a:p>
        </p:txBody>
      </p:sp>
      <p:sp>
        <p:nvSpPr>
          <p:cNvPr id="71" name="Text 62"/>
          <p:cNvSpPr txBox="1"/>
          <p:nvPr/>
        </p:nvSpPr>
        <p:spPr>
          <a:xfrm>
            <a:off x="11448288" y="775411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999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挑戦って楽しい</a:t>
            </a:r>
            <a:endParaRPr lang="en-US" sz="900" dirty="0"/>
          </a:p>
        </p:txBody>
      </p:sp>
      <p:sp>
        <p:nvSpPr>
          <p:cNvPr id="72" name="Text 63"/>
          <p:cNvSpPr txBox="1"/>
          <p:nvPr/>
        </p:nvSpPr>
        <p:spPr>
          <a:xfrm>
            <a:off x="13094208" y="7754112"/>
            <a:ext cx="1527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C3C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現状維持を疑い、高い壁に挑む</a:t>
            </a:r>
            <a:endParaRPr lang="en-US" sz="950" dirty="0"/>
          </a:p>
        </p:txBody>
      </p:sp>
      <p:sp>
        <p:nvSpPr>
          <p:cNvPr id="73" name="Shape 64"/>
          <p:cNvSpPr/>
          <p:nvPr/>
        </p:nvSpPr>
        <p:spPr>
          <a:xfrm>
            <a:off x="10259568" y="8202168"/>
            <a:ext cx="4361688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</p:sp>
      <p:sp>
        <p:nvSpPr>
          <p:cNvPr id="74" name="Text 65"/>
          <p:cNvSpPr txBox="1"/>
          <p:nvPr/>
        </p:nvSpPr>
        <p:spPr>
          <a:xfrm>
            <a:off x="10259568" y="8238744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C3C3C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逆算</a:t>
            </a:r>
            <a:endParaRPr lang="en-US" sz="1400" dirty="0"/>
          </a:p>
        </p:txBody>
      </p:sp>
      <p:sp>
        <p:nvSpPr>
          <p:cNvPr id="75" name="Text 66"/>
          <p:cNvSpPr txBox="1"/>
          <p:nvPr/>
        </p:nvSpPr>
        <p:spPr>
          <a:xfrm>
            <a:off x="11448288" y="8238744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999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逆算って楽しい</a:t>
            </a:r>
            <a:endParaRPr lang="en-US" sz="900" dirty="0"/>
          </a:p>
        </p:txBody>
      </p:sp>
      <p:sp>
        <p:nvSpPr>
          <p:cNvPr id="76" name="Text 67"/>
          <p:cNvSpPr txBox="1"/>
          <p:nvPr/>
        </p:nvSpPr>
        <p:spPr>
          <a:xfrm>
            <a:off x="13094208" y="8238744"/>
            <a:ext cx="1527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C3C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登る山を決め、今やることを決める</a:t>
            </a:r>
            <a:endParaRPr lang="en-US" sz="950" dirty="0"/>
          </a:p>
        </p:txBody>
      </p:sp>
      <p:sp>
        <p:nvSpPr>
          <p:cNvPr id="77" name="Shape 68"/>
          <p:cNvSpPr/>
          <p:nvPr/>
        </p:nvSpPr>
        <p:spPr>
          <a:xfrm>
            <a:off x="10259568" y="8686800"/>
            <a:ext cx="4361688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</p:sp>
      <p:sp>
        <p:nvSpPr>
          <p:cNvPr id="78" name="Text 69"/>
          <p:cNvSpPr txBox="1"/>
          <p:nvPr/>
        </p:nvSpPr>
        <p:spPr>
          <a:xfrm>
            <a:off x="10259568" y="8723376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C3C3C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スピード</a:t>
            </a:r>
            <a:endParaRPr lang="en-US" sz="1400" dirty="0"/>
          </a:p>
        </p:txBody>
      </p:sp>
      <p:sp>
        <p:nvSpPr>
          <p:cNvPr id="79" name="Text 70"/>
          <p:cNvSpPr txBox="1"/>
          <p:nvPr/>
        </p:nvSpPr>
        <p:spPr>
          <a:xfrm>
            <a:off x="11448288" y="8723376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999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大至急って楽しい</a:t>
            </a:r>
            <a:endParaRPr lang="en-US" sz="900" dirty="0"/>
          </a:p>
        </p:txBody>
      </p:sp>
      <p:sp>
        <p:nvSpPr>
          <p:cNvPr id="80" name="Text 71"/>
          <p:cNvSpPr txBox="1"/>
          <p:nvPr/>
        </p:nvSpPr>
        <p:spPr>
          <a:xfrm>
            <a:off x="13094208" y="8723376"/>
            <a:ext cx="1527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C3C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1週間後の100%より3日後の70%</a:t>
            </a:r>
            <a:endParaRPr lang="en-US" sz="950" dirty="0"/>
          </a:p>
        </p:txBody>
      </p:sp>
      <p:sp>
        <p:nvSpPr>
          <p:cNvPr id="81" name="Shape 72"/>
          <p:cNvSpPr/>
          <p:nvPr/>
        </p:nvSpPr>
        <p:spPr>
          <a:xfrm>
            <a:off x="10259568" y="9171432"/>
            <a:ext cx="4361688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</p:sp>
      <p:sp>
        <p:nvSpPr>
          <p:cNvPr id="82" name="Text 73"/>
          <p:cNvSpPr txBox="1"/>
          <p:nvPr/>
        </p:nvSpPr>
        <p:spPr>
          <a:xfrm>
            <a:off x="10259568" y="9208008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C3C3C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執念</a:t>
            </a:r>
            <a:endParaRPr lang="en-US" sz="1400" dirty="0"/>
          </a:p>
        </p:txBody>
      </p:sp>
      <p:sp>
        <p:nvSpPr>
          <p:cNvPr id="83" name="Text 74"/>
          <p:cNvSpPr txBox="1"/>
          <p:nvPr/>
        </p:nvSpPr>
        <p:spPr>
          <a:xfrm>
            <a:off x="11448288" y="920800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999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諦めないって楽しい</a:t>
            </a:r>
            <a:endParaRPr lang="en-US" sz="900" dirty="0"/>
          </a:p>
        </p:txBody>
      </p:sp>
      <p:sp>
        <p:nvSpPr>
          <p:cNvPr id="84" name="Text 75"/>
          <p:cNvSpPr txBox="1"/>
          <p:nvPr/>
        </p:nvSpPr>
        <p:spPr>
          <a:xfrm>
            <a:off x="13094208" y="9208008"/>
            <a:ext cx="1527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C3C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「どうやってできるか」を考え抜く</a:t>
            </a:r>
            <a:endParaRPr lang="en-US" sz="950" dirty="0"/>
          </a:p>
        </p:txBody>
      </p:sp>
      <p:pic>
        <p:nvPicPr>
          <p:cNvPr id="85" name="Image 7" descr="stripe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502920" y="10122408"/>
            <a:ext cx="14118336" cy="36576"/>
          </a:xfrm>
          <a:prstGeom prst="rect">
            <a:avLst/>
          </a:prstGeom>
        </p:spPr>
      </p:pic>
      <p:sp>
        <p:nvSpPr>
          <p:cNvPr id="86" name="Text 76"/>
          <p:cNvSpPr txBox="1"/>
          <p:nvPr/>
        </p:nvSpPr>
        <p:spPr>
          <a:xfrm>
            <a:off x="502920" y="10250424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株式会社DreamCreation　『ともに夢をつくる』</a:t>
            </a:r>
            <a:endParaRPr lang="en-US" sz="900" dirty="0"/>
          </a:p>
        </p:txBody>
      </p:sp>
      <p:sp>
        <p:nvSpPr>
          <p:cNvPr id="87" name="Text 77"/>
          <p:cNvSpPr txBox="1"/>
          <p:nvPr/>
        </p:nvSpPr>
        <p:spPr>
          <a:xfrm>
            <a:off x="10963656" y="1025042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9999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FRONT  01 / 02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5720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9999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TRACK RECORD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76656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C3C3C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これまでの取り組みと実績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3358134" cy="132588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2801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3C3C3C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113.6%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2697480" y="1572768"/>
            <a:ext cx="10264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PI目標達成率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984248"/>
            <a:ext cx="29923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ドコモ関西支社様・上新電機様販路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モール型大型店に10名常勤(2022)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089654" y="1188720"/>
            <a:ext cx="3358134" cy="132588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318254" y="12801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3C3C3C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184組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6284214" y="1572768"/>
            <a:ext cx="10264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イベント参加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318254" y="1984248"/>
            <a:ext cx="29923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滋賀県 商業施設のファミリーイベント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PI 34件・前回比 約3倍(2025)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7676388" y="1188720"/>
            <a:ext cx="3358134" cy="132588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904988" y="12801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3C3C3C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3位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9870948" y="1572768"/>
            <a:ext cx="10264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全82部隊中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7904988" y="1984248"/>
            <a:ext cx="29923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量販店特販イベントの取替件数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(2026年7月 ドコモCS関西様)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11263122" y="1188720"/>
            <a:ext cx="3358134" cy="132588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1491722" y="12801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3C3C3C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51台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13457682" y="1572768"/>
            <a:ext cx="10264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端末総販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1491722" y="1984248"/>
            <a:ext cx="29923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沖縄・与那国島 出張イベント2日間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前年他社実施の約1.8倍(2020)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502920" y="27432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9999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年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1371600" y="27432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9999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取り組み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3931920" y="27432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9999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内容・成果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02920" y="3017520"/>
            <a:ext cx="9144000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02920" y="306324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3C3C3C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2015–17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1371600" y="3063240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3C3C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ドコモショップ 光販売支援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3931920" y="3063240"/>
            <a:ext cx="5715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複数代理店様のショップでドコモ光の販売を支援(2015.4〜2017.8)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02920" y="3328416"/>
            <a:ext cx="9144000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02920" y="3374136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3C3C3C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2016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1371600" y="3374136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3C3C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ドコモ光 臨店研修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3931920" y="3374136"/>
            <a:ext cx="5715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NTTラーニング様と共同制作。中国支社管内の対象店舗で研修前後 8.1%→25.0%に向上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02920" y="3639312"/>
            <a:ext cx="9144000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02920" y="368503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3C3C3C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2016–17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1371600" y="3685032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3C3C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イオンモール ドコモ光イベント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3931920" y="3685032"/>
            <a:ext cx="5715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関西支社様向けにNTTマーケティングアクト様と共同で企画・運営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02920" y="3950208"/>
            <a:ext cx="9144000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02920" y="399592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3C3C3C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2019–</a:t>
            </a:r>
            <a:endParaRPr lang="en-US" sz="950" dirty="0"/>
          </a:p>
        </p:txBody>
      </p:sp>
      <p:sp>
        <p:nvSpPr>
          <p:cNvPr id="37" name="Text 35"/>
          <p:cNvSpPr txBox="1"/>
          <p:nvPr/>
        </p:nvSpPr>
        <p:spPr>
          <a:xfrm>
            <a:off x="1371600" y="3995928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3C3C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家電量販店 光販売支援</a:t>
            </a:r>
            <a:endParaRPr lang="en-US" sz="950" dirty="0"/>
          </a:p>
        </p:txBody>
      </p:sp>
      <p:sp>
        <p:nvSpPr>
          <p:cNvPr id="38" name="Text 36"/>
          <p:cNvSpPr txBox="1"/>
          <p:nvPr/>
        </p:nvSpPr>
        <p:spPr>
          <a:xfrm>
            <a:off x="3931920" y="3995928"/>
            <a:ext cx="5715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ドコモ(エディオン・上新)、ソフトバンク(ヤマダ・上新)で継続支援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02920" y="4261104"/>
            <a:ext cx="9144000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02920" y="4306824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3C3C3C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2020</a:t>
            </a:r>
            <a:endParaRPr lang="en-US" sz="950" dirty="0"/>
          </a:p>
        </p:txBody>
      </p:sp>
      <p:sp>
        <p:nvSpPr>
          <p:cNvPr id="41" name="Text 39"/>
          <p:cNvSpPr txBox="1"/>
          <p:nvPr/>
        </p:nvSpPr>
        <p:spPr>
          <a:xfrm>
            <a:off x="1371600" y="4306824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3C3C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九州 キッチンカーイベント</a:t>
            </a:r>
            <a:endParaRPr lang="en-US" sz="950" dirty="0"/>
          </a:p>
        </p:txBody>
      </p:sp>
      <p:sp>
        <p:nvSpPr>
          <p:cNvPr id="42" name="Text 40"/>
          <p:cNvSpPr txBox="1"/>
          <p:nvPr/>
        </p:nvSpPr>
        <p:spPr>
          <a:xfrm>
            <a:off x="3931920" y="4306824"/>
            <a:ext cx="5715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27開催・54日間で着座925組(着座率50.1%)、来店予約50組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02920" y="4572000"/>
            <a:ext cx="9144000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502920" y="461772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3C3C3C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2020</a:t>
            </a:r>
            <a:endParaRPr lang="en-US" sz="950" dirty="0"/>
          </a:p>
        </p:txBody>
      </p:sp>
      <p:sp>
        <p:nvSpPr>
          <p:cNvPr id="45" name="Text 43"/>
          <p:cNvSpPr txBox="1"/>
          <p:nvPr/>
        </p:nvSpPr>
        <p:spPr>
          <a:xfrm>
            <a:off x="1371600" y="4617720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3C3C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キャッシュレス加盟店開拓</a:t>
            </a:r>
            <a:endParaRPr lang="en-US" sz="950" dirty="0"/>
          </a:p>
        </p:txBody>
      </p:sp>
      <p:sp>
        <p:nvSpPr>
          <p:cNvPr id="46" name="Text 44"/>
          <p:cNvSpPr txBox="1"/>
          <p:nvPr/>
        </p:nvSpPr>
        <p:spPr>
          <a:xfrm>
            <a:off x="3931920" y="4617720"/>
            <a:ext cx="5715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d払い・PayPay等。関西で月平均200件、九州は1名あたり30件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02920" y="4882896"/>
            <a:ext cx="9144000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502920" y="4928616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3C3C3C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2020–</a:t>
            </a:r>
            <a:endParaRPr lang="en-US" sz="950" dirty="0"/>
          </a:p>
        </p:txBody>
      </p:sp>
      <p:sp>
        <p:nvSpPr>
          <p:cNvPr id="49" name="Text 47"/>
          <p:cNvSpPr txBox="1"/>
          <p:nvPr/>
        </p:nvSpPr>
        <p:spPr>
          <a:xfrm>
            <a:off x="1371600" y="4928616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3C3C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ドコモCS九州 PI出張イベント</a:t>
            </a:r>
            <a:endParaRPr lang="en-US" sz="950" dirty="0"/>
          </a:p>
        </p:txBody>
      </p:sp>
      <p:sp>
        <p:nvSpPr>
          <p:cNvPr id="50" name="Text 48"/>
          <p:cNvSpPr txBox="1"/>
          <p:nvPr/>
        </p:nvSpPr>
        <p:spPr>
          <a:xfrm>
            <a:off x="3931920" y="4928616"/>
            <a:ext cx="5715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10名体制で九州・沖縄のショップ出張イベントを運営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502920" y="5193792"/>
            <a:ext cx="9144000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502920" y="523951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3C3C3C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2022</a:t>
            </a:r>
            <a:endParaRPr lang="en-US" sz="950" dirty="0"/>
          </a:p>
        </p:txBody>
      </p:sp>
      <p:sp>
        <p:nvSpPr>
          <p:cNvPr id="53" name="Text 51"/>
          <p:cNvSpPr txBox="1"/>
          <p:nvPr/>
        </p:nvSpPr>
        <p:spPr>
          <a:xfrm>
            <a:off x="1371600" y="5239512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3C3C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モール型大型店 常勤支援</a:t>
            </a:r>
            <a:endParaRPr lang="en-US" sz="950" dirty="0"/>
          </a:p>
        </p:txBody>
      </p:sp>
      <p:sp>
        <p:nvSpPr>
          <p:cNvPr id="54" name="Text 52"/>
          <p:cNvSpPr txBox="1"/>
          <p:nvPr/>
        </p:nvSpPr>
        <p:spPr>
          <a:xfrm>
            <a:off x="3931920" y="5239512"/>
            <a:ext cx="5715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上新電機様販路でPI 477件(目標420件・達成率113.6%)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502920" y="5504688"/>
            <a:ext cx="9144000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502920" y="555040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3C3C3C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2025</a:t>
            </a:r>
            <a:endParaRPr lang="en-US" sz="950" dirty="0"/>
          </a:p>
        </p:txBody>
      </p:sp>
      <p:sp>
        <p:nvSpPr>
          <p:cNvPr id="57" name="Text 55"/>
          <p:cNvSpPr txBox="1"/>
          <p:nvPr/>
        </p:nvSpPr>
        <p:spPr>
          <a:xfrm>
            <a:off x="1371600" y="5550408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3C3C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滋賀 商業施設イベント</a:t>
            </a:r>
            <a:endParaRPr lang="en-US" sz="950" dirty="0"/>
          </a:p>
        </p:txBody>
      </p:sp>
      <p:sp>
        <p:nvSpPr>
          <p:cNvPr id="58" name="Text 56"/>
          <p:cNvSpPr txBox="1"/>
          <p:nvPr/>
        </p:nvSpPr>
        <p:spPr>
          <a:xfrm>
            <a:off x="3931920" y="5550408"/>
            <a:ext cx="5715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エアー遊具＋ワークショップで参加184組、PI 34件、コンテンツ起点成約7倍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502920" y="5815584"/>
            <a:ext cx="9144000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502920" y="5861304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3C3C3C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2025</a:t>
            </a:r>
            <a:endParaRPr lang="en-US" sz="950" dirty="0"/>
          </a:p>
        </p:txBody>
      </p:sp>
      <p:sp>
        <p:nvSpPr>
          <p:cNvPr id="61" name="Text 59"/>
          <p:cNvSpPr txBox="1"/>
          <p:nvPr/>
        </p:nvSpPr>
        <p:spPr>
          <a:xfrm>
            <a:off x="1371600" y="5861304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3C3C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上新電機 イオンモール店</a:t>
            </a:r>
            <a:endParaRPr lang="en-US" sz="950" dirty="0"/>
          </a:p>
        </p:txBody>
      </p:sp>
      <p:sp>
        <p:nvSpPr>
          <p:cNvPr id="62" name="Text 60"/>
          <p:cNvSpPr txBox="1"/>
          <p:nvPr/>
        </p:nvSpPr>
        <p:spPr>
          <a:xfrm>
            <a:off x="3931920" y="5861304"/>
            <a:ext cx="5715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イベント部隊でPI 33件(目標30件・110%)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502920" y="6126480"/>
            <a:ext cx="9144000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502920" y="617220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3C3C3C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2026</a:t>
            </a:r>
            <a:endParaRPr lang="en-US" sz="950" dirty="0"/>
          </a:p>
        </p:txBody>
      </p:sp>
      <p:sp>
        <p:nvSpPr>
          <p:cNvPr id="65" name="Text 63"/>
          <p:cNvSpPr txBox="1"/>
          <p:nvPr/>
        </p:nvSpPr>
        <p:spPr>
          <a:xfrm>
            <a:off x="1371600" y="6172200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3C3C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特販「Dreamチーム」</a:t>
            </a:r>
            <a:endParaRPr lang="en-US" sz="950" dirty="0"/>
          </a:p>
        </p:txBody>
      </p:sp>
      <p:sp>
        <p:nvSpPr>
          <p:cNvPr id="66" name="Text 64"/>
          <p:cNvSpPr txBox="1"/>
          <p:nvPr/>
        </p:nvSpPr>
        <p:spPr>
          <a:xfrm>
            <a:off x="3931920" y="6172200"/>
            <a:ext cx="5715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量販店7週でPI累計152件、最高達成率135%。取替は関西79社中23位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502920" y="6437376"/>
            <a:ext cx="9144000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10058400" y="2743200"/>
            <a:ext cx="4562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3C3C3C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主要取引先</a:t>
            </a:r>
            <a:endParaRPr lang="en-US" sz="1300" dirty="0"/>
          </a:p>
        </p:txBody>
      </p:sp>
      <p:sp>
        <p:nvSpPr>
          <p:cNvPr id="69" name="Shape 67"/>
          <p:cNvSpPr/>
          <p:nvPr/>
        </p:nvSpPr>
        <p:spPr>
          <a:xfrm>
            <a:off x="10058400" y="3127248"/>
            <a:ext cx="2212848" cy="310896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70" name="Text 68"/>
          <p:cNvSpPr txBox="1"/>
          <p:nvPr/>
        </p:nvSpPr>
        <p:spPr>
          <a:xfrm>
            <a:off x="10104120" y="3127248"/>
            <a:ext cx="2121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C3C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NTTドコモ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12408408" y="3127248"/>
            <a:ext cx="2212848" cy="310896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72" name="Text 70"/>
          <p:cNvSpPr txBox="1"/>
          <p:nvPr/>
        </p:nvSpPr>
        <p:spPr>
          <a:xfrm>
            <a:off x="12454128" y="3127248"/>
            <a:ext cx="2121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C3C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ドコモCS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10058400" y="3511296"/>
            <a:ext cx="2212848" cy="310896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74" name="Text 72"/>
          <p:cNvSpPr txBox="1"/>
          <p:nvPr/>
        </p:nvSpPr>
        <p:spPr>
          <a:xfrm>
            <a:off x="10104120" y="3511296"/>
            <a:ext cx="2121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C3C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NTT西日本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12408408" y="3511296"/>
            <a:ext cx="2212848" cy="310896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76" name="Text 74"/>
          <p:cNvSpPr txBox="1"/>
          <p:nvPr/>
        </p:nvSpPr>
        <p:spPr>
          <a:xfrm>
            <a:off x="12454128" y="3511296"/>
            <a:ext cx="2121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C3C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NTTラーニング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10058400" y="3895344"/>
            <a:ext cx="2212848" cy="310896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78" name="Text 76"/>
          <p:cNvSpPr txBox="1"/>
          <p:nvPr/>
        </p:nvSpPr>
        <p:spPr>
          <a:xfrm>
            <a:off x="10104120" y="3895344"/>
            <a:ext cx="2121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C3C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NTTマーケティングアクトProCX</a:t>
            </a:r>
            <a:endParaRPr lang="en-US" sz="750" dirty="0"/>
          </a:p>
        </p:txBody>
      </p:sp>
      <p:sp>
        <p:nvSpPr>
          <p:cNvPr id="79" name="Shape 77"/>
          <p:cNvSpPr/>
          <p:nvPr/>
        </p:nvSpPr>
        <p:spPr>
          <a:xfrm>
            <a:off x="12408408" y="3895344"/>
            <a:ext cx="2212848" cy="310896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80" name="Text 78"/>
          <p:cNvSpPr txBox="1"/>
          <p:nvPr/>
        </p:nvSpPr>
        <p:spPr>
          <a:xfrm>
            <a:off x="12454128" y="3895344"/>
            <a:ext cx="2121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C3C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ソフトバンク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10058400" y="4279392"/>
            <a:ext cx="2212848" cy="310896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82" name="Text 80"/>
          <p:cNvSpPr txBox="1"/>
          <p:nvPr/>
        </p:nvSpPr>
        <p:spPr>
          <a:xfrm>
            <a:off x="10104120" y="4279392"/>
            <a:ext cx="2121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C3C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電通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12408408" y="4279392"/>
            <a:ext cx="2212848" cy="310896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84" name="Text 82"/>
          <p:cNvSpPr txBox="1"/>
          <p:nvPr/>
        </p:nvSpPr>
        <p:spPr>
          <a:xfrm>
            <a:off x="12454128" y="4279392"/>
            <a:ext cx="2121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C3C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博報堂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10058400" y="4663440"/>
            <a:ext cx="2212848" cy="310896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86" name="Text 84"/>
          <p:cNvSpPr txBox="1"/>
          <p:nvPr/>
        </p:nvSpPr>
        <p:spPr>
          <a:xfrm>
            <a:off x="10104120" y="4663440"/>
            <a:ext cx="2121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C3C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日本テレビ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12408408" y="4663440"/>
            <a:ext cx="2212848" cy="310896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88" name="Text 86"/>
          <p:cNvSpPr txBox="1"/>
          <p:nvPr/>
        </p:nvSpPr>
        <p:spPr>
          <a:xfrm>
            <a:off x="12454128" y="4663440"/>
            <a:ext cx="2121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C3C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上新電機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10058400" y="5047488"/>
            <a:ext cx="2212848" cy="310896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90" name="Text 88"/>
          <p:cNvSpPr txBox="1"/>
          <p:nvPr/>
        </p:nvSpPr>
        <p:spPr>
          <a:xfrm>
            <a:off x="10104120" y="5047488"/>
            <a:ext cx="2121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C3C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大日本印刷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12408408" y="5047488"/>
            <a:ext cx="2212848" cy="310896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92" name="Text 90"/>
          <p:cNvSpPr txBox="1"/>
          <p:nvPr/>
        </p:nvSpPr>
        <p:spPr>
          <a:xfrm>
            <a:off x="12454128" y="5047488"/>
            <a:ext cx="2121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C3C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大阪ガス</a:t>
            </a:r>
            <a:endParaRPr lang="en-US" sz="900" dirty="0"/>
          </a:p>
        </p:txBody>
      </p:sp>
      <p:sp>
        <p:nvSpPr>
          <p:cNvPr id="93" name="Text 91"/>
          <p:cNvSpPr txBox="1"/>
          <p:nvPr/>
        </p:nvSpPr>
        <p:spPr>
          <a:xfrm>
            <a:off x="10058400" y="543153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順不同・敬称略</a:t>
            </a:r>
            <a:endParaRPr lang="en-US" sz="750" dirty="0"/>
          </a:p>
        </p:txBody>
      </p:sp>
      <p:sp>
        <p:nvSpPr>
          <p:cNvPr id="94" name="Text 92"/>
          <p:cNvSpPr txBox="1"/>
          <p:nvPr/>
        </p:nvSpPr>
        <p:spPr>
          <a:xfrm>
            <a:off x="10058400" y="5577840"/>
            <a:ext cx="4562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日本テレビ公式研修代理店(西日本)として、ドラマ映像を使った体験型研修「日テレHR研修」をご提供しています。</a:t>
            </a:r>
            <a:endParaRPr lang="en-US" sz="900" dirty="0"/>
          </a:p>
        </p:txBody>
      </p:sp>
      <p:sp>
        <p:nvSpPr>
          <p:cNvPr id="95" name="Text 93"/>
          <p:cNvSpPr txBox="1"/>
          <p:nvPr/>
        </p:nvSpPr>
        <p:spPr>
          <a:xfrm>
            <a:off x="502920" y="667512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9999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EVENT CONTENTS</a:t>
            </a:r>
            <a:endParaRPr lang="en-US" sz="900" dirty="0"/>
          </a:p>
        </p:txBody>
      </p:sp>
      <p:sp>
        <p:nvSpPr>
          <p:cNvPr id="96" name="Text 94"/>
          <p:cNvSpPr txBox="1"/>
          <p:nvPr/>
        </p:nvSpPr>
        <p:spPr>
          <a:xfrm>
            <a:off x="502920" y="6894576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C3C3C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ファミリー集客コンテンツ</a:t>
            </a:r>
            <a:endParaRPr lang="en-US" sz="1800" dirty="0"/>
          </a:p>
        </p:txBody>
      </p:sp>
      <p:pic>
        <p:nvPicPr>
          <p:cNvPr id="97" name="Image 0" descr="klp-event2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7360920"/>
            <a:ext cx="1682496" cy="1097280"/>
          </a:xfrm>
          <a:prstGeom prst="rect">
            <a:avLst/>
          </a:prstGeom>
        </p:spPr>
      </p:pic>
      <p:sp>
        <p:nvSpPr>
          <p:cNvPr id="98" name="Text 95"/>
          <p:cNvSpPr txBox="1"/>
          <p:nvPr/>
        </p:nvSpPr>
        <p:spPr>
          <a:xfrm>
            <a:off x="502920" y="8595360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C3C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キッズライセンスパーク</a:t>
            </a:r>
            <a:endParaRPr lang="en-US" sz="1050" dirty="0"/>
          </a:p>
        </p:txBody>
      </p:sp>
      <p:sp>
        <p:nvSpPr>
          <p:cNvPr id="99" name="Text 96"/>
          <p:cNvSpPr txBox="1"/>
          <p:nvPr/>
        </p:nvSpPr>
        <p:spPr>
          <a:xfrm>
            <a:off x="502920" y="8869680"/>
            <a:ext cx="1682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EV運転体験＋こども免許証</a:t>
            </a:r>
            <a:endParaRPr lang="en-US" sz="800" dirty="0"/>
          </a:p>
        </p:txBody>
      </p:sp>
      <p:sp>
        <p:nvSpPr>
          <p:cNvPr id="100" name="Text 97"/>
          <p:cNvSpPr txBox="1"/>
          <p:nvPr/>
        </p:nvSpPr>
        <p:spPr>
          <a:xfrm>
            <a:off x="502920" y="9116568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C3C3C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¥80,000〜/日</a:t>
            </a:r>
            <a:endParaRPr lang="en-US" sz="1100" dirty="0"/>
          </a:p>
        </p:txBody>
      </p:sp>
      <p:pic>
        <p:nvPicPr>
          <p:cNvPr id="101" name="Image 1" descr="squeeze-event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368296" y="7360920"/>
            <a:ext cx="1682496" cy="1097280"/>
          </a:xfrm>
          <a:prstGeom prst="rect">
            <a:avLst/>
          </a:prstGeom>
        </p:spPr>
      </p:pic>
      <p:sp>
        <p:nvSpPr>
          <p:cNvPr id="102" name="Text 98"/>
          <p:cNvSpPr txBox="1"/>
          <p:nvPr/>
        </p:nvSpPr>
        <p:spPr>
          <a:xfrm>
            <a:off x="2368296" y="8595360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C3C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スクイーズWS</a:t>
            </a:r>
            <a:endParaRPr lang="en-US" sz="1050" dirty="0"/>
          </a:p>
        </p:txBody>
      </p:sp>
      <p:sp>
        <p:nvSpPr>
          <p:cNvPr id="103" name="Text 99"/>
          <p:cNvSpPr txBox="1"/>
          <p:nvPr/>
        </p:nvSpPr>
        <p:spPr>
          <a:xfrm>
            <a:off x="2368296" y="8869680"/>
            <a:ext cx="1682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親子で作る動物スクイーズ</a:t>
            </a:r>
            <a:endParaRPr lang="en-US" sz="800" dirty="0"/>
          </a:p>
        </p:txBody>
      </p:sp>
      <p:sp>
        <p:nvSpPr>
          <p:cNvPr id="104" name="Text 100"/>
          <p:cNvSpPr txBox="1"/>
          <p:nvPr/>
        </p:nvSpPr>
        <p:spPr>
          <a:xfrm>
            <a:off x="2368296" y="9116568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C3C3C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¥70,000/日</a:t>
            </a:r>
            <a:endParaRPr lang="en-US" sz="1100" dirty="0"/>
          </a:p>
        </p:txBody>
      </p:sp>
      <p:pic>
        <p:nvPicPr>
          <p:cNvPr id="105" name="Image 2" descr="airizm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233672" y="7360920"/>
            <a:ext cx="1682496" cy="1097280"/>
          </a:xfrm>
          <a:prstGeom prst="rect">
            <a:avLst/>
          </a:prstGeom>
        </p:spPr>
      </p:pic>
      <p:sp>
        <p:nvSpPr>
          <p:cNvPr id="106" name="Text 101"/>
          <p:cNvSpPr txBox="1"/>
          <p:nvPr/>
        </p:nvSpPr>
        <p:spPr>
          <a:xfrm>
            <a:off x="4233672" y="8595360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C3C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エアリズム</a:t>
            </a:r>
            <a:endParaRPr lang="en-US" sz="1050" dirty="0"/>
          </a:p>
        </p:txBody>
      </p:sp>
      <p:sp>
        <p:nvSpPr>
          <p:cNvPr id="107" name="Text 102"/>
          <p:cNvSpPr txBox="1"/>
          <p:nvPr/>
        </p:nvSpPr>
        <p:spPr>
          <a:xfrm>
            <a:off x="4233672" y="8869680"/>
            <a:ext cx="1682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風船が舞う屋内ドーム</a:t>
            </a:r>
            <a:endParaRPr lang="en-US" sz="800" dirty="0"/>
          </a:p>
        </p:txBody>
      </p:sp>
      <p:sp>
        <p:nvSpPr>
          <p:cNvPr id="108" name="Text 103"/>
          <p:cNvSpPr txBox="1"/>
          <p:nvPr/>
        </p:nvSpPr>
        <p:spPr>
          <a:xfrm>
            <a:off x="4233672" y="9116568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C3C3C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¥50,000〜/日</a:t>
            </a:r>
            <a:endParaRPr lang="en-US" sz="1100" dirty="0"/>
          </a:p>
        </p:txBody>
      </p:sp>
      <p:pic>
        <p:nvPicPr>
          <p:cNvPr id="109" name="Image 3" descr="carnival-a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099048" y="7360920"/>
            <a:ext cx="1682496" cy="1097280"/>
          </a:xfrm>
          <a:prstGeom prst="rect">
            <a:avLst/>
          </a:prstGeom>
        </p:spPr>
      </p:pic>
      <p:sp>
        <p:nvSpPr>
          <p:cNvPr id="110" name="Text 104"/>
          <p:cNvSpPr txBox="1"/>
          <p:nvPr/>
        </p:nvSpPr>
        <p:spPr>
          <a:xfrm>
            <a:off x="6099048" y="8595360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C3C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カーニバルA/B</a:t>
            </a:r>
            <a:endParaRPr lang="en-US" sz="1050" dirty="0"/>
          </a:p>
        </p:txBody>
      </p:sp>
      <p:sp>
        <p:nvSpPr>
          <p:cNvPr id="111" name="Text 105"/>
          <p:cNvSpPr txBox="1"/>
          <p:nvPr/>
        </p:nvSpPr>
        <p:spPr>
          <a:xfrm>
            <a:off x="6099048" y="8869680"/>
            <a:ext cx="1682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輪投げ等のエアーゲーム</a:t>
            </a:r>
            <a:endParaRPr lang="en-US" sz="800" dirty="0"/>
          </a:p>
        </p:txBody>
      </p:sp>
      <p:sp>
        <p:nvSpPr>
          <p:cNvPr id="112" name="Text 106"/>
          <p:cNvSpPr txBox="1"/>
          <p:nvPr/>
        </p:nvSpPr>
        <p:spPr>
          <a:xfrm>
            <a:off x="6099048" y="9116568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C3C3C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¥50,000〜/日</a:t>
            </a:r>
            <a:endParaRPr lang="en-US" sz="1100" dirty="0"/>
          </a:p>
        </p:txBody>
      </p:sp>
      <p:pic>
        <p:nvPicPr>
          <p:cNvPr id="113" name="Image 4" descr="unicorn.jp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7964424" y="7360920"/>
            <a:ext cx="1682496" cy="1097280"/>
          </a:xfrm>
          <a:prstGeom prst="rect">
            <a:avLst/>
          </a:prstGeom>
        </p:spPr>
      </p:pic>
      <p:sp>
        <p:nvSpPr>
          <p:cNvPr id="114" name="Text 107"/>
          <p:cNvSpPr txBox="1"/>
          <p:nvPr/>
        </p:nvSpPr>
        <p:spPr>
          <a:xfrm>
            <a:off x="7964424" y="8595360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C3C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ユニコーンT</a:t>
            </a:r>
            <a:endParaRPr lang="en-US" sz="1050" dirty="0"/>
          </a:p>
        </p:txBody>
      </p:sp>
      <p:sp>
        <p:nvSpPr>
          <p:cNvPr id="115" name="Text 108"/>
          <p:cNvSpPr txBox="1"/>
          <p:nvPr/>
        </p:nvSpPr>
        <p:spPr>
          <a:xfrm>
            <a:off x="7964424" y="8869680"/>
            <a:ext cx="1682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アイキャッチ用エアー遊具</a:t>
            </a:r>
            <a:endParaRPr lang="en-US" sz="800" dirty="0"/>
          </a:p>
        </p:txBody>
      </p:sp>
      <p:sp>
        <p:nvSpPr>
          <p:cNvPr id="116" name="Text 109"/>
          <p:cNvSpPr txBox="1"/>
          <p:nvPr/>
        </p:nvSpPr>
        <p:spPr>
          <a:xfrm>
            <a:off x="7964424" y="9116568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C3C3C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¥20,000/日</a:t>
            </a:r>
            <a:endParaRPr lang="en-US" sz="1100" dirty="0"/>
          </a:p>
        </p:txBody>
      </p:sp>
      <p:sp>
        <p:nvSpPr>
          <p:cNvPr id="117" name="Text 110"/>
          <p:cNvSpPr txBox="1"/>
          <p:nvPr/>
        </p:nvSpPr>
        <p:spPr>
          <a:xfrm>
            <a:off x="502920" y="9464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※税別・送料別途。縁日セット・ふにふにシール・抽選会・POP制作なども対応。最短3営業日で納品、開催2〜3週間前までにご相談ください。</a:t>
            </a:r>
            <a:endParaRPr lang="en-US" sz="800" dirty="0"/>
          </a:p>
        </p:txBody>
      </p:sp>
      <p:sp>
        <p:nvSpPr>
          <p:cNvPr id="118" name="Text 111"/>
          <p:cNvSpPr txBox="1"/>
          <p:nvPr/>
        </p:nvSpPr>
        <p:spPr>
          <a:xfrm>
            <a:off x="10058400" y="6675120"/>
            <a:ext cx="4562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9999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CORPORATE DATA</a:t>
            </a:r>
            <a:endParaRPr lang="en-US" sz="900" dirty="0"/>
          </a:p>
        </p:txBody>
      </p:sp>
      <p:sp>
        <p:nvSpPr>
          <p:cNvPr id="119" name="Text 112"/>
          <p:cNvSpPr txBox="1"/>
          <p:nvPr/>
        </p:nvSpPr>
        <p:spPr>
          <a:xfrm>
            <a:off x="10058400" y="6894576"/>
            <a:ext cx="4562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C3C3C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会社概要</a:t>
            </a:r>
            <a:endParaRPr lang="en-US" sz="1800" dirty="0"/>
          </a:p>
        </p:txBody>
      </p:sp>
      <p:sp>
        <p:nvSpPr>
          <p:cNvPr id="120" name="Text 113"/>
          <p:cNvSpPr txBox="1"/>
          <p:nvPr/>
        </p:nvSpPr>
        <p:spPr>
          <a:xfrm>
            <a:off x="10058400" y="73609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9999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社名</a:t>
            </a:r>
            <a:endParaRPr lang="en-US" sz="850" dirty="0"/>
          </a:p>
        </p:txBody>
      </p:sp>
      <p:sp>
        <p:nvSpPr>
          <p:cNvPr id="121" name="Text 114"/>
          <p:cNvSpPr txBox="1"/>
          <p:nvPr/>
        </p:nvSpPr>
        <p:spPr>
          <a:xfrm>
            <a:off x="10927080" y="7360920"/>
            <a:ext cx="3694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C3C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株式会社DreamCreation</a:t>
            </a:r>
            <a:endParaRPr lang="en-US" sz="900" dirty="0"/>
          </a:p>
        </p:txBody>
      </p:sp>
      <p:sp>
        <p:nvSpPr>
          <p:cNvPr id="122" name="Text 115"/>
          <p:cNvSpPr txBox="1"/>
          <p:nvPr/>
        </p:nvSpPr>
        <p:spPr>
          <a:xfrm>
            <a:off x="10058400" y="7699248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9999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所在地</a:t>
            </a:r>
            <a:endParaRPr lang="en-US" sz="850" dirty="0"/>
          </a:p>
        </p:txBody>
      </p:sp>
      <p:sp>
        <p:nvSpPr>
          <p:cNvPr id="123" name="Text 116"/>
          <p:cNvSpPr txBox="1"/>
          <p:nvPr/>
        </p:nvSpPr>
        <p:spPr>
          <a:xfrm>
            <a:off x="10927080" y="7699248"/>
            <a:ext cx="36941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C3C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〒550-0015 大阪府大阪市西区南堀江1-10-1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C3C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KT堀江801号室</a:t>
            </a:r>
            <a:endParaRPr lang="en-US" sz="900" dirty="0"/>
          </a:p>
        </p:txBody>
      </p:sp>
      <p:sp>
        <p:nvSpPr>
          <p:cNvPr id="124" name="Text 117"/>
          <p:cNvSpPr txBox="1"/>
          <p:nvPr/>
        </p:nvSpPr>
        <p:spPr>
          <a:xfrm>
            <a:off x="10058400" y="821131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9999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設立</a:t>
            </a:r>
            <a:endParaRPr lang="en-US" sz="850" dirty="0"/>
          </a:p>
        </p:txBody>
      </p:sp>
      <p:sp>
        <p:nvSpPr>
          <p:cNvPr id="125" name="Text 118"/>
          <p:cNvSpPr txBox="1"/>
          <p:nvPr/>
        </p:nvSpPr>
        <p:spPr>
          <a:xfrm>
            <a:off x="10927080" y="8211312"/>
            <a:ext cx="3694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C3C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2017年6月27日　　資本金 1,200万円</a:t>
            </a:r>
            <a:endParaRPr lang="en-US" sz="900" dirty="0"/>
          </a:p>
        </p:txBody>
      </p:sp>
      <p:sp>
        <p:nvSpPr>
          <p:cNvPr id="126" name="Text 119"/>
          <p:cNvSpPr txBox="1"/>
          <p:nvPr/>
        </p:nvSpPr>
        <p:spPr>
          <a:xfrm>
            <a:off x="10058400" y="85496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9999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代表</a:t>
            </a:r>
            <a:endParaRPr lang="en-US" sz="850" dirty="0"/>
          </a:p>
        </p:txBody>
      </p:sp>
      <p:sp>
        <p:nvSpPr>
          <p:cNvPr id="127" name="Text 120"/>
          <p:cNvSpPr txBox="1"/>
          <p:nvPr/>
        </p:nvSpPr>
        <p:spPr>
          <a:xfrm>
            <a:off x="10927080" y="8549640"/>
            <a:ext cx="3694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C3C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代表取締役　竹村 英哲</a:t>
            </a:r>
            <a:endParaRPr lang="en-US" sz="900" dirty="0"/>
          </a:p>
        </p:txBody>
      </p:sp>
      <p:sp>
        <p:nvSpPr>
          <p:cNvPr id="128" name="Text 121"/>
          <p:cNvSpPr txBox="1"/>
          <p:nvPr/>
        </p:nvSpPr>
        <p:spPr>
          <a:xfrm>
            <a:off x="10058400" y="8887968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9999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許認可</a:t>
            </a:r>
            <a:endParaRPr lang="en-US" sz="850" dirty="0"/>
          </a:p>
        </p:txBody>
      </p:sp>
      <p:sp>
        <p:nvSpPr>
          <p:cNvPr id="129" name="Text 122"/>
          <p:cNvSpPr txBox="1"/>
          <p:nvPr/>
        </p:nvSpPr>
        <p:spPr>
          <a:xfrm>
            <a:off x="10927080" y="8887968"/>
            <a:ext cx="36941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C3C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労働者派遣事業 派27-304911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C3C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プライバシーマーク 17004884</a:t>
            </a:r>
            <a:endParaRPr lang="en-US" sz="900" dirty="0"/>
          </a:p>
        </p:txBody>
      </p:sp>
      <p:sp>
        <p:nvSpPr>
          <p:cNvPr id="130" name="Text 123"/>
          <p:cNvSpPr txBox="1"/>
          <p:nvPr/>
        </p:nvSpPr>
        <p:spPr>
          <a:xfrm>
            <a:off x="10058400" y="9400032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9999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連絡先</a:t>
            </a:r>
            <a:endParaRPr lang="en-US" sz="850" dirty="0"/>
          </a:p>
        </p:txBody>
      </p:sp>
      <p:sp>
        <p:nvSpPr>
          <p:cNvPr id="131" name="Text 124"/>
          <p:cNvSpPr txBox="1"/>
          <p:nvPr/>
        </p:nvSpPr>
        <p:spPr>
          <a:xfrm>
            <a:off x="10927080" y="9400032"/>
            <a:ext cx="36941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C3C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TEL 06-4967-1038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C3C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data@d-creation-o.com</a:t>
            </a:r>
            <a:endParaRPr lang="en-US" sz="900" dirty="0"/>
          </a:p>
        </p:txBody>
      </p:sp>
      <p:pic>
        <p:nvPicPr>
          <p:cNvPr id="132" name="Image 5" descr="stripe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502920" y="10122408"/>
            <a:ext cx="14118336" cy="36576"/>
          </a:xfrm>
          <a:prstGeom prst="rect">
            <a:avLst/>
          </a:prstGeom>
        </p:spPr>
      </p:pic>
      <p:sp>
        <p:nvSpPr>
          <p:cNvPr id="133" name="Text 125"/>
          <p:cNvSpPr txBox="1"/>
          <p:nvPr/>
        </p:nvSpPr>
        <p:spPr>
          <a:xfrm>
            <a:off x="502920" y="10250424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株式会社DreamCreation　『ともに夢をつくる』</a:t>
            </a:r>
            <a:endParaRPr lang="en-US" sz="900" dirty="0"/>
          </a:p>
        </p:txBody>
      </p:sp>
      <p:sp>
        <p:nvSpPr>
          <p:cNvPr id="134" name="Text 126"/>
          <p:cNvSpPr txBox="1"/>
          <p:nvPr/>
        </p:nvSpPr>
        <p:spPr>
          <a:xfrm>
            <a:off x="10963656" y="1025042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9999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BACK  02 / 02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株式会社DreamCreation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DreamCreation 企業カタログ 2026 (A3)</dc:title>
  <dc:subject>PptxGenJS Presentation</dc:subject>
  <dc:creator>PptxGenJS</dc:creator>
  <cp:lastModifiedBy>PptxGenJS</cp:lastModifiedBy>
  <cp:revision>1</cp:revision>
  <dcterms:created xsi:type="dcterms:W3CDTF">2026-09-25T08:56:05Z</dcterms:created>
  <dcterms:modified xsi:type="dcterms:W3CDTF">2026-09-25T08:56:05Z</dcterms:modified>
</cp:coreProperties>
</file>