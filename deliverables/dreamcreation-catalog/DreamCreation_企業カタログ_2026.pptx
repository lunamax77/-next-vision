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1234440"/>
            <a:ext cx="12191695" cy="548640"/>
          </a:xfrm>
          <a:prstGeom prst="rect">
            <a:avLst/>
          </a:prstGeom>
          <a:noFill/>
          <a:ln/>
        </p:spPr>
        <p:txBody>
          <a:bodyPr wrap="square" lIns="0" tIns="0" rIns="0" bIns="0" rtlCol="0" anchor="t"/>
          <a:lstStyle/>
          <a:p>
            <a:pPr algn="ctr" indent="0" marL="0">
              <a:buNone/>
            </a:pPr>
            <a:r>
              <a:rPr lang="en-US" sz="2400" i="1" dirty="0">
                <a:solidFill>
                  <a:srgbClr val="6E6E6E"/>
                </a:solidFill>
                <a:latin typeface="Yu Mincho" pitchFamily="34" charset="0"/>
                <a:ea typeface="Yu Mincho" pitchFamily="34" charset="-122"/>
                <a:cs typeface="Yu Mincho" pitchFamily="34" charset="-120"/>
              </a:rPr>
              <a:t>『ともに夢をつくる』</a:t>
            </a:r>
            <a:endParaRPr lang="en-US" sz="2400" dirty="0"/>
          </a:p>
        </p:txBody>
      </p:sp>
      <p:pic>
        <p:nvPicPr>
          <p:cNvPr id="3" name="Image 0" descr="site/dreamcreation/images/logo.png">    </p:cNvPr>
          <p:cNvPicPr>
            <a:picLocks noChangeAspect="1"/>
          </p:cNvPicPr>
          <p:nvPr/>
        </p:nvPicPr>
        <p:blipFill>
          <a:blip r:embed="rId1"/>
          <a:stretch>
            <a:fillRect/>
          </a:stretch>
        </p:blipFill>
        <p:spPr>
          <a:xfrm>
            <a:off x="3786988" y="2011680"/>
            <a:ext cx="4617720" cy="2286000"/>
          </a:xfrm>
          <a:prstGeom prst="rect">
            <a:avLst/>
          </a:prstGeom>
        </p:spPr>
      </p:pic>
      <p:pic>
        <p:nvPicPr>
          <p:cNvPr id="4" name="Image 1" descr="stripe.png">    </p:cNvPr>
          <p:cNvPicPr>
            <a:picLocks noChangeAspect="1"/>
          </p:cNvPicPr>
          <p:nvPr/>
        </p:nvPicPr>
        <p:blipFill>
          <a:blip r:embed="rId2"/>
          <a:srcRect l="0" r="0" t="0" b="0"/>
          <a:stretch/>
        </p:blipFill>
        <p:spPr>
          <a:xfrm>
            <a:off x="1463040" y="4709160"/>
            <a:ext cx="9265615" cy="64008"/>
          </a:xfrm>
          <a:prstGeom prst="rect">
            <a:avLst/>
          </a:prstGeom>
        </p:spPr>
      </p:pic>
      <p:sp>
        <p:nvSpPr>
          <p:cNvPr id="5" name="Text 1"/>
          <p:cNvSpPr txBox="1"/>
          <p:nvPr/>
        </p:nvSpPr>
        <p:spPr>
          <a:xfrm>
            <a:off x="0" y="5029200"/>
            <a:ext cx="12191695" cy="365760"/>
          </a:xfrm>
          <a:prstGeom prst="rect">
            <a:avLst/>
          </a:prstGeom>
          <a:noFill/>
          <a:ln/>
        </p:spPr>
        <p:txBody>
          <a:bodyPr wrap="square" lIns="0" tIns="0" rIns="0" bIns="0" rtlCol="0" anchor="t"/>
          <a:lstStyle/>
          <a:p>
            <a:pPr algn="ctr" indent="0" marL="0">
              <a:buNone/>
            </a:pPr>
            <a:r>
              <a:rPr lang="en-US" sz="1400" spc="800" kern="0" dirty="0">
                <a:solidFill>
                  <a:srgbClr val="6E6E6E"/>
                </a:solidFill>
                <a:latin typeface="Yu Gothic" pitchFamily="34" charset="0"/>
                <a:ea typeface="Yu Gothic" pitchFamily="34" charset="-122"/>
                <a:cs typeface="Yu Gothic" pitchFamily="34" charset="-120"/>
              </a:rPr>
              <a:t>COMPANY PROFILE 2026</a:t>
            </a:r>
            <a:endParaRPr lang="en-US" sz="1400" dirty="0"/>
          </a:p>
        </p:txBody>
      </p:sp>
      <p:sp>
        <p:nvSpPr>
          <p:cNvPr id="6" name="Text 2"/>
          <p:cNvSpPr txBox="1"/>
          <p:nvPr/>
        </p:nvSpPr>
        <p:spPr>
          <a:xfrm>
            <a:off x="0" y="5440680"/>
            <a:ext cx="12191695" cy="365760"/>
          </a:xfrm>
          <a:prstGeom prst="rect">
            <a:avLst/>
          </a:prstGeom>
          <a:noFill/>
          <a:ln/>
        </p:spPr>
        <p:txBody>
          <a:bodyPr wrap="square" lIns="0" tIns="0" rIns="0" bIns="0" rtlCol="0" anchor="t"/>
          <a:lstStyle/>
          <a:p>
            <a:pPr algn="ctr" indent="0" marL="0">
              <a:buNone/>
            </a:pPr>
            <a:r>
              <a:rPr lang="en-US" sz="1400" dirty="0">
                <a:solidFill>
                  <a:srgbClr val="3C3C3C"/>
                </a:solidFill>
                <a:latin typeface="Yu Mincho" pitchFamily="34" charset="0"/>
                <a:ea typeface="Yu Mincho" pitchFamily="34" charset="-122"/>
                <a:cs typeface="Yu Mincho" pitchFamily="34" charset="-120"/>
              </a:rPr>
              <a:t>株式会社DreamCreation　企業カタログ</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PHILOSOPHY</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企業理念</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02</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sp>
        <p:nvSpPr>
          <p:cNvPr id="6" name="Text 4"/>
          <p:cNvSpPr txBox="1"/>
          <p:nvPr/>
        </p:nvSpPr>
        <p:spPr>
          <a:xfrm>
            <a:off x="640080" y="1828800"/>
            <a:ext cx="6400800" cy="1280160"/>
          </a:xfrm>
          <a:prstGeom prst="rect">
            <a:avLst/>
          </a:prstGeom>
          <a:noFill/>
          <a:ln/>
        </p:spPr>
        <p:txBody>
          <a:bodyPr wrap="square" lIns="0" tIns="0" rIns="0" bIns="0" rtlCol="0" anchor="t"/>
          <a:lstStyle/>
          <a:p>
            <a:pPr indent="0" marL="0">
              <a:buNone/>
            </a:pPr>
            <a:r>
              <a:rPr lang="en-US" sz="3000" i="1" dirty="0">
                <a:solidFill>
                  <a:srgbClr val="3C3C3C"/>
                </a:solidFill>
                <a:latin typeface="Yu Mincho" pitchFamily="34" charset="0"/>
                <a:ea typeface="Yu Mincho" pitchFamily="34" charset="-122"/>
                <a:cs typeface="Yu Mincho" pitchFamily="34" charset="-120"/>
              </a:rPr>
              <a:t>Make customers happy</a:t>
            </a:r>
            <a:endParaRPr lang="en-US" sz="3000" dirty="0"/>
          </a:p>
          <a:p>
            <a:pPr indent="0" marL="0">
              <a:buNone/>
            </a:pPr>
            <a:r>
              <a:rPr lang="en-US" sz="3000" i="1" dirty="0">
                <a:solidFill>
                  <a:srgbClr val="3C3C3C"/>
                </a:solidFill>
                <a:latin typeface="Yu Mincho" pitchFamily="34" charset="0"/>
                <a:ea typeface="Yu Mincho" pitchFamily="34" charset="-122"/>
                <a:cs typeface="Yu Mincho" pitchFamily="34" charset="-120"/>
              </a:rPr>
              <a:t>and make society happy.</a:t>
            </a:r>
            <a:endParaRPr lang="en-US" sz="3000" dirty="0"/>
          </a:p>
        </p:txBody>
      </p:sp>
      <p:sp>
        <p:nvSpPr>
          <p:cNvPr id="7" name="Text 5"/>
          <p:cNvSpPr txBox="1"/>
          <p:nvPr/>
        </p:nvSpPr>
        <p:spPr>
          <a:xfrm>
            <a:off x="640080" y="3154680"/>
            <a:ext cx="6400800" cy="457200"/>
          </a:xfrm>
          <a:prstGeom prst="rect">
            <a:avLst/>
          </a:prstGeom>
          <a:noFill/>
          <a:ln/>
        </p:spPr>
        <p:txBody>
          <a:bodyPr wrap="square" lIns="0" tIns="0" rIns="0" bIns="0" rtlCol="0" anchor="t"/>
          <a:lstStyle/>
          <a:p>
            <a:pPr indent="0" marL="0">
              <a:buNone/>
            </a:pPr>
            <a:r>
              <a:rPr lang="en-US" sz="1800" dirty="0">
                <a:solidFill>
                  <a:srgbClr val="3C3C3C"/>
                </a:solidFill>
                <a:latin typeface="Yu Mincho" pitchFamily="34" charset="0"/>
                <a:ea typeface="Yu Mincho" pitchFamily="34" charset="-122"/>
                <a:cs typeface="Yu Mincho" pitchFamily="34" charset="-120"/>
              </a:rPr>
              <a:t>お客様を幸せに、社会を幸せに。</a:t>
            </a:r>
            <a:endParaRPr lang="en-US" sz="1800" dirty="0"/>
          </a:p>
        </p:txBody>
      </p:sp>
      <p:sp>
        <p:nvSpPr>
          <p:cNvPr id="8" name="Text 6"/>
          <p:cNvSpPr txBox="1"/>
          <p:nvPr/>
        </p:nvSpPr>
        <p:spPr>
          <a:xfrm>
            <a:off x="640080" y="3840480"/>
            <a:ext cx="6035040" cy="1005840"/>
          </a:xfrm>
          <a:prstGeom prst="rect">
            <a:avLst/>
          </a:prstGeom>
          <a:noFill/>
          <a:ln/>
        </p:spPr>
        <p:txBody>
          <a:bodyPr wrap="square" lIns="0" tIns="0" rIns="0" bIns="0" rtlCol="0" anchor="t"/>
          <a:lstStyle/>
          <a:p>
            <a:pPr indent="0" marL="0">
              <a:lnSpc>
                <a:spcPct val="140000"/>
              </a:lnSpc>
              <a:buNone/>
            </a:pPr>
            <a:r>
              <a:rPr lang="en-US" sz="1400" dirty="0">
                <a:solidFill>
                  <a:srgbClr val="6E6E6E"/>
                </a:solidFill>
                <a:latin typeface="Yu Gothic" pitchFamily="34" charset="0"/>
                <a:ea typeface="Yu Gothic" pitchFamily="34" charset="-122"/>
                <a:cs typeface="Yu Gothic" pitchFamily="34" charset="-120"/>
              </a:rPr>
              <a:t>「顧客満足・社会貢献・人との出会い」をキーワードに、セールスプロモーション・イベント・人材の力で、あらゆる方向へ創造的な価値をつくります。</a:t>
            </a:r>
            <a:endParaRPr lang="en-US" sz="1400" dirty="0"/>
          </a:p>
        </p:txBody>
      </p:sp>
      <p:sp>
        <p:nvSpPr>
          <p:cNvPr id="9" name="Shape 7"/>
          <p:cNvSpPr/>
          <p:nvPr/>
        </p:nvSpPr>
        <p:spPr>
          <a:xfrm>
            <a:off x="7498080" y="1828800"/>
            <a:ext cx="4050792" cy="4023360"/>
          </a:xfrm>
          <a:prstGeom prst="rect">
            <a:avLst/>
          </a:prstGeom>
          <a:solidFill>
            <a:srgbClr val="F5F5F5"/>
          </a:solidFill>
          <a:ln/>
        </p:spPr>
      </p:sp>
      <p:sp>
        <p:nvSpPr>
          <p:cNvPr id="10" name="Text 8"/>
          <p:cNvSpPr txBox="1"/>
          <p:nvPr/>
        </p:nvSpPr>
        <p:spPr>
          <a:xfrm>
            <a:off x="7818120" y="2103120"/>
            <a:ext cx="3474720" cy="274320"/>
          </a:xfrm>
          <a:prstGeom prst="rect">
            <a:avLst/>
          </a:prstGeom>
          <a:noFill/>
          <a:ln/>
        </p:spPr>
        <p:txBody>
          <a:bodyPr wrap="square" lIns="0" tIns="0" rIns="0" bIns="0" rtlCol="0" anchor="t"/>
          <a:lstStyle/>
          <a:p>
            <a:pPr indent="0" marL="0">
              <a:buNone/>
            </a:pPr>
            <a:r>
              <a:rPr lang="en-US" sz="1000" b="1" spc="400" kern="0" dirty="0">
                <a:solidFill>
                  <a:srgbClr val="9A9A9A"/>
                </a:solidFill>
                <a:latin typeface="Yu Gothic" pitchFamily="34" charset="0"/>
                <a:ea typeface="Yu Gothic" pitchFamily="34" charset="-122"/>
                <a:cs typeface="Yu Gothic" pitchFamily="34" charset="-120"/>
              </a:rPr>
              <a:t>MISSION</a:t>
            </a:r>
            <a:endParaRPr lang="en-US" sz="1000" dirty="0"/>
          </a:p>
        </p:txBody>
      </p:sp>
      <p:sp>
        <p:nvSpPr>
          <p:cNvPr id="11" name="Text 9"/>
          <p:cNvSpPr txBox="1"/>
          <p:nvPr/>
        </p:nvSpPr>
        <p:spPr>
          <a:xfrm>
            <a:off x="7818120" y="2377440"/>
            <a:ext cx="3474720" cy="731520"/>
          </a:xfrm>
          <a:prstGeom prst="rect">
            <a:avLst/>
          </a:prstGeom>
          <a:noFill/>
          <a:ln/>
        </p:spPr>
        <p:txBody>
          <a:bodyPr wrap="square" lIns="0" tIns="0" rIns="0" bIns="0" rtlCol="0" anchor="t"/>
          <a:lstStyle/>
          <a:p>
            <a:pPr indent="0" marL="0">
              <a:buNone/>
            </a:pPr>
            <a:r>
              <a:rPr lang="en-US" sz="1500" dirty="0">
                <a:solidFill>
                  <a:srgbClr val="3C3C3C"/>
                </a:solidFill>
                <a:latin typeface="Yu Mincho" pitchFamily="34" charset="0"/>
                <a:ea typeface="Yu Mincho" pitchFamily="34" charset="-122"/>
                <a:cs typeface="Yu Mincho" pitchFamily="34" charset="-120"/>
              </a:rPr>
              <a:t>夢の実現力で、</a:t>
            </a:r>
            <a:endParaRPr lang="en-US" sz="1500" dirty="0"/>
          </a:p>
          <a:p>
            <a:pPr indent="0" marL="0">
              <a:buNone/>
            </a:pPr>
            <a:r>
              <a:rPr lang="en-US" sz="1500" dirty="0">
                <a:solidFill>
                  <a:srgbClr val="3C3C3C"/>
                </a:solidFill>
                <a:latin typeface="Yu Mincho" pitchFamily="34" charset="0"/>
                <a:ea typeface="Yu Mincho" pitchFamily="34" charset="-122"/>
                <a:cs typeface="Yu Mincho" pitchFamily="34" charset="-120"/>
              </a:rPr>
              <a:t>人々を幸せにする。</a:t>
            </a:r>
            <a:endParaRPr lang="en-US" sz="1500" dirty="0"/>
          </a:p>
        </p:txBody>
      </p:sp>
      <p:sp>
        <p:nvSpPr>
          <p:cNvPr id="12" name="Text 10"/>
          <p:cNvSpPr txBox="1"/>
          <p:nvPr/>
        </p:nvSpPr>
        <p:spPr>
          <a:xfrm>
            <a:off x="7818120" y="3337560"/>
            <a:ext cx="3474720" cy="274320"/>
          </a:xfrm>
          <a:prstGeom prst="rect">
            <a:avLst/>
          </a:prstGeom>
          <a:noFill/>
          <a:ln/>
        </p:spPr>
        <p:txBody>
          <a:bodyPr wrap="square" lIns="0" tIns="0" rIns="0" bIns="0" rtlCol="0" anchor="t"/>
          <a:lstStyle/>
          <a:p>
            <a:pPr indent="0" marL="0">
              <a:buNone/>
            </a:pPr>
            <a:r>
              <a:rPr lang="en-US" sz="1000" b="1" spc="400" kern="0" dirty="0">
                <a:solidFill>
                  <a:srgbClr val="9A9A9A"/>
                </a:solidFill>
                <a:latin typeface="Yu Gothic" pitchFamily="34" charset="0"/>
                <a:ea typeface="Yu Gothic" pitchFamily="34" charset="-122"/>
                <a:cs typeface="Yu Gothic" pitchFamily="34" charset="-120"/>
              </a:rPr>
              <a:t>VISION</a:t>
            </a:r>
            <a:endParaRPr lang="en-US" sz="1000" dirty="0"/>
          </a:p>
        </p:txBody>
      </p:sp>
      <p:sp>
        <p:nvSpPr>
          <p:cNvPr id="13" name="Text 11"/>
          <p:cNvSpPr txBox="1"/>
          <p:nvPr/>
        </p:nvSpPr>
        <p:spPr>
          <a:xfrm>
            <a:off x="7818120" y="3611880"/>
            <a:ext cx="3474720" cy="731520"/>
          </a:xfrm>
          <a:prstGeom prst="rect">
            <a:avLst/>
          </a:prstGeom>
          <a:noFill/>
          <a:ln/>
        </p:spPr>
        <p:txBody>
          <a:bodyPr wrap="square" lIns="0" tIns="0" rIns="0" bIns="0" rtlCol="0" anchor="t"/>
          <a:lstStyle/>
          <a:p>
            <a:pPr indent="0" marL="0">
              <a:buNone/>
            </a:pPr>
            <a:r>
              <a:rPr lang="en-US" sz="1500" dirty="0">
                <a:solidFill>
                  <a:srgbClr val="3C3C3C"/>
                </a:solidFill>
                <a:latin typeface="Yu Mincho" pitchFamily="34" charset="0"/>
                <a:ea typeface="Yu Mincho" pitchFamily="34" charset="-122"/>
                <a:cs typeface="Yu Mincho" pitchFamily="34" charset="-120"/>
              </a:rPr>
              <a:t>Create creative value</a:t>
            </a:r>
            <a:endParaRPr lang="en-US" sz="1500" dirty="0"/>
          </a:p>
          <a:p>
            <a:pPr indent="0" marL="0">
              <a:buNone/>
            </a:pPr>
            <a:r>
              <a:rPr lang="en-US" sz="1500" dirty="0">
                <a:solidFill>
                  <a:srgbClr val="3C3C3C"/>
                </a:solidFill>
                <a:latin typeface="Yu Mincho" pitchFamily="34" charset="0"/>
                <a:ea typeface="Yu Mincho" pitchFamily="34" charset="-122"/>
                <a:cs typeface="Yu Mincho" pitchFamily="34" charset="-120"/>
              </a:rPr>
              <a:t>all the vectors in.</a:t>
            </a:r>
            <a:endParaRPr lang="en-US" sz="1500" dirty="0"/>
          </a:p>
        </p:txBody>
      </p:sp>
      <p:sp>
        <p:nvSpPr>
          <p:cNvPr id="14" name="Text 12"/>
          <p:cNvSpPr txBox="1"/>
          <p:nvPr/>
        </p:nvSpPr>
        <p:spPr>
          <a:xfrm>
            <a:off x="7818120" y="4572000"/>
            <a:ext cx="3474720" cy="274320"/>
          </a:xfrm>
          <a:prstGeom prst="rect">
            <a:avLst/>
          </a:prstGeom>
          <a:noFill/>
          <a:ln/>
        </p:spPr>
        <p:txBody>
          <a:bodyPr wrap="square" lIns="0" tIns="0" rIns="0" bIns="0" rtlCol="0" anchor="t"/>
          <a:lstStyle/>
          <a:p>
            <a:pPr indent="0" marL="0">
              <a:buNone/>
            </a:pPr>
            <a:r>
              <a:rPr lang="en-US" sz="1000" b="1" spc="400" kern="0" dirty="0">
                <a:solidFill>
                  <a:srgbClr val="9A9A9A"/>
                </a:solidFill>
                <a:latin typeface="Yu Gothic" pitchFamily="34" charset="0"/>
                <a:ea typeface="Yu Gothic" pitchFamily="34" charset="-122"/>
                <a:cs typeface="Yu Gothic" pitchFamily="34" charset="-120"/>
              </a:rPr>
              <a:t>SLOGAN</a:t>
            </a:r>
            <a:endParaRPr lang="en-US" sz="1000" dirty="0"/>
          </a:p>
        </p:txBody>
      </p:sp>
      <p:sp>
        <p:nvSpPr>
          <p:cNvPr id="15" name="Text 13"/>
          <p:cNvSpPr txBox="1"/>
          <p:nvPr/>
        </p:nvSpPr>
        <p:spPr>
          <a:xfrm>
            <a:off x="7818120" y="4846320"/>
            <a:ext cx="3474720" cy="731520"/>
          </a:xfrm>
          <a:prstGeom prst="rect">
            <a:avLst/>
          </a:prstGeom>
          <a:noFill/>
          <a:ln/>
        </p:spPr>
        <p:txBody>
          <a:bodyPr wrap="square" lIns="0" tIns="0" rIns="0" bIns="0" rtlCol="0" anchor="t"/>
          <a:lstStyle/>
          <a:p>
            <a:pPr indent="0" marL="0">
              <a:buNone/>
            </a:pPr>
            <a:r>
              <a:rPr lang="en-US" sz="1500" dirty="0">
                <a:solidFill>
                  <a:srgbClr val="3C3C3C"/>
                </a:solidFill>
                <a:latin typeface="Yu Mincho" pitchFamily="34" charset="0"/>
                <a:ea typeface="Yu Mincho" pitchFamily="34" charset="-122"/>
                <a:cs typeface="Yu Mincho" pitchFamily="34" charset="-120"/>
              </a:rPr>
              <a:t>grow &amp; Fun!</a:t>
            </a:r>
            <a:endParaRPr lang="en-US" sz="1500" dirty="0"/>
          </a:p>
          <a:p>
            <a:pPr indent="0" marL="0">
              <a:buNone/>
            </a:pPr>
            <a:r>
              <a:rPr lang="en-US" sz="1500" dirty="0">
                <a:solidFill>
                  <a:srgbClr val="3C3C3C"/>
                </a:solidFill>
                <a:latin typeface="Yu Mincho" pitchFamily="34" charset="0"/>
                <a:ea typeface="Yu Mincho" pitchFamily="34" charset="-122"/>
                <a:cs typeface="Yu Mincho" pitchFamily="34" charset="-120"/>
              </a:rPr>
              <a:t>働くって、楽しい。勝負は早さ。</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OUR VALUES</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5つの「楽しい」</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03</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sp>
        <p:nvSpPr>
          <p:cNvPr id="6" name="Text 4"/>
          <p:cNvSpPr txBox="1"/>
          <p:nvPr/>
        </p:nvSpPr>
        <p:spPr>
          <a:xfrm>
            <a:off x="640080" y="1463040"/>
            <a:ext cx="9144000" cy="365760"/>
          </a:xfrm>
          <a:prstGeom prst="rect">
            <a:avLst/>
          </a:prstGeom>
          <a:noFill/>
          <a:ln/>
        </p:spPr>
        <p:txBody>
          <a:bodyPr wrap="square" lIns="0" tIns="0" rIns="0" bIns="0" rtlCol="0" anchor="t"/>
          <a:lstStyle/>
          <a:p>
            <a:pPr indent="0" marL="0">
              <a:buNone/>
            </a:pPr>
            <a:r>
              <a:rPr lang="en-US" sz="1400" dirty="0">
                <a:solidFill>
                  <a:srgbClr val="6E6E6E"/>
                </a:solidFill>
                <a:latin typeface="Yu Gothic" pitchFamily="34" charset="0"/>
                <a:ea typeface="Yu Gothic" pitchFamily="34" charset="-122"/>
                <a:cs typeface="Yu Gothic" pitchFamily="34" charset="-120"/>
              </a:rPr>
              <a:t>私たちが大切にしている行動の基準です。</a:t>
            </a:r>
            <a:endParaRPr lang="en-US" sz="1400" dirty="0"/>
          </a:p>
        </p:txBody>
      </p:sp>
      <p:sp>
        <p:nvSpPr>
          <p:cNvPr id="7" name="Shape 5"/>
          <p:cNvSpPr/>
          <p:nvPr/>
        </p:nvSpPr>
        <p:spPr>
          <a:xfrm>
            <a:off x="640080" y="2194560"/>
            <a:ext cx="1999427" cy="3566160"/>
          </a:xfrm>
          <a:prstGeom prst="rect">
            <a:avLst/>
          </a:prstGeom>
          <a:solidFill>
            <a:srgbClr val="FFFFFF"/>
          </a:solidFill>
          <a:ln w="9525">
            <a:solidFill>
              <a:srgbClr val="D9D9D9"/>
            </a:solidFill>
            <a:prstDash val="solid"/>
          </a:ln>
        </p:spPr>
      </p:sp>
      <p:sp>
        <p:nvSpPr>
          <p:cNvPr id="8" name="Text 6"/>
          <p:cNvSpPr txBox="1"/>
          <p:nvPr/>
        </p:nvSpPr>
        <p:spPr>
          <a:xfrm>
            <a:off x="868680" y="2377440"/>
            <a:ext cx="914400" cy="274320"/>
          </a:xfrm>
          <a:prstGeom prst="rect">
            <a:avLst/>
          </a:prstGeom>
          <a:noFill/>
          <a:ln/>
        </p:spPr>
        <p:txBody>
          <a:bodyPr wrap="square" lIns="0" tIns="0" rIns="0" bIns="0" rtlCol="0" anchor="t"/>
          <a:lstStyle/>
          <a:p>
            <a:pPr indent="0" marL="0">
              <a:buNone/>
            </a:pPr>
            <a:r>
              <a:rPr lang="en-US" sz="1100" dirty="0">
                <a:solidFill>
                  <a:srgbClr val="9A9A9A"/>
                </a:solidFill>
                <a:latin typeface="Yu Gothic" pitchFamily="34" charset="0"/>
                <a:ea typeface="Yu Gothic" pitchFamily="34" charset="-122"/>
                <a:cs typeface="Yu Gothic" pitchFamily="34" charset="-120"/>
              </a:rPr>
              <a:t>01</a:t>
            </a:r>
            <a:endParaRPr lang="en-US" sz="1100" dirty="0"/>
          </a:p>
        </p:txBody>
      </p:sp>
      <p:sp>
        <p:nvSpPr>
          <p:cNvPr id="9" name="Text 7"/>
          <p:cNvSpPr txBox="1"/>
          <p:nvPr/>
        </p:nvSpPr>
        <p:spPr>
          <a:xfrm>
            <a:off x="868680" y="2743200"/>
            <a:ext cx="1542227" cy="640080"/>
          </a:xfrm>
          <a:prstGeom prst="rect">
            <a:avLst/>
          </a:prstGeom>
          <a:noFill/>
          <a:ln/>
        </p:spPr>
        <p:txBody>
          <a:bodyPr wrap="square" lIns="0" tIns="0" rIns="0" bIns="0" rtlCol="0" anchor="t"/>
          <a:lstStyle/>
          <a:p>
            <a:pPr indent="0" marL="0">
              <a:buNone/>
            </a:pPr>
            <a:r>
              <a:rPr lang="en-US" sz="2600" b="1" dirty="0">
                <a:solidFill>
                  <a:srgbClr val="3C3C3C"/>
                </a:solidFill>
                <a:latin typeface="Yu Mincho" pitchFamily="34" charset="0"/>
                <a:ea typeface="Yu Mincho" pitchFamily="34" charset="-122"/>
                <a:cs typeface="Yu Mincho" pitchFamily="34" charset="-120"/>
              </a:rPr>
              <a:t>No.1</a:t>
            </a:r>
            <a:endParaRPr lang="en-US" sz="2600" dirty="0"/>
          </a:p>
        </p:txBody>
      </p:sp>
      <p:sp>
        <p:nvSpPr>
          <p:cNvPr id="10" name="Text 8"/>
          <p:cNvSpPr txBox="1"/>
          <p:nvPr/>
        </p:nvSpPr>
        <p:spPr>
          <a:xfrm>
            <a:off x="868680" y="3520440"/>
            <a:ext cx="1542227" cy="320040"/>
          </a:xfrm>
          <a:prstGeom prst="rect">
            <a:avLst/>
          </a:prstGeom>
          <a:noFill/>
          <a:ln/>
        </p:spPr>
        <p:txBody>
          <a:bodyPr wrap="square" lIns="0" tIns="0" rIns="0" bIns="0" rtlCol="0" anchor="t"/>
          <a:lstStyle/>
          <a:p>
            <a:pPr indent="0" marL="0">
              <a:buNone/>
            </a:pPr>
            <a:r>
              <a:rPr lang="en-US" sz="1200" b="1" dirty="0">
                <a:solidFill>
                  <a:srgbClr val="6E6E6E"/>
                </a:solidFill>
                <a:latin typeface="Yu Gothic" pitchFamily="34" charset="0"/>
                <a:ea typeface="Yu Gothic" pitchFamily="34" charset="-122"/>
                <a:cs typeface="Yu Gothic" pitchFamily="34" charset="-120"/>
              </a:rPr>
              <a:t>いちばんって楽しい</a:t>
            </a:r>
            <a:endParaRPr lang="en-US" sz="1200" dirty="0"/>
          </a:p>
        </p:txBody>
      </p:sp>
      <p:sp>
        <p:nvSpPr>
          <p:cNvPr id="11" name="Text 9"/>
          <p:cNvSpPr txBox="1"/>
          <p:nvPr/>
        </p:nvSpPr>
        <p:spPr>
          <a:xfrm>
            <a:off x="868680" y="3977640"/>
            <a:ext cx="1542227" cy="1554480"/>
          </a:xfrm>
          <a:prstGeom prst="rect">
            <a:avLst/>
          </a:prstGeom>
          <a:noFill/>
          <a:ln/>
        </p:spPr>
        <p:txBody>
          <a:bodyPr wrap="square" lIns="0" tIns="0" rIns="0" bIns="0" rtlCol="0" anchor="t"/>
          <a:lstStyle/>
          <a:p>
            <a:pPr indent="0" marL="0">
              <a:lnSpc>
                <a:spcPct val="135000"/>
              </a:lnSpc>
              <a:buNone/>
            </a:pPr>
            <a:r>
              <a:rPr lang="en-US" sz="1250" dirty="0">
                <a:solidFill>
                  <a:srgbClr val="3C3C3C"/>
                </a:solidFill>
                <a:latin typeface="Yu Gothic" pitchFamily="34" charset="0"/>
                <a:ea typeface="Yu Gothic" pitchFamily="34" charset="-122"/>
                <a:cs typeface="Yu Gothic" pitchFamily="34" charset="-120"/>
              </a:rPr>
              <a:t>やる以上は圧倒的No.1を目指し続けます。</a:t>
            </a:r>
            <a:endParaRPr lang="en-US" sz="1250" dirty="0"/>
          </a:p>
        </p:txBody>
      </p:sp>
      <p:sp>
        <p:nvSpPr>
          <p:cNvPr id="12" name="Shape 10"/>
          <p:cNvSpPr/>
          <p:nvPr/>
        </p:nvSpPr>
        <p:spPr>
          <a:xfrm>
            <a:off x="2868107" y="2194560"/>
            <a:ext cx="1999427" cy="3566160"/>
          </a:xfrm>
          <a:prstGeom prst="rect">
            <a:avLst/>
          </a:prstGeom>
          <a:solidFill>
            <a:srgbClr val="FFFFFF"/>
          </a:solidFill>
          <a:ln w="9525">
            <a:solidFill>
              <a:srgbClr val="D9D9D9"/>
            </a:solidFill>
            <a:prstDash val="solid"/>
          </a:ln>
        </p:spPr>
      </p:sp>
      <p:sp>
        <p:nvSpPr>
          <p:cNvPr id="13" name="Text 11"/>
          <p:cNvSpPr txBox="1"/>
          <p:nvPr/>
        </p:nvSpPr>
        <p:spPr>
          <a:xfrm>
            <a:off x="3096707" y="2377440"/>
            <a:ext cx="914400" cy="274320"/>
          </a:xfrm>
          <a:prstGeom prst="rect">
            <a:avLst/>
          </a:prstGeom>
          <a:noFill/>
          <a:ln/>
        </p:spPr>
        <p:txBody>
          <a:bodyPr wrap="square" lIns="0" tIns="0" rIns="0" bIns="0" rtlCol="0" anchor="t"/>
          <a:lstStyle/>
          <a:p>
            <a:pPr indent="0" marL="0">
              <a:buNone/>
            </a:pPr>
            <a:r>
              <a:rPr lang="en-US" sz="1100" dirty="0">
                <a:solidFill>
                  <a:srgbClr val="9A9A9A"/>
                </a:solidFill>
                <a:latin typeface="Yu Gothic" pitchFamily="34" charset="0"/>
                <a:ea typeface="Yu Gothic" pitchFamily="34" charset="-122"/>
                <a:cs typeface="Yu Gothic" pitchFamily="34" charset="-120"/>
              </a:rPr>
              <a:t>02</a:t>
            </a:r>
            <a:endParaRPr lang="en-US" sz="1100" dirty="0"/>
          </a:p>
        </p:txBody>
      </p:sp>
      <p:sp>
        <p:nvSpPr>
          <p:cNvPr id="14" name="Text 12"/>
          <p:cNvSpPr txBox="1"/>
          <p:nvPr/>
        </p:nvSpPr>
        <p:spPr>
          <a:xfrm>
            <a:off x="3096707" y="2743200"/>
            <a:ext cx="1542227" cy="640080"/>
          </a:xfrm>
          <a:prstGeom prst="rect">
            <a:avLst/>
          </a:prstGeom>
          <a:noFill/>
          <a:ln/>
        </p:spPr>
        <p:txBody>
          <a:bodyPr wrap="square" lIns="0" tIns="0" rIns="0" bIns="0" rtlCol="0" anchor="t"/>
          <a:lstStyle/>
          <a:p>
            <a:pPr indent="0" marL="0">
              <a:buNone/>
            </a:pPr>
            <a:r>
              <a:rPr lang="en-US" sz="2600" b="1" dirty="0">
                <a:solidFill>
                  <a:srgbClr val="3C3C3C"/>
                </a:solidFill>
                <a:latin typeface="Yu Mincho" pitchFamily="34" charset="0"/>
                <a:ea typeface="Yu Mincho" pitchFamily="34" charset="-122"/>
                <a:cs typeface="Yu Mincho" pitchFamily="34" charset="-120"/>
              </a:rPr>
              <a:t>挑戦</a:t>
            </a:r>
            <a:endParaRPr lang="en-US" sz="2600" dirty="0"/>
          </a:p>
        </p:txBody>
      </p:sp>
      <p:sp>
        <p:nvSpPr>
          <p:cNvPr id="15" name="Text 13"/>
          <p:cNvSpPr txBox="1"/>
          <p:nvPr/>
        </p:nvSpPr>
        <p:spPr>
          <a:xfrm>
            <a:off x="3096707" y="3520440"/>
            <a:ext cx="1542227" cy="320040"/>
          </a:xfrm>
          <a:prstGeom prst="rect">
            <a:avLst/>
          </a:prstGeom>
          <a:noFill/>
          <a:ln/>
        </p:spPr>
        <p:txBody>
          <a:bodyPr wrap="square" lIns="0" tIns="0" rIns="0" bIns="0" rtlCol="0" anchor="t"/>
          <a:lstStyle/>
          <a:p>
            <a:pPr indent="0" marL="0">
              <a:buNone/>
            </a:pPr>
            <a:r>
              <a:rPr lang="en-US" sz="1200" b="1" dirty="0">
                <a:solidFill>
                  <a:srgbClr val="6E6E6E"/>
                </a:solidFill>
                <a:latin typeface="Yu Gothic" pitchFamily="34" charset="0"/>
                <a:ea typeface="Yu Gothic" pitchFamily="34" charset="-122"/>
                <a:cs typeface="Yu Gothic" pitchFamily="34" charset="-120"/>
              </a:rPr>
              <a:t>挑戦って楽しい</a:t>
            </a:r>
            <a:endParaRPr lang="en-US" sz="1200" dirty="0"/>
          </a:p>
        </p:txBody>
      </p:sp>
      <p:sp>
        <p:nvSpPr>
          <p:cNvPr id="16" name="Text 14"/>
          <p:cNvSpPr txBox="1"/>
          <p:nvPr/>
        </p:nvSpPr>
        <p:spPr>
          <a:xfrm>
            <a:off x="3096707" y="3977640"/>
            <a:ext cx="1542227" cy="1554480"/>
          </a:xfrm>
          <a:prstGeom prst="rect">
            <a:avLst/>
          </a:prstGeom>
          <a:noFill/>
          <a:ln/>
        </p:spPr>
        <p:txBody>
          <a:bodyPr wrap="square" lIns="0" tIns="0" rIns="0" bIns="0" rtlCol="0" anchor="t"/>
          <a:lstStyle/>
          <a:p>
            <a:pPr indent="0" marL="0">
              <a:lnSpc>
                <a:spcPct val="135000"/>
              </a:lnSpc>
              <a:buNone/>
            </a:pPr>
            <a:r>
              <a:rPr lang="en-US" sz="1250" dirty="0">
                <a:solidFill>
                  <a:srgbClr val="3C3C3C"/>
                </a:solidFill>
                <a:latin typeface="Yu Gothic" pitchFamily="34" charset="0"/>
                <a:ea typeface="Yu Gothic" pitchFamily="34" charset="-122"/>
                <a:cs typeface="Yu Gothic" pitchFamily="34" charset="-120"/>
              </a:rPr>
              <a:t>失敗を恐れず、現状維持を疑い、高い壁に挑み続けます。</a:t>
            </a:r>
            <a:endParaRPr lang="en-US" sz="1250" dirty="0"/>
          </a:p>
        </p:txBody>
      </p:sp>
      <p:sp>
        <p:nvSpPr>
          <p:cNvPr id="17" name="Shape 15"/>
          <p:cNvSpPr/>
          <p:nvPr/>
        </p:nvSpPr>
        <p:spPr>
          <a:xfrm>
            <a:off x="5096134" y="2194560"/>
            <a:ext cx="1999427" cy="3566160"/>
          </a:xfrm>
          <a:prstGeom prst="rect">
            <a:avLst/>
          </a:prstGeom>
          <a:solidFill>
            <a:srgbClr val="FFFFFF"/>
          </a:solidFill>
          <a:ln w="9525">
            <a:solidFill>
              <a:srgbClr val="D9D9D9"/>
            </a:solidFill>
            <a:prstDash val="solid"/>
          </a:ln>
        </p:spPr>
      </p:sp>
      <p:sp>
        <p:nvSpPr>
          <p:cNvPr id="18" name="Text 16"/>
          <p:cNvSpPr txBox="1"/>
          <p:nvPr/>
        </p:nvSpPr>
        <p:spPr>
          <a:xfrm>
            <a:off x="5324734" y="2377440"/>
            <a:ext cx="914400" cy="274320"/>
          </a:xfrm>
          <a:prstGeom prst="rect">
            <a:avLst/>
          </a:prstGeom>
          <a:noFill/>
          <a:ln/>
        </p:spPr>
        <p:txBody>
          <a:bodyPr wrap="square" lIns="0" tIns="0" rIns="0" bIns="0" rtlCol="0" anchor="t"/>
          <a:lstStyle/>
          <a:p>
            <a:pPr indent="0" marL="0">
              <a:buNone/>
            </a:pPr>
            <a:r>
              <a:rPr lang="en-US" sz="1100" dirty="0">
                <a:solidFill>
                  <a:srgbClr val="9A9A9A"/>
                </a:solidFill>
                <a:latin typeface="Yu Gothic" pitchFamily="34" charset="0"/>
                <a:ea typeface="Yu Gothic" pitchFamily="34" charset="-122"/>
                <a:cs typeface="Yu Gothic" pitchFamily="34" charset="-120"/>
              </a:rPr>
              <a:t>03</a:t>
            </a:r>
            <a:endParaRPr lang="en-US" sz="1100" dirty="0"/>
          </a:p>
        </p:txBody>
      </p:sp>
      <p:sp>
        <p:nvSpPr>
          <p:cNvPr id="19" name="Text 17"/>
          <p:cNvSpPr txBox="1"/>
          <p:nvPr/>
        </p:nvSpPr>
        <p:spPr>
          <a:xfrm>
            <a:off x="5324734" y="2743200"/>
            <a:ext cx="1542227" cy="640080"/>
          </a:xfrm>
          <a:prstGeom prst="rect">
            <a:avLst/>
          </a:prstGeom>
          <a:noFill/>
          <a:ln/>
        </p:spPr>
        <p:txBody>
          <a:bodyPr wrap="square" lIns="0" tIns="0" rIns="0" bIns="0" rtlCol="0" anchor="t"/>
          <a:lstStyle/>
          <a:p>
            <a:pPr indent="0" marL="0">
              <a:buNone/>
            </a:pPr>
            <a:r>
              <a:rPr lang="en-US" sz="2600" b="1" dirty="0">
                <a:solidFill>
                  <a:srgbClr val="3C3C3C"/>
                </a:solidFill>
                <a:latin typeface="Yu Mincho" pitchFamily="34" charset="0"/>
                <a:ea typeface="Yu Mincho" pitchFamily="34" charset="-122"/>
                <a:cs typeface="Yu Mincho" pitchFamily="34" charset="-120"/>
              </a:rPr>
              <a:t>逆算</a:t>
            </a:r>
            <a:endParaRPr lang="en-US" sz="2600" dirty="0"/>
          </a:p>
        </p:txBody>
      </p:sp>
      <p:sp>
        <p:nvSpPr>
          <p:cNvPr id="20" name="Text 18"/>
          <p:cNvSpPr txBox="1"/>
          <p:nvPr/>
        </p:nvSpPr>
        <p:spPr>
          <a:xfrm>
            <a:off x="5324734" y="3520440"/>
            <a:ext cx="1542227" cy="320040"/>
          </a:xfrm>
          <a:prstGeom prst="rect">
            <a:avLst/>
          </a:prstGeom>
          <a:noFill/>
          <a:ln/>
        </p:spPr>
        <p:txBody>
          <a:bodyPr wrap="square" lIns="0" tIns="0" rIns="0" bIns="0" rtlCol="0" anchor="t"/>
          <a:lstStyle/>
          <a:p>
            <a:pPr indent="0" marL="0">
              <a:buNone/>
            </a:pPr>
            <a:r>
              <a:rPr lang="en-US" sz="1200" b="1" dirty="0">
                <a:solidFill>
                  <a:srgbClr val="6E6E6E"/>
                </a:solidFill>
                <a:latin typeface="Yu Gothic" pitchFamily="34" charset="0"/>
                <a:ea typeface="Yu Gothic" pitchFamily="34" charset="-122"/>
                <a:cs typeface="Yu Gothic" pitchFamily="34" charset="-120"/>
              </a:rPr>
              <a:t>逆算って楽しい</a:t>
            </a:r>
            <a:endParaRPr lang="en-US" sz="1200" dirty="0"/>
          </a:p>
        </p:txBody>
      </p:sp>
      <p:sp>
        <p:nvSpPr>
          <p:cNvPr id="21" name="Text 19"/>
          <p:cNvSpPr txBox="1"/>
          <p:nvPr/>
        </p:nvSpPr>
        <p:spPr>
          <a:xfrm>
            <a:off x="5324734" y="3977640"/>
            <a:ext cx="1542227" cy="1554480"/>
          </a:xfrm>
          <a:prstGeom prst="rect">
            <a:avLst/>
          </a:prstGeom>
          <a:noFill/>
          <a:ln/>
        </p:spPr>
        <p:txBody>
          <a:bodyPr wrap="square" lIns="0" tIns="0" rIns="0" bIns="0" rtlCol="0" anchor="t"/>
          <a:lstStyle/>
          <a:p>
            <a:pPr indent="0" marL="0">
              <a:lnSpc>
                <a:spcPct val="135000"/>
              </a:lnSpc>
              <a:buNone/>
            </a:pPr>
            <a:r>
              <a:rPr lang="en-US" sz="1250" dirty="0">
                <a:solidFill>
                  <a:srgbClr val="3C3C3C"/>
                </a:solidFill>
                <a:latin typeface="Yu Gothic" pitchFamily="34" charset="0"/>
                <a:ea typeface="Yu Gothic" pitchFamily="34" charset="-122"/>
                <a:cs typeface="Yu Gothic" pitchFamily="34" charset="-120"/>
              </a:rPr>
              <a:t>登る山を決め、今やるべきことを逆算で決めます。</a:t>
            </a:r>
            <a:endParaRPr lang="en-US" sz="1250" dirty="0"/>
          </a:p>
        </p:txBody>
      </p:sp>
      <p:sp>
        <p:nvSpPr>
          <p:cNvPr id="22" name="Shape 20"/>
          <p:cNvSpPr/>
          <p:nvPr/>
        </p:nvSpPr>
        <p:spPr>
          <a:xfrm>
            <a:off x="7324161" y="2194560"/>
            <a:ext cx="1999427" cy="3566160"/>
          </a:xfrm>
          <a:prstGeom prst="rect">
            <a:avLst/>
          </a:prstGeom>
          <a:solidFill>
            <a:srgbClr val="FFFFFF"/>
          </a:solidFill>
          <a:ln w="9525">
            <a:solidFill>
              <a:srgbClr val="D9D9D9"/>
            </a:solidFill>
            <a:prstDash val="solid"/>
          </a:ln>
        </p:spPr>
      </p:sp>
      <p:sp>
        <p:nvSpPr>
          <p:cNvPr id="23" name="Text 21"/>
          <p:cNvSpPr txBox="1"/>
          <p:nvPr/>
        </p:nvSpPr>
        <p:spPr>
          <a:xfrm>
            <a:off x="7552761" y="2377440"/>
            <a:ext cx="914400" cy="274320"/>
          </a:xfrm>
          <a:prstGeom prst="rect">
            <a:avLst/>
          </a:prstGeom>
          <a:noFill/>
          <a:ln/>
        </p:spPr>
        <p:txBody>
          <a:bodyPr wrap="square" lIns="0" tIns="0" rIns="0" bIns="0" rtlCol="0" anchor="t"/>
          <a:lstStyle/>
          <a:p>
            <a:pPr indent="0" marL="0">
              <a:buNone/>
            </a:pPr>
            <a:r>
              <a:rPr lang="en-US" sz="1100" dirty="0">
                <a:solidFill>
                  <a:srgbClr val="9A9A9A"/>
                </a:solidFill>
                <a:latin typeface="Yu Gothic" pitchFamily="34" charset="0"/>
                <a:ea typeface="Yu Gothic" pitchFamily="34" charset="-122"/>
                <a:cs typeface="Yu Gothic" pitchFamily="34" charset="-120"/>
              </a:rPr>
              <a:t>04</a:t>
            </a:r>
            <a:endParaRPr lang="en-US" sz="1100" dirty="0"/>
          </a:p>
        </p:txBody>
      </p:sp>
      <p:sp>
        <p:nvSpPr>
          <p:cNvPr id="24" name="Text 22"/>
          <p:cNvSpPr txBox="1"/>
          <p:nvPr/>
        </p:nvSpPr>
        <p:spPr>
          <a:xfrm>
            <a:off x="7552761" y="2743200"/>
            <a:ext cx="1542227" cy="640080"/>
          </a:xfrm>
          <a:prstGeom prst="rect">
            <a:avLst/>
          </a:prstGeom>
          <a:noFill/>
          <a:ln/>
        </p:spPr>
        <p:txBody>
          <a:bodyPr wrap="square" lIns="0" tIns="0" rIns="0" bIns="0" rtlCol="0" anchor="t"/>
          <a:lstStyle/>
          <a:p>
            <a:pPr indent="0" marL="0">
              <a:buNone/>
            </a:pPr>
            <a:r>
              <a:rPr lang="en-US" sz="2600" b="1" dirty="0">
                <a:solidFill>
                  <a:srgbClr val="3C3C3C"/>
                </a:solidFill>
                <a:latin typeface="Yu Mincho" pitchFamily="34" charset="0"/>
                <a:ea typeface="Yu Mincho" pitchFamily="34" charset="-122"/>
                <a:cs typeface="Yu Mincho" pitchFamily="34" charset="-120"/>
              </a:rPr>
              <a:t>スピード</a:t>
            </a:r>
            <a:endParaRPr lang="en-US" sz="2600" dirty="0"/>
          </a:p>
        </p:txBody>
      </p:sp>
      <p:sp>
        <p:nvSpPr>
          <p:cNvPr id="25" name="Text 23"/>
          <p:cNvSpPr txBox="1"/>
          <p:nvPr/>
        </p:nvSpPr>
        <p:spPr>
          <a:xfrm>
            <a:off x="7552761" y="3520440"/>
            <a:ext cx="1542227" cy="320040"/>
          </a:xfrm>
          <a:prstGeom prst="rect">
            <a:avLst/>
          </a:prstGeom>
          <a:noFill/>
          <a:ln/>
        </p:spPr>
        <p:txBody>
          <a:bodyPr wrap="square" lIns="0" tIns="0" rIns="0" bIns="0" rtlCol="0" anchor="t"/>
          <a:lstStyle/>
          <a:p>
            <a:pPr indent="0" marL="0">
              <a:buNone/>
            </a:pPr>
            <a:r>
              <a:rPr lang="en-US" sz="1200" b="1" dirty="0">
                <a:solidFill>
                  <a:srgbClr val="6E6E6E"/>
                </a:solidFill>
                <a:latin typeface="Yu Gothic" pitchFamily="34" charset="0"/>
                <a:ea typeface="Yu Gothic" pitchFamily="34" charset="-122"/>
                <a:cs typeface="Yu Gothic" pitchFamily="34" charset="-120"/>
              </a:rPr>
              <a:t>大至急って楽しい</a:t>
            </a:r>
            <a:endParaRPr lang="en-US" sz="1200" dirty="0"/>
          </a:p>
        </p:txBody>
      </p:sp>
      <p:sp>
        <p:nvSpPr>
          <p:cNvPr id="26" name="Text 24"/>
          <p:cNvSpPr txBox="1"/>
          <p:nvPr/>
        </p:nvSpPr>
        <p:spPr>
          <a:xfrm>
            <a:off x="7552761" y="3977640"/>
            <a:ext cx="1542227" cy="1554480"/>
          </a:xfrm>
          <a:prstGeom prst="rect">
            <a:avLst/>
          </a:prstGeom>
          <a:noFill/>
          <a:ln/>
        </p:spPr>
        <p:txBody>
          <a:bodyPr wrap="square" lIns="0" tIns="0" rIns="0" bIns="0" rtlCol="0" anchor="t"/>
          <a:lstStyle/>
          <a:p>
            <a:pPr indent="0" marL="0">
              <a:lnSpc>
                <a:spcPct val="135000"/>
              </a:lnSpc>
              <a:buNone/>
            </a:pPr>
            <a:r>
              <a:rPr lang="en-US" sz="1250" dirty="0">
                <a:solidFill>
                  <a:srgbClr val="3C3C3C"/>
                </a:solidFill>
                <a:latin typeface="Yu Gothic" pitchFamily="34" charset="0"/>
                <a:ea typeface="Yu Gothic" pitchFamily="34" charset="-122"/>
                <a:cs typeface="Yu Gothic" pitchFamily="34" charset="-120"/>
              </a:rPr>
              <a:t>1週間後の100%より、3日後の70%。</a:t>
            </a:r>
            <a:endParaRPr lang="en-US" sz="1250" dirty="0"/>
          </a:p>
        </p:txBody>
      </p:sp>
      <p:sp>
        <p:nvSpPr>
          <p:cNvPr id="27" name="Shape 25"/>
          <p:cNvSpPr/>
          <p:nvPr/>
        </p:nvSpPr>
        <p:spPr>
          <a:xfrm>
            <a:off x="9552188" y="2194560"/>
            <a:ext cx="1999427" cy="3566160"/>
          </a:xfrm>
          <a:prstGeom prst="rect">
            <a:avLst/>
          </a:prstGeom>
          <a:solidFill>
            <a:srgbClr val="FFFFFF"/>
          </a:solidFill>
          <a:ln w="9525">
            <a:solidFill>
              <a:srgbClr val="D9D9D9"/>
            </a:solidFill>
            <a:prstDash val="solid"/>
          </a:ln>
        </p:spPr>
      </p:sp>
      <p:sp>
        <p:nvSpPr>
          <p:cNvPr id="28" name="Text 26"/>
          <p:cNvSpPr txBox="1"/>
          <p:nvPr/>
        </p:nvSpPr>
        <p:spPr>
          <a:xfrm>
            <a:off x="9780788" y="2377440"/>
            <a:ext cx="914400" cy="274320"/>
          </a:xfrm>
          <a:prstGeom prst="rect">
            <a:avLst/>
          </a:prstGeom>
          <a:noFill/>
          <a:ln/>
        </p:spPr>
        <p:txBody>
          <a:bodyPr wrap="square" lIns="0" tIns="0" rIns="0" bIns="0" rtlCol="0" anchor="t"/>
          <a:lstStyle/>
          <a:p>
            <a:pPr indent="0" marL="0">
              <a:buNone/>
            </a:pPr>
            <a:r>
              <a:rPr lang="en-US" sz="1100" dirty="0">
                <a:solidFill>
                  <a:srgbClr val="9A9A9A"/>
                </a:solidFill>
                <a:latin typeface="Yu Gothic" pitchFamily="34" charset="0"/>
                <a:ea typeface="Yu Gothic" pitchFamily="34" charset="-122"/>
                <a:cs typeface="Yu Gothic" pitchFamily="34" charset="-120"/>
              </a:rPr>
              <a:t>05</a:t>
            </a:r>
            <a:endParaRPr lang="en-US" sz="1100" dirty="0"/>
          </a:p>
        </p:txBody>
      </p:sp>
      <p:sp>
        <p:nvSpPr>
          <p:cNvPr id="29" name="Text 27"/>
          <p:cNvSpPr txBox="1"/>
          <p:nvPr/>
        </p:nvSpPr>
        <p:spPr>
          <a:xfrm>
            <a:off x="9780788" y="2743200"/>
            <a:ext cx="1542227" cy="640080"/>
          </a:xfrm>
          <a:prstGeom prst="rect">
            <a:avLst/>
          </a:prstGeom>
          <a:noFill/>
          <a:ln/>
        </p:spPr>
        <p:txBody>
          <a:bodyPr wrap="square" lIns="0" tIns="0" rIns="0" bIns="0" rtlCol="0" anchor="t"/>
          <a:lstStyle/>
          <a:p>
            <a:pPr indent="0" marL="0">
              <a:buNone/>
            </a:pPr>
            <a:r>
              <a:rPr lang="en-US" sz="2600" b="1" dirty="0">
                <a:solidFill>
                  <a:srgbClr val="3C3C3C"/>
                </a:solidFill>
                <a:latin typeface="Yu Mincho" pitchFamily="34" charset="0"/>
                <a:ea typeface="Yu Mincho" pitchFamily="34" charset="-122"/>
                <a:cs typeface="Yu Mincho" pitchFamily="34" charset="-120"/>
              </a:rPr>
              <a:t>執念</a:t>
            </a:r>
            <a:endParaRPr lang="en-US" sz="2600" dirty="0"/>
          </a:p>
        </p:txBody>
      </p:sp>
      <p:sp>
        <p:nvSpPr>
          <p:cNvPr id="30" name="Text 28"/>
          <p:cNvSpPr txBox="1"/>
          <p:nvPr/>
        </p:nvSpPr>
        <p:spPr>
          <a:xfrm>
            <a:off x="9780788" y="3520440"/>
            <a:ext cx="1542227" cy="320040"/>
          </a:xfrm>
          <a:prstGeom prst="rect">
            <a:avLst/>
          </a:prstGeom>
          <a:noFill/>
          <a:ln/>
        </p:spPr>
        <p:txBody>
          <a:bodyPr wrap="square" lIns="0" tIns="0" rIns="0" bIns="0" rtlCol="0" anchor="t"/>
          <a:lstStyle/>
          <a:p>
            <a:pPr indent="0" marL="0">
              <a:buNone/>
            </a:pPr>
            <a:r>
              <a:rPr lang="en-US" sz="1200" b="1" dirty="0">
                <a:solidFill>
                  <a:srgbClr val="6E6E6E"/>
                </a:solidFill>
                <a:latin typeface="Yu Gothic" pitchFamily="34" charset="0"/>
                <a:ea typeface="Yu Gothic" pitchFamily="34" charset="-122"/>
                <a:cs typeface="Yu Gothic" pitchFamily="34" charset="-120"/>
              </a:rPr>
              <a:t>諦めないって楽しい</a:t>
            </a:r>
            <a:endParaRPr lang="en-US" sz="1200" dirty="0"/>
          </a:p>
        </p:txBody>
      </p:sp>
      <p:sp>
        <p:nvSpPr>
          <p:cNvPr id="31" name="Text 29"/>
          <p:cNvSpPr txBox="1"/>
          <p:nvPr/>
        </p:nvSpPr>
        <p:spPr>
          <a:xfrm>
            <a:off x="9780788" y="3977640"/>
            <a:ext cx="1542227" cy="1554480"/>
          </a:xfrm>
          <a:prstGeom prst="rect">
            <a:avLst/>
          </a:prstGeom>
          <a:noFill/>
          <a:ln/>
        </p:spPr>
        <p:txBody>
          <a:bodyPr wrap="square" lIns="0" tIns="0" rIns="0" bIns="0" rtlCol="0" anchor="t"/>
          <a:lstStyle/>
          <a:p>
            <a:pPr indent="0" marL="0">
              <a:lnSpc>
                <a:spcPct val="135000"/>
              </a:lnSpc>
              <a:buNone/>
            </a:pPr>
            <a:r>
              <a:rPr lang="en-US" sz="1250" dirty="0">
                <a:solidFill>
                  <a:srgbClr val="3C3C3C"/>
                </a:solidFill>
                <a:latin typeface="Yu Gothic" pitchFamily="34" charset="0"/>
                <a:ea typeface="Yu Gothic" pitchFamily="34" charset="-122"/>
                <a:cs typeface="Yu Gothic" pitchFamily="34" charset="-120"/>
              </a:rPr>
              <a:t>「どうやってできるか」を考え、とことんやり抜きます。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ite/dreamcreation/images/takemura.jpg">    </p:cNvPr>
          <p:cNvPicPr>
            <a:picLocks noChangeAspect="1"/>
          </p:cNvPicPr>
          <p:nvPr/>
        </p:nvPicPr>
        <p:blipFill>
          <a:blip r:embed="rId1"/>
          <a:srcRect l="0" r="0" t="0" b="0"/>
          <a:stretch/>
        </p:blipFill>
        <p:spPr>
          <a:xfrm>
            <a:off x="0" y="0"/>
            <a:ext cx="4572000" cy="6858000"/>
          </a:xfrm>
          <a:prstGeom prst="rect">
            <a:avLst/>
          </a:prstGeom>
        </p:spPr>
      </p:pic>
      <p:sp>
        <p:nvSpPr>
          <p:cNvPr id="3" name="Text 0"/>
          <p:cNvSpPr txBox="1"/>
          <p:nvPr/>
        </p:nvSpPr>
        <p:spPr>
          <a:xfrm>
            <a:off x="5212080" y="502920"/>
            <a:ext cx="45720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MESSAGE</a:t>
            </a:r>
            <a:endParaRPr lang="en-US" sz="1100" dirty="0"/>
          </a:p>
        </p:txBody>
      </p:sp>
      <p:sp>
        <p:nvSpPr>
          <p:cNvPr id="4" name="Text 1"/>
          <p:cNvSpPr txBox="1"/>
          <p:nvPr/>
        </p:nvSpPr>
        <p:spPr>
          <a:xfrm>
            <a:off x="5212080" y="868680"/>
            <a:ext cx="6339535" cy="1097280"/>
          </a:xfrm>
          <a:prstGeom prst="rect">
            <a:avLst/>
          </a:prstGeom>
          <a:noFill/>
          <a:ln/>
        </p:spPr>
        <p:txBody>
          <a:bodyPr wrap="square" lIns="0" tIns="0" rIns="0" bIns="0" rtlCol="0" anchor="t"/>
          <a:lstStyle/>
          <a:p>
            <a:pPr indent="0" marL="0">
              <a:buNone/>
            </a:pPr>
            <a:r>
              <a:rPr lang="en-US" sz="2400" b="1" dirty="0">
                <a:solidFill>
                  <a:srgbClr val="3C3C3C"/>
                </a:solidFill>
                <a:latin typeface="Yu Mincho" pitchFamily="34" charset="0"/>
                <a:ea typeface="Yu Mincho" pitchFamily="34" charset="-122"/>
                <a:cs typeface="Yu Mincho" pitchFamily="34" charset="-120"/>
              </a:rPr>
              <a:t>働くって、楽しい。</a:t>
            </a:r>
            <a:endParaRPr lang="en-US" sz="2400" dirty="0"/>
          </a:p>
          <a:p>
            <a:pPr indent="0" marL="0">
              <a:buNone/>
            </a:pPr>
            <a:r>
              <a:rPr lang="en-US" sz="2400" b="1" dirty="0">
                <a:solidFill>
                  <a:srgbClr val="3C3C3C"/>
                </a:solidFill>
                <a:latin typeface="Yu Mincho" pitchFamily="34" charset="0"/>
                <a:ea typeface="Yu Mincho" pitchFamily="34" charset="-122"/>
                <a:cs typeface="Yu Mincho" pitchFamily="34" charset="-120"/>
              </a:rPr>
              <a:t>その実感を、事業の力に変えていく。</a:t>
            </a:r>
            <a:endParaRPr lang="en-US" sz="2400" dirty="0"/>
          </a:p>
        </p:txBody>
      </p:sp>
      <p:sp>
        <p:nvSpPr>
          <p:cNvPr id="5" name="Text 2"/>
          <p:cNvSpPr txBox="1"/>
          <p:nvPr/>
        </p:nvSpPr>
        <p:spPr>
          <a:xfrm>
            <a:off x="5212080" y="2240280"/>
            <a:ext cx="6339535" cy="3108960"/>
          </a:xfrm>
          <a:prstGeom prst="rect">
            <a:avLst/>
          </a:prstGeom>
          <a:noFill/>
          <a:ln/>
        </p:spPr>
        <p:txBody>
          <a:bodyPr wrap="square" lIns="0" tIns="0" rIns="0" bIns="0" rtlCol="0" anchor="t"/>
          <a:lstStyle/>
          <a:p>
            <a:pPr indent="0" marL="0">
              <a:lnSpc>
                <a:spcPct val="145000"/>
              </a:lnSpc>
              <a:spcAft>
                <a:spcPts val="1000"/>
              </a:spcAft>
              <a:buNone/>
            </a:pPr>
            <a:r>
              <a:rPr lang="en-US" sz="1350" dirty="0">
                <a:solidFill>
                  <a:srgbClr val="6E6E6E"/>
                </a:solidFill>
                <a:latin typeface="Yu Gothic" pitchFamily="34" charset="0"/>
                <a:ea typeface="Yu Gothic" pitchFamily="34" charset="-122"/>
                <a:cs typeface="Yu Gothic" pitchFamily="34" charset="-120"/>
              </a:rPr>
              <a:t>企業の使命は、どこまでいっても社会への貢献だと考えています。それはまず雇用を生み出すこと。そして、人々が幸せに暮らしていくための活動拠点であり続けることです。</a:t>
            </a:r>
            <a:endParaRPr lang="en-US" sz="1350" dirty="0"/>
          </a:p>
          <a:p>
            <a:pPr indent="0" marL="0">
              <a:lnSpc>
                <a:spcPct val="145000"/>
              </a:lnSpc>
              <a:spcAft>
                <a:spcPts val="1000"/>
              </a:spcAft>
              <a:buNone/>
            </a:pPr>
            <a:r>
              <a:rPr lang="en-US" sz="1350" dirty="0">
                <a:solidFill>
                  <a:srgbClr val="6E6E6E"/>
                </a:solidFill>
                <a:latin typeface="Yu Gothic" pitchFamily="34" charset="0"/>
                <a:ea typeface="Yu Gothic" pitchFamily="34" charset="-122"/>
                <a:cs typeface="Yu Gothic" pitchFamily="34" charset="-120"/>
              </a:rPr>
              <a:t>DreamCreationは2017年、大阪で生まれました。通信商材の販売促進から始まり、イベントの企画・運営、人材派遣へと事業を広げてきましたが、変わらないのは「一人ひとりの夢を、実現する力に変える」という原点です。</a:t>
            </a:r>
            <a:endParaRPr lang="en-US" sz="1350" dirty="0"/>
          </a:p>
          <a:p>
            <a:pPr indent="0" marL="0">
              <a:lnSpc>
                <a:spcPct val="145000"/>
              </a:lnSpc>
              <a:buNone/>
            </a:pPr>
            <a:r>
              <a:rPr lang="en-US" sz="1350" dirty="0">
                <a:solidFill>
                  <a:srgbClr val="6E6E6E"/>
                </a:solidFill>
                <a:latin typeface="Yu Gothic" pitchFamily="34" charset="0"/>
                <a:ea typeface="Yu Gothic" pitchFamily="34" charset="-122"/>
                <a:cs typeface="Yu Gothic" pitchFamily="34" charset="-120"/>
              </a:rPr>
              <a:t>スピードは価値。1週間後の100%より、3日後の70%。現場で結果を出し続けることでクライアントに頼りにされ、社員が夢をもってイキイキと働ける会社であり続けます。</a:t>
            </a:r>
            <a:endParaRPr lang="en-US" sz="1350" dirty="0"/>
          </a:p>
        </p:txBody>
      </p:sp>
      <p:sp>
        <p:nvSpPr>
          <p:cNvPr id="6" name="Text 3"/>
          <p:cNvSpPr txBox="1"/>
          <p:nvPr/>
        </p:nvSpPr>
        <p:spPr>
          <a:xfrm>
            <a:off x="5212080" y="5532120"/>
            <a:ext cx="2743200" cy="274320"/>
          </a:xfrm>
          <a:prstGeom prst="rect">
            <a:avLst/>
          </a:prstGeom>
          <a:noFill/>
          <a:ln/>
        </p:spPr>
        <p:txBody>
          <a:bodyPr wrap="square" lIns="0" tIns="0" rIns="0" bIns="0" rtlCol="0" anchor="t"/>
          <a:lstStyle/>
          <a:p>
            <a:pPr indent="0" marL="0">
              <a:buNone/>
            </a:pPr>
            <a:r>
              <a:rPr lang="en-US" sz="1100" dirty="0">
                <a:solidFill>
                  <a:srgbClr val="6E6E6E"/>
                </a:solidFill>
                <a:latin typeface="Yu Gothic" pitchFamily="34" charset="0"/>
                <a:ea typeface="Yu Gothic" pitchFamily="34" charset="-122"/>
                <a:cs typeface="Yu Gothic" pitchFamily="34" charset="-120"/>
              </a:rPr>
              <a:t>代表取締役</a:t>
            </a:r>
            <a:endParaRPr lang="en-US" sz="1100" dirty="0"/>
          </a:p>
        </p:txBody>
      </p:sp>
      <p:sp>
        <p:nvSpPr>
          <p:cNvPr id="7" name="Text 4"/>
          <p:cNvSpPr txBox="1"/>
          <p:nvPr/>
        </p:nvSpPr>
        <p:spPr>
          <a:xfrm>
            <a:off x="5212080" y="5760720"/>
            <a:ext cx="2743200" cy="457200"/>
          </a:xfrm>
          <a:prstGeom prst="rect">
            <a:avLst/>
          </a:prstGeom>
          <a:noFill/>
          <a:ln/>
        </p:spPr>
        <p:txBody>
          <a:bodyPr wrap="square" lIns="0" tIns="0" rIns="0" bIns="0" rtlCol="0" anchor="t"/>
          <a:lstStyle/>
          <a:p>
            <a:pPr indent="0" marL="0">
              <a:buNone/>
            </a:pPr>
            <a:r>
              <a:rPr lang="en-US" sz="2200" spc="400" kern="0" dirty="0">
                <a:solidFill>
                  <a:srgbClr val="3C3C3C"/>
                </a:solidFill>
                <a:latin typeface="Yu Mincho" pitchFamily="34" charset="0"/>
                <a:ea typeface="Yu Mincho" pitchFamily="34" charset="-122"/>
                <a:cs typeface="Yu Mincho" pitchFamily="34" charset="-120"/>
              </a:rPr>
              <a:t>竹村 英哲</a:t>
            </a:r>
            <a:endParaRPr lang="en-US" sz="2200" dirty="0"/>
          </a:p>
        </p:txBody>
      </p:sp>
      <p:sp>
        <p:nvSpPr>
          <p:cNvPr id="8" name="Text 5"/>
          <p:cNvSpPr txBox="1"/>
          <p:nvPr/>
        </p:nvSpPr>
        <p:spPr>
          <a:xfrm>
            <a:off x="7406640" y="5916168"/>
            <a:ext cx="2743200" cy="274320"/>
          </a:xfrm>
          <a:prstGeom prst="rect">
            <a:avLst/>
          </a:prstGeom>
          <a:noFill/>
          <a:ln/>
        </p:spPr>
        <p:txBody>
          <a:bodyPr wrap="square" lIns="0" tIns="0" rIns="0" bIns="0" rtlCol="0" anchor="t"/>
          <a:lstStyle/>
          <a:p>
            <a:pPr indent="0" marL="0">
              <a:buNone/>
            </a:pPr>
            <a:r>
              <a:rPr lang="en-US" sz="1000" spc="300" kern="0" dirty="0">
                <a:solidFill>
                  <a:srgbClr val="9A9A9A"/>
                </a:solidFill>
                <a:latin typeface="Yu Gothic" pitchFamily="34" charset="0"/>
                <a:ea typeface="Yu Gothic" pitchFamily="34" charset="-122"/>
                <a:cs typeface="Yu Gothic" pitchFamily="34" charset="-120"/>
              </a:rPr>
              <a:t>Hideaki Takemura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BUSINESS</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事業内容</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05</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sp>
        <p:nvSpPr>
          <p:cNvPr id="6" name="Text 4"/>
          <p:cNvSpPr txBox="1"/>
          <p:nvPr/>
        </p:nvSpPr>
        <p:spPr>
          <a:xfrm>
            <a:off x="640080" y="1463040"/>
            <a:ext cx="10515600" cy="365760"/>
          </a:xfrm>
          <a:prstGeom prst="rect">
            <a:avLst/>
          </a:prstGeom>
          <a:noFill/>
          <a:ln/>
        </p:spPr>
        <p:txBody>
          <a:bodyPr wrap="square" lIns="0" tIns="0" rIns="0" bIns="0" rtlCol="0" anchor="t"/>
          <a:lstStyle/>
          <a:p>
            <a:pPr indent="0" marL="0">
              <a:buNone/>
            </a:pPr>
            <a:r>
              <a:rPr lang="en-US" sz="1400" dirty="0">
                <a:solidFill>
                  <a:srgbClr val="6E6E6E"/>
                </a:solidFill>
                <a:latin typeface="Yu Gothic" pitchFamily="34" charset="0"/>
                <a:ea typeface="Yu Gothic" pitchFamily="34" charset="-122"/>
                <a:cs typeface="Yu Gothic" pitchFamily="34" charset="-120"/>
              </a:rPr>
              <a:t>現場の力で、売れる仕組みをつくる。4つの事業でクライアントの課題に応えます。</a:t>
            </a:r>
            <a:endParaRPr lang="en-US" sz="1400" dirty="0"/>
          </a:p>
        </p:txBody>
      </p:sp>
      <p:pic>
        <p:nvPicPr>
          <p:cNvPr id="7" name="Image 0" descr="site/dreamcreation/images/svc-sales.jpg">    </p:cNvPr>
          <p:cNvPicPr>
            <a:picLocks noChangeAspect="1"/>
          </p:cNvPicPr>
          <p:nvPr/>
        </p:nvPicPr>
        <p:blipFill>
          <a:blip r:embed="rId1"/>
          <a:srcRect l="0" r="0" t="0" b="0"/>
          <a:stretch/>
        </p:blipFill>
        <p:spPr>
          <a:xfrm>
            <a:off x="640080" y="2057400"/>
            <a:ext cx="2522144" cy="1691640"/>
          </a:xfrm>
          <a:prstGeom prst="rect">
            <a:avLst/>
          </a:prstGeom>
        </p:spPr>
      </p:pic>
      <p:sp>
        <p:nvSpPr>
          <p:cNvPr id="8" name="Text 5"/>
          <p:cNvSpPr txBox="1"/>
          <p:nvPr/>
        </p:nvSpPr>
        <p:spPr>
          <a:xfrm>
            <a:off x="640080" y="3931920"/>
            <a:ext cx="2522144" cy="274320"/>
          </a:xfrm>
          <a:prstGeom prst="rect">
            <a:avLst/>
          </a:prstGeom>
          <a:noFill/>
          <a:ln/>
        </p:spPr>
        <p:txBody>
          <a:bodyPr wrap="square" lIns="0" tIns="0" rIns="0" bIns="0" rtlCol="0" anchor="t"/>
          <a:lstStyle/>
          <a:p>
            <a:pPr indent="0" marL="0">
              <a:buNone/>
            </a:pPr>
            <a:r>
              <a:rPr lang="en-US" sz="1000" spc="300" kern="0" dirty="0">
                <a:solidFill>
                  <a:srgbClr val="9A9A9A"/>
                </a:solidFill>
                <a:latin typeface="Yu Gothic" pitchFamily="34" charset="0"/>
                <a:ea typeface="Yu Gothic" pitchFamily="34" charset="-122"/>
                <a:cs typeface="Yu Gothic" pitchFamily="34" charset="-120"/>
              </a:rPr>
              <a:t>Sales Promotion</a:t>
            </a:r>
            <a:endParaRPr lang="en-US" sz="1000" dirty="0"/>
          </a:p>
        </p:txBody>
      </p:sp>
      <p:sp>
        <p:nvSpPr>
          <p:cNvPr id="9" name="Text 6"/>
          <p:cNvSpPr txBox="1"/>
          <p:nvPr/>
        </p:nvSpPr>
        <p:spPr>
          <a:xfrm>
            <a:off x="640080" y="4206240"/>
            <a:ext cx="2522144" cy="411480"/>
          </a:xfrm>
          <a:prstGeom prst="rect">
            <a:avLst/>
          </a:prstGeom>
          <a:noFill/>
          <a:ln/>
        </p:spPr>
        <p:txBody>
          <a:bodyPr wrap="square" lIns="0" tIns="0" rIns="0" bIns="0" rtlCol="0" anchor="t"/>
          <a:lstStyle/>
          <a:p>
            <a:pPr indent="0" marL="0">
              <a:buNone/>
            </a:pPr>
            <a:r>
              <a:rPr lang="en-US" sz="1700" b="1" dirty="0">
                <a:solidFill>
                  <a:srgbClr val="3C3C3C"/>
                </a:solidFill>
                <a:latin typeface="Yu Mincho" pitchFamily="34" charset="0"/>
                <a:ea typeface="Yu Mincho" pitchFamily="34" charset="-122"/>
                <a:cs typeface="Yu Mincho" pitchFamily="34" charset="-120"/>
              </a:rPr>
              <a:t>セールスプロモーション</a:t>
            </a:r>
            <a:endParaRPr lang="en-US" sz="1700" dirty="0"/>
          </a:p>
        </p:txBody>
      </p:sp>
      <p:sp>
        <p:nvSpPr>
          <p:cNvPr id="10" name="Text 7"/>
          <p:cNvSpPr txBox="1"/>
          <p:nvPr/>
        </p:nvSpPr>
        <p:spPr>
          <a:xfrm>
            <a:off x="640080" y="4709160"/>
            <a:ext cx="2522144" cy="1371600"/>
          </a:xfrm>
          <a:prstGeom prst="rect">
            <a:avLst/>
          </a:prstGeom>
          <a:noFill/>
          <a:ln/>
        </p:spPr>
        <p:txBody>
          <a:bodyPr wrap="square" lIns="0" tIns="0" rIns="0" bIns="0" rtlCol="0" anchor="t"/>
          <a:lstStyle/>
          <a:p>
            <a:pPr indent="0" marL="0">
              <a:lnSpc>
                <a:spcPct val="135000"/>
              </a:lnSpc>
              <a:buNone/>
            </a:pPr>
            <a:r>
              <a:rPr lang="en-US" sz="1200" dirty="0">
                <a:solidFill>
                  <a:srgbClr val="6E6E6E"/>
                </a:solidFill>
                <a:latin typeface="Yu Gothic" pitchFamily="34" charset="0"/>
                <a:ea typeface="Yu Gothic" pitchFamily="34" charset="-122"/>
                <a:cs typeface="Yu Gothic" pitchFamily="34" charset="-120"/>
              </a:rPr>
              <a:t>家電量販店・携帯ショップでの推奨販売・販売応援、キャンペーン事務局運営、サンプリング。</a:t>
            </a:r>
            <a:endParaRPr lang="en-US" sz="1200" dirty="0"/>
          </a:p>
        </p:txBody>
      </p:sp>
      <p:pic>
        <p:nvPicPr>
          <p:cNvPr id="11" name="Image 1" descr="site/dreamcreation/images/svc-event.jpg">    </p:cNvPr>
          <p:cNvPicPr>
            <a:picLocks noChangeAspect="1"/>
          </p:cNvPicPr>
          <p:nvPr/>
        </p:nvPicPr>
        <p:blipFill>
          <a:blip r:embed="rId2"/>
          <a:srcRect l="0" r="0" t="0" b="0"/>
          <a:stretch/>
        </p:blipFill>
        <p:spPr>
          <a:xfrm>
            <a:off x="3436544" y="2057400"/>
            <a:ext cx="2522144" cy="1691640"/>
          </a:xfrm>
          <a:prstGeom prst="rect">
            <a:avLst/>
          </a:prstGeom>
        </p:spPr>
      </p:pic>
      <p:sp>
        <p:nvSpPr>
          <p:cNvPr id="12" name="Text 8"/>
          <p:cNvSpPr txBox="1"/>
          <p:nvPr/>
        </p:nvSpPr>
        <p:spPr>
          <a:xfrm>
            <a:off x="3436544" y="3931920"/>
            <a:ext cx="2522144" cy="274320"/>
          </a:xfrm>
          <a:prstGeom prst="rect">
            <a:avLst/>
          </a:prstGeom>
          <a:noFill/>
          <a:ln/>
        </p:spPr>
        <p:txBody>
          <a:bodyPr wrap="square" lIns="0" tIns="0" rIns="0" bIns="0" rtlCol="0" anchor="t"/>
          <a:lstStyle/>
          <a:p>
            <a:pPr indent="0" marL="0">
              <a:buNone/>
            </a:pPr>
            <a:r>
              <a:rPr lang="en-US" sz="1000" spc="300" kern="0" dirty="0">
                <a:solidFill>
                  <a:srgbClr val="9A9A9A"/>
                </a:solidFill>
                <a:latin typeface="Yu Gothic" pitchFamily="34" charset="0"/>
                <a:ea typeface="Yu Gothic" pitchFamily="34" charset="-122"/>
                <a:cs typeface="Yu Gothic" pitchFamily="34" charset="-120"/>
              </a:rPr>
              <a:t>Event</a:t>
            </a:r>
            <a:endParaRPr lang="en-US" sz="1000" dirty="0"/>
          </a:p>
        </p:txBody>
      </p:sp>
      <p:sp>
        <p:nvSpPr>
          <p:cNvPr id="13" name="Text 9"/>
          <p:cNvSpPr txBox="1"/>
          <p:nvPr/>
        </p:nvSpPr>
        <p:spPr>
          <a:xfrm>
            <a:off x="3436544" y="4206240"/>
            <a:ext cx="2522144" cy="411480"/>
          </a:xfrm>
          <a:prstGeom prst="rect">
            <a:avLst/>
          </a:prstGeom>
          <a:noFill/>
          <a:ln/>
        </p:spPr>
        <p:txBody>
          <a:bodyPr wrap="square" lIns="0" tIns="0" rIns="0" bIns="0" rtlCol="0" anchor="t"/>
          <a:lstStyle/>
          <a:p>
            <a:pPr indent="0" marL="0">
              <a:buNone/>
            </a:pPr>
            <a:r>
              <a:rPr lang="en-US" sz="1700" b="1" dirty="0">
                <a:solidFill>
                  <a:srgbClr val="3C3C3C"/>
                </a:solidFill>
                <a:latin typeface="Yu Mincho" pitchFamily="34" charset="0"/>
                <a:ea typeface="Yu Mincho" pitchFamily="34" charset="-122"/>
                <a:cs typeface="Yu Mincho" pitchFamily="34" charset="-120"/>
              </a:rPr>
              <a:t>イベントプロモーション</a:t>
            </a:r>
            <a:endParaRPr lang="en-US" sz="1700" dirty="0"/>
          </a:p>
        </p:txBody>
      </p:sp>
      <p:sp>
        <p:nvSpPr>
          <p:cNvPr id="14" name="Text 10"/>
          <p:cNvSpPr txBox="1"/>
          <p:nvPr/>
        </p:nvSpPr>
        <p:spPr>
          <a:xfrm>
            <a:off x="3436544" y="4709160"/>
            <a:ext cx="2522144" cy="1371600"/>
          </a:xfrm>
          <a:prstGeom prst="rect">
            <a:avLst/>
          </a:prstGeom>
          <a:noFill/>
          <a:ln/>
        </p:spPr>
        <p:txBody>
          <a:bodyPr wrap="square" lIns="0" tIns="0" rIns="0" bIns="0" rtlCol="0" anchor="t"/>
          <a:lstStyle/>
          <a:p>
            <a:pPr indent="0" marL="0">
              <a:lnSpc>
                <a:spcPct val="135000"/>
              </a:lnSpc>
              <a:buNone/>
            </a:pPr>
            <a:r>
              <a:rPr lang="en-US" sz="1200" dirty="0">
                <a:solidFill>
                  <a:srgbClr val="6E6E6E"/>
                </a:solidFill>
                <a:latin typeface="Yu Gothic" pitchFamily="34" charset="0"/>
                <a:ea typeface="Yu Gothic" pitchFamily="34" charset="-122"/>
                <a:cs typeface="Yu Gothic" pitchFamily="34" charset="-120"/>
              </a:rPr>
              <a:t>体験型・参加型の集客イベントからセミナー・式典まで。企画から運営・備品・キャスティングまでワンストップ。</a:t>
            </a:r>
            <a:endParaRPr lang="en-US" sz="1200" dirty="0"/>
          </a:p>
        </p:txBody>
      </p:sp>
      <p:pic>
        <p:nvPicPr>
          <p:cNvPr id="15" name="Image 2" descr="site/dreamcreation/images/svc-agency.jpg">    </p:cNvPr>
          <p:cNvPicPr>
            <a:picLocks noChangeAspect="1"/>
          </p:cNvPicPr>
          <p:nvPr/>
        </p:nvPicPr>
        <p:blipFill>
          <a:blip r:embed="rId3"/>
          <a:srcRect l="0" r="0" t="0" b="0"/>
          <a:stretch/>
        </p:blipFill>
        <p:spPr>
          <a:xfrm>
            <a:off x="6233008" y="2057400"/>
            <a:ext cx="2522144" cy="1691640"/>
          </a:xfrm>
          <a:prstGeom prst="rect">
            <a:avLst/>
          </a:prstGeom>
        </p:spPr>
      </p:pic>
      <p:sp>
        <p:nvSpPr>
          <p:cNvPr id="16" name="Text 11"/>
          <p:cNvSpPr txBox="1"/>
          <p:nvPr/>
        </p:nvSpPr>
        <p:spPr>
          <a:xfrm>
            <a:off x="6233008" y="3931920"/>
            <a:ext cx="2522144" cy="274320"/>
          </a:xfrm>
          <a:prstGeom prst="rect">
            <a:avLst/>
          </a:prstGeom>
          <a:noFill/>
          <a:ln/>
        </p:spPr>
        <p:txBody>
          <a:bodyPr wrap="square" lIns="0" tIns="0" rIns="0" bIns="0" rtlCol="0" anchor="t"/>
          <a:lstStyle/>
          <a:p>
            <a:pPr indent="0" marL="0">
              <a:buNone/>
            </a:pPr>
            <a:r>
              <a:rPr lang="en-US" sz="1000" spc="300" kern="0" dirty="0">
                <a:solidFill>
                  <a:srgbClr val="9A9A9A"/>
                </a:solidFill>
                <a:latin typeface="Yu Gothic" pitchFamily="34" charset="0"/>
                <a:ea typeface="Yu Gothic" pitchFamily="34" charset="-122"/>
                <a:cs typeface="Yu Gothic" pitchFamily="34" charset="-120"/>
              </a:rPr>
              <a:t>Agency</a:t>
            </a:r>
            <a:endParaRPr lang="en-US" sz="1000" dirty="0"/>
          </a:p>
        </p:txBody>
      </p:sp>
      <p:sp>
        <p:nvSpPr>
          <p:cNvPr id="17" name="Text 12"/>
          <p:cNvSpPr txBox="1"/>
          <p:nvPr/>
        </p:nvSpPr>
        <p:spPr>
          <a:xfrm>
            <a:off x="6233008" y="4206240"/>
            <a:ext cx="2522144" cy="411480"/>
          </a:xfrm>
          <a:prstGeom prst="rect">
            <a:avLst/>
          </a:prstGeom>
          <a:noFill/>
          <a:ln/>
        </p:spPr>
        <p:txBody>
          <a:bodyPr wrap="square" lIns="0" tIns="0" rIns="0" bIns="0" rtlCol="0" anchor="t"/>
          <a:lstStyle/>
          <a:p>
            <a:pPr indent="0" marL="0">
              <a:buNone/>
            </a:pPr>
            <a:r>
              <a:rPr lang="en-US" sz="1700" b="1" dirty="0">
                <a:solidFill>
                  <a:srgbClr val="3C3C3C"/>
                </a:solidFill>
                <a:latin typeface="Yu Mincho" pitchFamily="34" charset="0"/>
                <a:ea typeface="Yu Mincho" pitchFamily="34" charset="-122"/>
                <a:cs typeface="Yu Mincho" pitchFamily="34" charset="-120"/>
              </a:rPr>
              <a:t>代理店事業</a:t>
            </a:r>
            <a:endParaRPr lang="en-US" sz="1700" dirty="0"/>
          </a:p>
        </p:txBody>
      </p:sp>
      <p:sp>
        <p:nvSpPr>
          <p:cNvPr id="18" name="Text 13"/>
          <p:cNvSpPr txBox="1"/>
          <p:nvPr/>
        </p:nvSpPr>
        <p:spPr>
          <a:xfrm>
            <a:off x="6233008" y="4709160"/>
            <a:ext cx="2522144" cy="1371600"/>
          </a:xfrm>
          <a:prstGeom prst="rect">
            <a:avLst/>
          </a:prstGeom>
          <a:noFill/>
          <a:ln/>
        </p:spPr>
        <p:txBody>
          <a:bodyPr wrap="square" lIns="0" tIns="0" rIns="0" bIns="0" rtlCol="0" anchor="t"/>
          <a:lstStyle/>
          <a:p>
            <a:pPr indent="0" marL="0">
              <a:lnSpc>
                <a:spcPct val="135000"/>
              </a:lnSpc>
              <a:buNone/>
            </a:pPr>
            <a:r>
              <a:rPr lang="en-US" sz="1200" dirty="0">
                <a:solidFill>
                  <a:srgbClr val="6E6E6E"/>
                </a:solidFill>
                <a:latin typeface="Yu Gothic" pitchFamily="34" charset="0"/>
                <a:ea typeface="Yu Gothic" pitchFamily="34" charset="-122"/>
                <a:cs typeface="Yu Gothic" pitchFamily="34" charset="-120"/>
              </a:rPr>
              <a:t>通信・キャッシュレス決済・省エネ商材などを法人・個人向けに販売。アウトバウンド営業にも対応。</a:t>
            </a:r>
            <a:endParaRPr lang="en-US" sz="1200" dirty="0"/>
          </a:p>
        </p:txBody>
      </p:sp>
      <p:pic>
        <p:nvPicPr>
          <p:cNvPr id="19" name="Image 3" descr="site/dreamcreation/images/svc-staffing.jpg">    </p:cNvPr>
          <p:cNvPicPr>
            <a:picLocks noChangeAspect="1"/>
          </p:cNvPicPr>
          <p:nvPr/>
        </p:nvPicPr>
        <p:blipFill>
          <a:blip r:embed="rId4"/>
          <a:srcRect l="0" r="0" t="0" b="0"/>
          <a:stretch/>
        </p:blipFill>
        <p:spPr>
          <a:xfrm>
            <a:off x="9029471" y="2057400"/>
            <a:ext cx="2522144" cy="1691640"/>
          </a:xfrm>
          <a:prstGeom prst="rect">
            <a:avLst/>
          </a:prstGeom>
        </p:spPr>
      </p:pic>
      <p:sp>
        <p:nvSpPr>
          <p:cNvPr id="20" name="Text 14"/>
          <p:cNvSpPr txBox="1"/>
          <p:nvPr/>
        </p:nvSpPr>
        <p:spPr>
          <a:xfrm>
            <a:off x="9029471" y="3931920"/>
            <a:ext cx="2522144" cy="274320"/>
          </a:xfrm>
          <a:prstGeom prst="rect">
            <a:avLst/>
          </a:prstGeom>
          <a:noFill/>
          <a:ln/>
        </p:spPr>
        <p:txBody>
          <a:bodyPr wrap="square" lIns="0" tIns="0" rIns="0" bIns="0" rtlCol="0" anchor="t"/>
          <a:lstStyle/>
          <a:p>
            <a:pPr indent="0" marL="0">
              <a:buNone/>
            </a:pPr>
            <a:r>
              <a:rPr lang="en-US" sz="1000" spc="300" kern="0" dirty="0">
                <a:solidFill>
                  <a:srgbClr val="9A9A9A"/>
                </a:solidFill>
                <a:latin typeface="Yu Gothic" pitchFamily="34" charset="0"/>
                <a:ea typeface="Yu Gothic" pitchFamily="34" charset="-122"/>
                <a:cs typeface="Yu Gothic" pitchFamily="34" charset="-120"/>
              </a:rPr>
              <a:t>Staffing</a:t>
            </a:r>
            <a:endParaRPr lang="en-US" sz="1000" dirty="0"/>
          </a:p>
        </p:txBody>
      </p:sp>
      <p:sp>
        <p:nvSpPr>
          <p:cNvPr id="21" name="Text 15"/>
          <p:cNvSpPr txBox="1"/>
          <p:nvPr/>
        </p:nvSpPr>
        <p:spPr>
          <a:xfrm>
            <a:off x="9029471" y="4206240"/>
            <a:ext cx="2522144" cy="411480"/>
          </a:xfrm>
          <a:prstGeom prst="rect">
            <a:avLst/>
          </a:prstGeom>
          <a:noFill/>
          <a:ln/>
        </p:spPr>
        <p:txBody>
          <a:bodyPr wrap="square" lIns="0" tIns="0" rIns="0" bIns="0" rtlCol="0" anchor="t"/>
          <a:lstStyle/>
          <a:p>
            <a:pPr indent="0" marL="0">
              <a:buNone/>
            </a:pPr>
            <a:r>
              <a:rPr lang="en-US" sz="1700" b="1" dirty="0">
                <a:solidFill>
                  <a:srgbClr val="3C3C3C"/>
                </a:solidFill>
                <a:latin typeface="Yu Mincho" pitchFamily="34" charset="0"/>
                <a:ea typeface="Yu Mincho" pitchFamily="34" charset="-122"/>
                <a:cs typeface="Yu Mincho" pitchFamily="34" charset="-120"/>
              </a:rPr>
              <a:t>人材派遣・育成</a:t>
            </a:r>
            <a:endParaRPr lang="en-US" sz="1700" dirty="0"/>
          </a:p>
        </p:txBody>
      </p:sp>
      <p:sp>
        <p:nvSpPr>
          <p:cNvPr id="22" name="Text 16"/>
          <p:cNvSpPr txBox="1"/>
          <p:nvPr/>
        </p:nvSpPr>
        <p:spPr>
          <a:xfrm>
            <a:off x="9029471" y="4709160"/>
            <a:ext cx="2522144" cy="1371600"/>
          </a:xfrm>
          <a:prstGeom prst="rect">
            <a:avLst/>
          </a:prstGeom>
          <a:noFill/>
          <a:ln/>
        </p:spPr>
        <p:txBody>
          <a:bodyPr wrap="square" lIns="0" tIns="0" rIns="0" bIns="0" rtlCol="0" anchor="t"/>
          <a:lstStyle/>
          <a:p>
            <a:pPr indent="0" marL="0">
              <a:lnSpc>
                <a:spcPct val="135000"/>
              </a:lnSpc>
              <a:buNone/>
            </a:pPr>
            <a:r>
              <a:rPr lang="en-US" sz="1200" dirty="0">
                <a:solidFill>
                  <a:srgbClr val="6E6E6E"/>
                </a:solidFill>
                <a:latin typeface="Yu Gothic" pitchFamily="34" charset="0"/>
                <a:ea typeface="Yu Gothic" pitchFamily="34" charset="-122"/>
                <a:cs typeface="Yu Gothic" pitchFamily="34" charset="-120"/>
              </a:rPr>
              <a:t>販売・イベント運営に強い人材を派遣。スマホ教室・研修で、現場で成果を出せる人材を育成。</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EVENT LINEUP 2026</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ファミリー集客イベント</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06</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sp>
        <p:nvSpPr>
          <p:cNvPr id="6" name="Text 4"/>
          <p:cNvSpPr txBox="1"/>
          <p:nvPr/>
        </p:nvSpPr>
        <p:spPr>
          <a:xfrm>
            <a:off x="640080" y="1463040"/>
            <a:ext cx="10789920" cy="365760"/>
          </a:xfrm>
          <a:prstGeom prst="rect">
            <a:avLst/>
          </a:prstGeom>
          <a:noFill/>
          <a:ln/>
        </p:spPr>
        <p:txBody>
          <a:bodyPr wrap="square" lIns="0" tIns="0" rIns="0" bIns="0" rtlCol="0" anchor="t"/>
          <a:lstStyle/>
          <a:p>
            <a:pPr indent="0" marL="0">
              <a:buNone/>
            </a:pPr>
            <a:r>
              <a:rPr lang="en-US" sz="1350" dirty="0">
                <a:solidFill>
                  <a:srgbClr val="6E6E6E"/>
                </a:solidFill>
                <a:latin typeface="Yu Gothic" pitchFamily="34" charset="0"/>
                <a:ea typeface="Yu Gothic" pitchFamily="34" charset="-122"/>
                <a:cs typeface="Yu Gothic" pitchFamily="34" charset="-120"/>
              </a:rPr>
              <a:t>週末の集客を「着座時間」に変える体験型コンテンツ。設営から運営まで完全代行で、店舗スタッフ様は商談に専念いただけます。</a:t>
            </a:r>
            <a:endParaRPr lang="en-US" sz="1350" dirty="0"/>
          </a:p>
        </p:txBody>
      </p:sp>
      <p:pic>
        <p:nvPicPr>
          <p:cNvPr id="7" name="Image 0" descr="klp-event1.jpg">    </p:cNvPr>
          <p:cNvPicPr>
            <a:picLocks noChangeAspect="1"/>
          </p:cNvPicPr>
          <p:nvPr/>
        </p:nvPicPr>
        <p:blipFill>
          <a:blip r:embed="rId1"/>
          <a:srcRect l="0" r="0" t="0" b="0"/>
          <a:stretch/>
        </p:blipFill>
        <p:spPr>
          <a:xfrm>
            <a:off x="640080" y="2103120"/>
            <a:ext cx="4937760" cy="2651760"/>
          </a:xfrm>
          <a:prstGeom prst="rect">
            <a:avLst/>
          </a:prstGeom>
        </p:spPr>
      </p:pic>
      <p:sp>
        <p:nvSpPr>
          <p:cNvPr id="8" name="Text 5"/>
          <p:cNvSpPr txBox="1"/>
          <p:nvPr/>
        </p:nvSpPr>
        <p:spPr>
          <a:xfrm>
            <a:off x="640080" y="4937760"/>
            <a:ext cx="2743200" cy="228600"/>
          </a:xfrm>
          <a:prstGeom prst="rect">
            <a:avLst/>
          </a:prstGeom>
          <a:noFill/>
          <a:ln/>
        </p:spPr>
        <p:txBody>
          <a:bodyPr wrap="square" lIns="0" tIns="0" rIns="0" bIns="0" rtlCol="0" anchor="t"/>
          <a:lstStyle/>
          <a:p>
            <a:pPr indent="0" marL="0">
              <a:buNone/>
            </a:pPr>
            <a:r>
              <a:rPr lang="en-US" sz="1000" spc="300" kern="0" dirty="0">
                <a:solidFill>
                  <a:srgbClr val="9A9A9A"/>
                </a:solidFill>
                <a:latin typeface="Yu Gothic" pitchFamily="34" charset="0"/>
                <a:ea typeface="Yu Gothic" pitchFamily="34" charset="-122"/>
                <a:cs typeface="Yu Gothic" pitchFamily="34" charset="-120"/>
              </a:rPr>
              <a:t>PRODUCT 01</a:t>
            </a:r>
            <a:endParaRPr lang="en-US" sz="1000" dirty="0"/>
          </a:p>
        </p:txBody>
      </p:sp>
      <p:sp>
        <p:nvSpPr>
          <p:cNvPr id="9" name="Text 6"/>
          <p:cNvSpPr txBox="1"/>
          <p:nvPr/>
        </p:nvSpPr>
        <p:spPr>
          <a:xfrm>
            <a:off x="640080" y="5166360"/>
            <a:ext cx="4937760" cy="411480"/>
          </a:xfrm>
          <a:prstGeom prst="rect">
            <a:avLst/>
          </a:prstGeom>
          <a:noFill/>
          <a:ln/>
        </p:spPr>
        <p:txBody>
          <a:bodyPr wrap="square" lIns="0" tIns="0" rIns="0" bIns="0" rtlCol="0" anchor="t"/>
          <a:lstStyle/>
          <a:p>
            <a:pPr indent="0" marL="0">
              <a:buNone/>
            </a:pPr>
            <a:r>
              <a:rPr lang="en-US" sz="1900" b="1" dirty="0">
                <a:solidFill>
                  <a:srgbClr val="3C3C3C"/>
                </a:solidFill>
                <a:latin typeface="Yu Mincho" pitchFamily="34" charset="0"/>
                <a:ea typeface="Yu Mincho" pitchFamily="34" charset="-122"/>
                <a:cs typeface="Yu Mincho" pitchFamily="34" charset="-120"/>
              </a:rPr>
              <a:t>キッズライセンスパーク</a:t>
            </a:r>
            <a:endParaRPr lang="en-US" sz="1900" dirty="0"/>
          </a:p>
        </p:txBody>
      </p:sp>
      <p:sp>
        <p:nvSpPr>
          <p:cNvPr id="10" name="Text 7"/>
          <p:cNvSpPr txBox="1"/>
          <p:nvPr/>
        </p:nvSpPr>
        <p:spPr>
          <a:xfrm>
            <a:off x="640080" y="5577840"/>
            <a:ext cx="4937760" cy="548640"/>
          </a:xfrm>
          <a:prstGeom prst="rect">
            <a:avLst/>
          </a:prstGeom>
          <a:noFill/>
          <a:ln/>
        </p:spPr>
        <p:txBody>
          <a:bodyPr wrap="square" lIns="0" tIns="0" rIns="0" bIns="0" rtlCol="0" anchor="t"/>
          <a:lstStyle/>
          <a:p>
            <a:pPr indent="0" marL="0">
              <a:buNone/>
            </a:pPr>
            <a:r>
              <a:rPr lang="en-US" sz="1150" dirty="0">
                <a:solidFill>
                  <a:srgbClr val="6E6E6E"/>
                </a:solidFill>
                <a:latin typeface="Yu Gothic" pitchFamily="34" charset="0"/>
                <a:ea typeface="Yu Gothic" pitchFamily="34" charset="-122"/>
                <a:cs typeface="Yu Gothic" pitchFamily="34" charset="-120"/>
              </a:rPr>
              <a:t>EVカー運転体験＋顔写真入り「こども免許証」即時発行。滞在時間 +30分／対象3〜8歳／1組約8〜12分</a:t>
            </a:r>
            <a:endParaRPr lang="en-US" sz="1150" dirty="0"/>
          </a:p>
        </p:txBody>
      </p:sp>
      <p:sp>
        <p:nvSpPr>
          <p:cNvPr id="11" name="Text 8"/>
          <p:cNvSpPr txBox="1"/>
          <p:nvPr/>
        </p:nvSpPr>
        <p:spPr>
          <a:xfrm>
            <a:off x="5943600" y="2103120"/>
            <a:ext cx="2743200" cy="228600"/>
          </a:xfrm>
          <a:prstGeom prst="rect">
            <a:avLst/>
          </a:prstGeom>
          <a:noFill/>
          <a:ln/>
        </p:spPr>
        <p:txBody>
          <a:bodyPr wrap="square" lIns="0" tIns="0" rIns="0" bIns="0" rtlCol="0" anchor="t"/>
          <a:lstStyle/>
          <a:p>
            <a:pPr indent="0" marL="0">
              <a:buNone/>
            </a:pPr>
            <a:r>
              <a:rPr lang="en-US" sz="1000" b="1" spc="300" kern="0" dirty="0">
                <a:solidFill>
                  <a:srgbClr val="9A9A9A"/>
                </a:solidFill>
                <a:latin typeface="Yu Gothic" pitchFamily="34" charset="0"/>
                <a:ea typeface="Yu Gothic" pitchFamily="34" charset="-122"/>
                <a:cs typeface="Yu Gothic" pitchFamily="34" charset="-120"/>
              </a:rPr>
              <a:t>PRICE</a:t>
            </a:r>
            <a:endParaRPr lang="en-US" sz="1000" dirty="0"/>
          </a:p>
        </p:txBody>
      </p:sp>
      <p:sp>
        <p:nvSpPr>
          <p:cNvPr id="12" name="Shape 9"/>
          <p:cNvSpPr/>
          <p:nvPr/>
        </p:nvSpPr>
        <p:spPr>
          <a:xfrm>
            <a:off x="5943600" y="2980944"/>
            <a:ext cx="5608015" cy="0"/>
          </a:xfrm>
          <a:prstGeom prst="line">
            <a:avLst/>
          </a:prstGeom>
          <a:noFill/>
          <a:ln w="9525">
            <a:solidFill>
              <a:srgbClr val="D9D9D9"/>
            </a:solidFill>
            <a:prstDash val="solid"/>
          </a:ln>
        </p:spPr>
      </p:sp>
      <p:sp>
        <p:nvSpPr>
          <p:cNvPr id="13" name="Text 10"/>
          <p:cNvSpPr txBox="1"/>
          <p:nvPr/>
        </p:nvSpPr>
        <p:spPr>
          <a:xfrm>
            <a:off x="5943600" y="2468880"/>
            <a:ext cx="3566160" cy="274320"/>
          </a:xfrm>
          <a:prstGeom prst="rect">
            <a:avLst/>
          </a:prstGeom>
          <a:noFill/>
          <a:ln/>
        </p:spPr>
        <p:txBody>
          <a:bodyPr wrap="square" lIns="0" tIns="0" rIns="0" bIns="0" rtlCol="0" anchor="t"/>
          <a:lstStyle/>
          <a:p>
            <a:pPr indent="0" marL="0">
              <a:buNone/>
            </a:pPr>
            <a:r>
              <a:rPr lang="en-US" sz="1300" b="1" dirty="0">
                <a:solidFill>
                  <a:srgbClr val="3C3C3C"/>
                </a:solidFill>
                <a:latin typeface="Yu Gothic" pitchFamily="34" charset="0"/>
                <a:ea typeface="Yu Gothic" pitchFamily="34" charset="-122"/>
                <a:cs typeface="Yu Gothic" pitchFamily="34" charset="-120"/>
              </a:rPr>
              <a:t>キッズライセンスパーク　スタンダード</a:t>
            </a:r>
            <a:endParaRPr lang="en-US" sz="1300" dirty="0"/>
          </a:p>
        </p:txBody>
      </p:sp>
      <p:sp>
        <p:nvSpPr>
          <p:cNvPr id="14" name="Text 11"/>
          <p:cNvSpPr txBox="1"/>
          <p:nvPr/>
        </p:nvSpPr>
        <p:spPr>
          <a:xfrm>
            <a:off x="5943600" y="2724912"/>
            <a:ext cx="3566160" cy="228600"/>
          </a:xfrm>
          <a:prstGeom prst="rect">
            <a:avLst/>
          </a:prstGeom>
          <a:noFill/>
          <a:ln/>
        </p:spPr>
        <p:txBody>
          <a:bodyPr wrap="square" lIns="0" tIns="0" rIns="0" bIns="0" rtlCol="0" anchor="t"/>
          <a:lstStyle/>
          <a:p>
            <a:pPr indent="0" marL="0">
              <a:buNone/>
            </a:pPr>
            <a:r>
              <a:rPr lang="en-US" sz="1050" dirty="0">
                <a:solidFill>
                  <a:srgbClr val="9A9A9A"/>
                </a:solidFill>
                <a:latin typeface="Yu Gothic" pitchFamily="34" charset="0"/>
                <a:ea typeface="Yu Gothic" pitchFamily="34" charset="-122"/>
                <a:cs typeface="Yu Gothic" pitchFamily="34" charset="-120"/>
              </a:rPr>
              <a:t>車両1台／1コース</a:t>
            </a:r>
            <a:endParaRPr lang="en-US" sz="1050" dirty="0"/>
          </a:p>
        </p:txBody>
      </p:sp>
      <p:sp>
        <p:nvSpPr>
          <p:cNvPr id="15" name="Text 12"/>
          <p:cNvSpPr txBox="1"/>
          <p:nvPr/>
        </p:nvSpPr>
        <p:spPr>
          <a:xfrm>
            <a:off x="9509760" y="2514600"/>
            <a:ext cx="2041855" cy="365760"/>
          </a:xfrm>
          <a:prstGeom prst="rect">
            <a:avLst/>
          </a:prstGeom>
          <a:noFill/>
          <a:ln/>
        </p:spPr>
        <p:txBody>
          <a:bodyPr wrap="square" lIns="0" tIns="0" rIns="0" bIns="0" rtlCol="0" anchor="t"/>
          <a:lstStyle/>
          <a:p>
            <a:pPr algn="r" indent="0" marL="0">
              <a:buNone/>
            </a:pPr>
            <a:r>
              <a:rPr lang="en-US" sz="1600" b="1" dirty="0">
                <a:solidFill>
                  <a:srgbClr val="3C3C3C"/>
                </a:solidFill>
                <a:latin typeface="Yu Mincho" pitchFamily="34" charset="0"/>
                <a:ea typeface="Yu Mincho" pitchFamily="34" charset="-122"/>
                <a:cs typeface="Yu Mincho" pitchFamily="34" charset="-120"/>
              </a:rPr>
              <a:t>¥80,000／日</a:t>
            </a:r>
            <a:endParaRPr lang="en-US" sz="1600" dirty="0"/>
          </a:p>
        </p:txBody>
      </p:sp>
      <p:sp>
        <p:nvSpPr>
          <p:cNvPr id="16" name="Shape 13"/>
          <p:cNvSpPr/>
          <p:nvPr/>
        </p:nvSpPr>
        <p:spPr>
          <a:xfrm>
            <a:off x="5943600" y="3547872"/>
            <a:ext cx="5608015" cy="0"/>
          </a:xfrm>
          <a:prstGeom prst="line">
            <a:avLst/>
          </a:prstGeom>
          <a:noFill/>
          <a:ln w="9525">
            <a:solidFill>
              <a:srgbClr val="D9D9D9"/>
            </a:solidFill>
            <a:prstDash val="solid"/>
          </a:ln>
        </p:spPr>
      </p:sp>
      <p:sp>
        <p:nvSpPr>
          <p:cNvPr id="17" name="Text 14"/>
          <p:cNvSpPr txBox="1"/>
          <p:nvPr/>
        </p:nvSpPr>
        <p:spPr>
          <a:xfrm>
            <a:off x="5943600" y="3035808"/>
            <a:ext cx="3566160" cy="274320"/>
          </a:xfrm>
          <a:prstGeom prst="rect">
            <a:avLst/>
          </a:prstGeom>
          <a:noFill/>
          <a:ln/>
        </p:spPr>
        <p:txBody>
          <a:bodyPr wrap="square" lIns="0" tIns="0" rIns="0" bIns="0" rtlCol="0" anchor="t"/>
          <a:lstStyle/>
          <a:p>
            <a:pPr indent="0" marL="0">
              <a:buNone/>
            </a:pPr>
            <a:r>
              <a:rPr lang="en-US" sz="1300" b="1" dirty="0">
                <a:solidFill>
                  <a:srgbClr val="3C3C3C"/>
                </a:solidFill>
                <a:latin typeface="Yu Gothic" pitchFamily="34" charset="0"/>
                <a:ea typeface="Yu Gothic" pitchFamily="34" charset="-122"/>
                <a:cs typeface="Yu Gothic" pitchFamily="34" charset="-120"/>
              </a:rPr>
              <a:t>キッズライセンスパーク　プレミアム</a:t>
            </a:r>
            <a:endParaRPr lang="en-US" sz="1300" dirty="0"/>
          </a:p>
        </p:txBody>
      </p:sp>
      <p:sp>
        <p:nvSpPr>
          <p:cNvPr id="18" name="Text 15"/>
          <p:cNvSpPr txBox="1"/>
          <p:nvPr/>
        </p:nvSpPr>
        <p:spPr>
          <a:xfrm>
            <a:off x="5943600" y="3291840"/>
            <a:ext cx="3566160" cy="228600"/>
          </a:xfrm>
          <a:prstGeom prst="rect">
            <a:avLst/>
          </a:prstGeom>
          <a:noFill/>
          <a:ln/>
        </p:spPr>
        <p:txBody>
          <a:bodyPr wrap="square" lIns="0" tIns="0" rIns="0" bIns="0" rtlCol="0" anchor="t"/>
          <a:lstStyle/>
          <a:p>
            <a:pPr indent="0" marL="0">
              <a:buNone/>
            </a:pPr>
            <a:r>
              <a:rPr lang="en-US" sz="1050" dirty="0">
                <a:solidFill>
                  <a:srgbClr val="9A9A9A"/>
                </a:solidFill>
                <a:latin typeface="Yu Gothic" pitchFamily="34" charset="0"/>
                <a:ea typeface="Yu Gothic" pitchFamily="34" charset="-122"/>
                <a:cs typeface="Yu Gothic" pitchFamily="34" charset="-120"/>
              </a:rPr>
              <a:t>車両3台／フルセット</a:t>
            </a:r>
            <a:endParaRPr lang="en-US" sz="1050" dirty="0"/>
          </a:p>
        </p:txBody>
      </p:sp>
      <p:sp>
        <p:nvSpPr>
          <p:cNvPr id="19" name="Text 16"/>
          <p:cNvSpPr txBox="1"/>
          <p:nvPr/>
        </p:nvSpPr>
        <p:spPr>
          <a:xfrm>
            <a:off x="9509760" y="3081528"/>
            <a:ext cx="2041855" cy="365760"/>
          </a:xfrm>
          <a:prstGeom prst="rect">
            <a:avLst/>
          </a:prstGeom>
          <a:noFill/>
          <a:ln/>
        </p:spPr>
        <p:txBody>
          <a:bodyPr wrap="square" lIns="0" tIns="0" rIns="0" bIns="0" rtlCol="0" anchor="t"/>
          <a:lstStyle/>
          <a:p>
            <a:pPr algn="r" indent="0" marL="0">
              <a:buNone/>
            </a:pPr>
            <a:r>
              <a:rPr lang="en-US" sz="1600" b="1" dirty="0">
                <a:solidFill>
                  <a:srgbClr val="3C3C3C"/>
                </a:solidFill>
                <a:latin typeface="Yu Mincho" pitchFamily="34" charset="0"/>
                <a:ea typeface="Yu Mincho" pitchFamily="34" charset="-122"/>
                <a:cs typeface="Yu Mincho" pitchFamily="34" charset="-120"/>
              </a:rPr>
              <a:t>¥125,000／日</a:t>
            </a:r>
            <a:endParaRPr lang="en-US" sz="1600" dirty="0"/>
          </a:p>
        </p:txBody>
      </p:sp>
      <p:sp>
        <p:nvSpPr>
          <p:cNvPr id="20" name="Shape 17"/>
          <p:cNvSpPr/>
          <p:nvPr/>
        </p:nvSpPr>
        <p:spPr>
          <a:xfrm>
            <a:off x="5943600" y="4114800"/>
            <a:ext cx="5608015" cy="0"/>
          </a:xfrm>
          <a:prstGeom prst="line">
            <a:avLst/>
          </a:prstGeom>
          <a:noFill/>
          <a:ln w="9525">
            <a:solidFill>
              <a:srgbClr val="D9D9D9"/>
            </a:solidFill>
            <a:prstDash val="solid"/>
          </a:ln>
        </p:spPr>
      </p:sp>
      <p:sp>
        <p:nvSpPr>
          <p:cNvPr id="21" name="Text 18"/>
          <p:cNvSpPr txBox="1"/>
          <p:nvPr/>
        </p:nvSpPr>
        <p:spPr>
          <a:xfrm>
            <a:off x="5943600" y="3602736"/>
            <a:ext cx="3566160" cy="274320"/>
          </a:xfrm>
          <a:prstGeom prst="rect">
            <a:avLst/>
          </a:prstGeom>
          <a:noFill/>
          <a:ln/>
        </p:spPr>
        <p:txBody>
          <a:bodyPr wrap="square" lIns="0" tIns="0" rIns="0" bIns="0" rtlCol="0" anchor="t"/>
          <a:lstStyle/>
          <a:p>
            <a:pPr indent="0" marL="0">
              <a:buNone/>
            </a:pPr>
            <a:r>
              <a:rPr lang="en-US" sz="1300" b="1" dirty="0">
                <a:solidFill>
                  <a:srgbClr val="3C3C3C"/>
                </a:solidFill>
                <a:latin typeface="Yu Gothic" pitchFamily="34" charset="0"/>
                <a:ea typeface="Yu Gothic" pitchFamily="34" charset="-122"/>
                <a:cs typeface="Yu Gothic" pitchFamily="34" charset="-120"/>
              </a:rPr>
              <a:t>スクイーズ ワークショップ</a:t>
            </a:r>
            <a:endParaRPr lang="en-US" sz="1300" dirty="0"/>
          </a:p>
        </p:txBody>
      </p:sp>
      <p:sp>
        <p:nvSpPr>
          <p:cNvPr id="22" name="Text 19"/>
          <p:cNvSpPr txBox="1"/>
          <p:nvPr/>
        </p:nvSpPr>
        <p:spPr>
          <a:xfrm>
            <a:off x="5943600" y="3858768"/>
            <a:ext cx="3566160" cy="228600"/>
          </a:xfrm>
          <a:prstGeom prst="rect">
            <a:avLst/>
          </a:prstGeom>
          <a:noFill/>
          <a:ln/>
        </p:spPr>
        <p:txBody>
          <a:bodyPr wrap="square" lIns="0" tIns="0" rIns="0" bIns="0" rtlCol="0" anchor="t"/>
          <a:lstStyle/>
          <a:p>
            <a:pPr indent="0" marL="0">
              <a:buNone/>
            </a:pPr>
            <a:r>
              <a:rPr lang="en-US" sz="1050" dirty="0">
                <a:solidFill>
                  <a:srgbClr val="9A9A9A"/>
                </a:solidFill>
                <a:latin typeface="Yu Gothic" pitchFamily="34" charset="0"/>
                <a:ea typeface="Yu Gothic" pitchFamily="34" charset="-122"/>
                <a:cs typeface="Yu Gothic" pitchFamily="34" charset="-120"/>
              </a:rPr>
              <a:t>約20分／組</a:t>
            </a:r>
            <a:endParaRPr lang="en-US" sz="1050" dirty="0"/>
          </a:p>
        </p:txBody>
      </p:sp>
      <p:sp>
        <p:nvSpPr>
          <p:cNvPr id="23" name="Text 20"/>
          <p:cNvSpPr txBox="1"/>
          <p:nvPr/>
        </p:nvSpPr>
        <p:spPr>
          <a:xfrm>
            <a:off x="9509760" y="3648456"/>
            <a:ext cx="2041855" cy="365760"/>
          </a:xfrm>
          <a:prstGeom prst="rect">
            <a:avLst/>
          </a:prstGeom>
          <a:noFill/>
          <a:ln/>
        </p:spPr>
        <p:txBody>
          <a:bodyPr wrap="square" lIns="0" tIns="0" rIns="0" bIns="0" rtlCol="0" anchor="t"/>
          <a:lstStyle/>
          <a:p>
            <a:pPr algn="r" indent="0" marL="0">
              <a:buNone/>
            </a:pPr>
            <a:r>
              <a:rPr lang="en-US" sz="1600" b="1" dirty="0">
                <a:solidFill>
                  <a:srgbClr val="3C3C3C"/>
                </a:solidFill>
                <a:latin typeface="Yu Mincho" pitchFamily="34" charset="0"/>
                <a:ea typeface="Yu Mincho" pitchFamily="34" charset="-122"/>
                <a:cs typeface="Yu Mincho" pitchFamily="34" charset="-120"/>
              </a:rPr>
              <a:t>¥70,000／日</a:t>
            </a:r>
            <a:endParaRPr lang="en-US" sz="1600" dirty="0"/>
          </a:p>
        </p:txBody>
      </p:sp>
      <p:sp>
        <p:nvSpPr>
          <p:cNvPr id="24" name="Shape 21"/>
          <p:cNvSpPr/>
          <p:nvPr/>
        </p:nvSpPr>
        <p:spPr>
          <a:xfrm>
            <a:off x="5943600" y="4681728"/>
            <a:ext cx="5608015" cy="0"/>
          </a:xfrm>
          <a:prstGeom prst="line">
            <a:avLst/>
          </a:prstGeom>
          <a:noFill/>
          <a:ln w="9525">
            <a:solidFill>
              <a:srgbClr val="D9D9D9"/>
            </a:solidFill>
            <a:prstDash val="solid"/>
          </a:ln>
        </p:spPr>
      </p:sp>
      <p:sp>
        <p:nvSpPr>
          <p:cNvPr id="25" name="Text 22"/>
          <p:cNvSpPr txBox="1"/>
          <p:nvPr/>
        </p:nvSpPr>
        <p:spPr>
          <a:xfrm>
            <a:off x="5943600" y="4169664"/>
            <a:ext cx="3566160" cy="274320"/>
          </a:xfrm>
          <a:prstGeom prst="rect">
            <a:avLst/>
          </a:prstGeom>
          <a:noFill/>
          <a:ln/>
        </p:spPr>
        <p:txBody>
          <a:bodyPr wrap="square" lIns="0" tIns="0" rIns="0" bIns="0" rtlCol="0" anchor="t"/>
          <a:lstStyle/>
          <a:p>
            <a:pPr indent="0" marL="0">
              <a:buNone/>
            </a:pPr>
            <a:r>
              <a:rPr lang="en-US" sz="1300" b="1" dirty="0">
                <a:solidFill>
                  <a:srgbClr val="3C3C3C"/>
                </a:solidFill>
                <a:latin typeface="Yu Gothic" pitchFamily="34" charset="0"/>
                <a:ea typeface="Yu Gothic" pitchFamily="34" charset="-122"/>
                <a:cs typeface="Yu Gothic" pitchFamily="34" charset="-120"/>
              </a:rPr>
              <a:t>エア遊具（エアリズム ほか）</a:t>
            </a:r>
            <a:endParaRPr lang="en-US" sz="1300" dirty="0"/>
          </a:p>
        </p:txBody>
      </p:sp>
      <p:sp>
        <p:nvSpPr>
          <p:cNvPr id="26" name="Text 23"/>
          <p:cNvSpPr txBox="1"/>
          <p:nvPr/>
        </p:nvSpPr>
        <p:spPr>
          <a:xfrm>
            <a:off x="5943600" y="4425696"/>
            <a:ext cx="3566160" cy="228600"/>
          </a:xfrm>
          <a:prstGeom prst="rect">
            <a:avLst/>
          </a:prstGeom>
          <a:noFill/>
          <a:ln/>
        </p:spPr>
        <p:txBody>
          <a:bodyPr wrap="square" lIns="0" tIns="0" rIns="0" bIns="0" rtlCol="0" anchor="t"/>
          <a:lstStyle/>
          <a:p>
            <a:pPr indent="0" marL="0">
              <a:buNone/>
            </a:pPr>
            <a:r>
              <a:rPr lang="en-US" sz="1050" dirty="0">
                <a:solidFill>
                  <a:srgbClr val="9A9A9A"/>
                </a:solidFill>
                <a:latin typeface="Yu Gothic" pitchFamily="34" charset="0"/>
                <a:ea typeface="Yu Gothic" pitchFamily="34" charset="-122"/>
                <a:cs typeface="Yu Gothic" pitchFamily="34" charset="-120"/>
              </a:rPr>
              <a:t>月額レンタル可</a:t>
            </a:r>
            <a:endParaRPr lang="en-US" sz="1050" dirty="0"/>
          </a:p>
        </p:txBody>
      </p:sp>
      <p:sp>
        <p:nvSpPr>
          <p:cNvPr id="27" name="Text 24"/>
          <p:cNvSpPr txBox="1"/>
          <p:nvPr/>
        </p:nvSpPr>
        <p:spPr>
          <a:xfrm>
            <a:off x="9509760" y="4215384"/>
            <a:ext cx="2041855" cy="365760"/>
          </a:xfrm>
          <a:prstGeom prst="rect">
            <a:avLst/>
          </a:prstGeom>
          <a:noFill/>
          <a:ln/>
        </p:spPr>
        <p:txBody>
          <a:bodyPr wrap="square" lIns="0" tIns="0" rIns="0" bIns="0" rtlCol="0" anchor="t"/>
          <a:lstStyle/>
          <a:p>
            <a:pPr algn="r" indent="0" marL="0">
              <a:buNone/>
            </a:pPr>
            <a:r>
              <a:rPr lang="en-US" sz="1600" b="1" dirty="0">
                <a:solidFill>
                  <a:srgbClr val="3C3C3C"/>
                </a:solidFill>
                <a:latin typeface="Yu Mincho" pitchFamily="34" charset="0"/>
                <a:ea typeface="Yu Mincho" pitchFamily="34" charset="-122"/>
                <a:cs typeface="Yu Mincho" pitchFamily="34" charset="-120"/>
              </a:rPr>
              <a:t>¥50,000〜／日</a:t>
            </a:r>
            <a:endParaRPr lang="en-US" sz="1600" dirty="0"/>
          </a:p>
        </p:txBody>
      </p:sp>
      <p:sp>
        <p:nvSpPr>
          <p:cNvPr id="28" name="Shape 25"/>
          <p:cNvSpPr/>
          <p:nvPr/>
        </p:nvSpPr>
        <p:spPr>
          <a:xfrm>
            <a:off x="5943600" y="5248656"/>
            <a:ext cx="5608015" cy="0"/>
          </a:xfrm>
          <a:prstGeom prst="line">
            <a:avLst/>
          </a:prstGeom>
          <a:noFill/>
          <a:ln w="9525">
            <a:solidFill>
              <a:srgbClr val="D9D9D9"/>
            </a:solidFill>
            <a:prstDash val="solid"/>
          </a:ln>
        </p:spPr>
      </p:sp>
      <p:sp>
        <p:nvSpPr>
          <p:cNvPr id="29" name="Text 26"/>
          <p:cNvSpPr txBox="1"/>
          <p:nvPr/>
        </p:nvSpPr>
        <p:spPr>
          <a:xfrm>
            <a:off x="5943600" y="4736592"/>
            <a:ext cx="3566160" cy="274320"/>
          </a:xfrm>
          <a:prstGeom prst="rect">
            <a:avLst/>
          </a:prstGeom>
          <a:noFill/>
          <a:ln/>
        </p:spPr>
        <p:txBody>
          <a:bodyPr wrap="square" lIns="0" tIns="0" rIns="0" bIns="0" rtlCol="0" anchor="t"/>
          <a:lstStyle/>
          <a:p>
            <a:pPr indent="0" marL="0">
              <a:buNone/>
            </a:pPr>
            <a:r>
              <a:rPr lang="en-US" sz="1300" b="1" dirty="0">
                <a:solidFill>
                  <a:srgbClr val="3C3C3C"/>
                </a:solidFill>
                <a:latin typeface="Yu Gothic" pitchFamily="34" charset="0"/>
                <a:ea typeface="Yu Gothic" pitchFamily="34" charset="-122"/>
                <a:cs typeface="Yu Gothic" pitchFamily="34" charset="-120"/>
              </a:rPr>
              <a:t>ゲーム筐体（カーニバル・電撃チャレンジ）</a:t>
            </a:r>
            <a:endParaRPr lang="en-US" sz="1300" dirty="0"/>
          </a:p>
        </p:txBody>
      </p:sp>
      <p:sp>
        <p:nvSpPr>
          <p:cNvPr id="30" name="Text 27"/>
          <p:cNvSpPr txBox="1"/>
          <p:nvPr/>
        </p:nvSpPr>
        <p:spPr>
          <a:xfrm>
            <a:off x="5943600" y="4992624"/>
            <a:ext cx="3566160" cy="228600"/>
          </a:xfrm>
          <a:prstGeom prst="rect">
            <a:avLst/>
          </a:prstGeom>
          <a:noFill/>
          <a:ln/>
        </p:spPr>
        <p:txBody>
          <a:bodyPr wrap="square" lIns="0" tIns="0" rIns="0" bIns="0" rtlCol="0" anchor="t"/>
          <a:lstStyle/>
          <a:p>
            <a:pPr indent="0" marL="0">
              <a:buNone/>
            </a:pPr>
            <a:r>
              <a:rPr lang="en-US" sz="1050" dirty="0">
                <a:solidFill>
                  <a:srgbClr val="9A9A9A"/>
                </a:solidFill>
                <a:latin typeface="Yu Gothic" pitchFamily="34" charset="0"/>
                <a:ea typeface="Yu Gothic" pitchFamily="34" charset="-122"/>
                <a:cs typeface="Yu Gothic" pitchFamily="34" charset="-120"/>
              </a:rPr>
              <a:t>月額レンタル可</a:t>
            </a:r>
            <a:endParaRPr lang="en-US" sz="1050" dirty="0"/>
          </a:p>
        </p:txBody>
      </p:sp>
      <p:sp>
        <p:nvSpPr>
          <p:cNvPr id="31" name="Text 28"/>
          <p:cNvSpPr txBox="1"/>
          <p:nvPr/>
        </p:nvSpPr>
        <p:spPr>
          <a:xfrm>
            <a:off x="9509760" y="4782312"/>
            <a:ext cx="2041855" cy="365760"/>
          </a:xfrm>
          <a:prstGeom prst="rect">
            <a:avLst/>
          </a:prstGeom>
          <a:noFill/>
          <a:ln/>
        </p:spPr>
        <p:txBody>
          <a:bodyPr wrap="square" lIns="0" tIns="0" rIns="0" bIns="0" rtlCol="0" anchor="t"/>
          <a:lstStyle/>
          <a:p>
            <a:pPr algn="r" indent="0" marL="0">
              <a:buNone/>
            </a:pPr>
            <a:r>
              <a:rPr lang="en-US" sz="1600" b="1" dirty="0">
                <a:solidFill>
                  <a:srgbClr val="3C3C3C"/>
                </a:solidFill>
                <a:latin typeface="Yu Mincho" pitchFamily="34" charset="0"/>
                <a:ea typeface="Yu Mincho" pitchFamily="34" charset="-122"/>
                <a:cs typeface="Yu Mincho" pitchFamily="34" charset="-120"/>
              </a:rPr>
              <a:t>¥50,000〜／日</a:t>
            </a:r>
            <a:endParaRPr lang="en-US" sz="1600" dirty="0"/>
          </a:p>
        </p:txBody>
      </p:sp>
      <p:sp>
        <p:nvSpPr>
          <p:cNvPr id="32" name="Text 29"/>
          <p:cNvSpPr txBox="1"/>
          <p:nvPr/>
        </p:nvSpPr>
        <p:spPr>
          <a:xfrm>
            <a:off x="5943600" y="5897880"/>
            <a:ext cx="5608015" cy="365760"/>
          </a:xfrm>
          <a:prstGeom prst="rect">
            <a:avLst/>
          </a:prstGeom>
          <a:noFill/>
          <a:ln/>
        </p:spPr>
        <p:txBody>
          <a:bodyPr wrap="square" lIns="0" tIns="0" rIns="0" bIns="0" rtlCol="0" anchor="t"/>
          <a:lstStyle/>
          <a:p>
            <a:pPr indent="0" marL="0">
              <a:buNone/>
            </a:pPr>
            <a:r>
              <a:rPr lang="en-US" sz="900" dirty="0">
                <a:solidFill>
                  <a:srgbClr val="9A9A9A"/>
                </a:solidFill>
                <a:latin typeface="Yu Gothic" pitchFamily="34" charset="0"/>
                <a:ea typeface="Yu Gothic" pitchFamily="34" charset="-122"/>
                <a:cs typeface="Yu Gothic" pitchFamily="34" charset="-120"/>
              </a:rPr>
              <a:t>※表示価格は税別。送料・配送費は別途。在庫状況により同等スペックの別機種をご用意する場合がございます。</a:t>
            </a:r>
            <a:endParaRPr lang="en-US" sz="900" dirty="0"/>
          </a:p>
        </p:txBody>
      </p:sp>
      <p:pic>
        <p:nvPicPr>
          <p:cNvPr id="33" name="Image 1" descr="squeeze.jpg">    </p:cNvPr>
          <p:cNvPicPr>
            <a:picLocks noChangeAspect="1"/>
          </p:cNvPicPr>
          <p:nvPr/>
        </p:nvPicPr>
        <p:blipFill>
          <a:blip r:embed="rId2"/>
          <a:srcRect l="0" r="0" t="0" b="0"/>
          <a:stretch/>
        </p:blipFill>
        <p:spPr>
          <a:xfrm>
            <a:off x="5943600" y="5349240"/>
            <a:ext cx="1777898" cy="457200"/>
          </a:xfrm>
          <a:prstGeom prst="rect">
            <a:avLst/>
          </a:prstGeom>
        </p:spPr>
      </p:pic>
      <p:pic>
        <p:nvPicPr>
          <p:cNvPr id="34" name="Image 2" descr="airizm.jpg">    </p:cNvPr>
          <p:cNvPicPr>
            <a:picLocks noChangeAspect="1"/>
          </p:cNvPicPr>
          <p:nvPr/>
        </p:nvPicPr>
        <p:blipFill>
          <a:blip r:embed="rId3"/>
          <a:srcRect l="0" r="0" t="0" b="0"/>
          <a:stretch/>
        </p:blipFill>
        <p:spPr>
          <a:xfrm>
            <a:off x="7858658" y="5349240"/>
            <a:ext cx="1777898" cy="457200"/>
          </a:xfrm>
          <a:prstGeom prst="rect">
            <a:avLst/>
          </a:prstGeom>
        </p:spPr>
      </p:pic>
      <p:pic>
        <p:nvPicPr>
          <p:cNvPr id="35" name="Image 3" descr="carnival-a.jpg">    </p:cNvPr>
          <p:cNvPicPr>
            <a:picLocks noChangeAspect="1"/>
          </p:cNvPicPr>
          <p:nvPr/>
        </p:nvPicPr>
        <p:blipFill>
          <a:blip r:embed="rId4"/>
          <a:srcRect l="0" r="0" t="0" b="0"/>
          <a:stretch/>
        </p:blipFill>
        <p:spPr>
          <a:xfrm>
            <a:off x="9773717" y="5349240"/>
            <a:ext cx="1777898"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CLIENTS &amp; AREA</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主要取引先・対応エリア</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07</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sp>
        <p:nvSpPr>
          <p:cNvPr id="6" name="Text 4"/>
          <p:cNvSpPr txBox="1"/>
          <p:nvPr/>
        </p:nvSpPr>
        <p:spPr>
          <a:xfrm>
            <a:off x="640080" y="1691640"/>
            <a:ext cx="4572000" cy="320040"/>
          </a:xfrm>
          <a:prstGeom prst="rect">
            <a:avLst/>
          </a:prstGeom>
          <a:noFill/>
          <a:ln/>
        </p:spPr>
        <p:txBody>
          <a:bodyPr wrap="square" lIns="0" tIns="0" rIns="0" bIns="0" rtlCol="0" anchor="t"/>
          <a:lstStyle/>
          <a:p>
            <a:pPr indent="0" marL="0">
              <a:buNone/>
            </a:pPr>
            <a:r>
              <a:rPr lang="en-US" sz="1500" b="1" dirty="0">
                <a:solidFill>
                  <a:srgbClr val="3C3C3C"/>
                </a:solidFill>
                <a:latin typeface="Yu Mincho" pitchFamily="34" charset="0"/>
                <a:ea typeface="Yu Mincho" pitchFamily="34" charset="-122"/>
                <a:cs typeface="Yu Mincho" pitchFamily="34" charset="-120"/>
              </a:rPr>
              <a:t>主要取引先</a:t>
            </a:r>
            <a:endParaRPr lang="en-US" sz="1500" dirty="0"/>
          </a:p>
        </p:txBody>
      </p:sp>
      <p:sp>
        <p:nvSpPr>
          <p:cNvPr id="7" name="Shape 5"/>
          <p:cNvSpPr/>
          <p:nvPr/>
        </p:nvSpPr>
        <p:spPr>
          <a:xfrm>
            <a:off x="640080" y="2194560"/>
            <a:ext cx="2514600" cy="621792"/>
          </a:xfrm>
          <a:prstGeom prst="rect">
            <a:avLst/>
          </a:prstGeom>
          <a:solidFill>
            <a:srgbClr val="F5F5F5"/>
          </a:solidFill>
          <a:ln/>
        </p:spPr>
      </p:sp>
      <p:sp>
        <p:nvSpPr>
          <p:cNvPr id="8" name="Text 6"/>
          <p:cNvSpPr txBox="1"/>
          <p:nvPr/>
        </p:nvSpPr>
        <p:spPr>
          <a:xfrm>
            <a:off x="731520" y="219456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NTTドコモ</a:t>
            </a:r>
            <a:endParaRPr lang="en-US" sz="1300" dirty="0"/>
          </a:p>
        </p:txBody>
      </p:sp>
      <p:sp>
        <p:nvSpPr>
          <p:cNvPr id="9" name="Shape 7"/>
          <p:cNvSpPr/>
          <p:nvPr/>
        </p:nvSpPr>
        <p:spPr>
          <a:xfrm>
            <a:off x="3337560" y="2194560"/>
            <a:ext cx="2514600" cy="621792"/>
          </a:xfrm>
          <a:prstGeom prst="rect">
            <a:avLst/>
          </a:prstGeom>
          <a:solidFill>
            <a:srgbClr val="F5F5F5"/>
          </a:solidFill>
          <a:ln/>
        </p:spPr>
      </p:sp>
      <p:sp>
        <p:nvSpPr>
          <p:cNvPr id="10" name="Text 8"/>
          <p:cNvSpPr txBox="1"/>
          <p:nvPr/>
        </p:nvSpPr>
        <p:spPr>
          <a:xfrm>
            <a:off x="3429000" y="219456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ドコモCS</a:t>
            </a:r>
            <a:endParaRPr lang="en-US" sz="1300" dirty="0"/>
          </a:p>
        </p:txBody>
      </p:sp>
      <p:sp>
        <p:nvSpPr>
          <p:cNvPr id="11" name="Shape 9"/>
          <p:cNvSpPr/>
          <p:nvPr/>
        </p:nvSpPr>
        <p:spPr>
          <a:xfrm>
            <a:off x="640080" y="2971800"/>
            <a:ext cx="2514600" cy="621792"/>
          </a:xfrm>
          <a:prstGeom prst="rect">
            <a:avLst/>
          </a:prstGeom>
          <a:solidFill>
            <a:srgbClr val="F5F5F5"/>
          </a:solidFill>
          <a:ln/>
        </p:spPr>
      </p:sp>
      <p:sp>
        <p:nvSpPr>
          <p:cNvPr id="12" name="Text 10"/>
          <p:cNvSpPr txBox="1"/>
          <p:nvPr/>
        </p:nvSpPr>
        <p:spPr>
          <a:xfrm>
            <a:off x="731520" y="2971800"/>
            <a:ext cx="2331720" cy="621792"/>
          </a:xfrm>
          <a:prstGeom prst="rect">
            <a:avLst/>
          </a:prstGeom>
          <a:noFill/>
          <a:ln/>
        </p:spPr>
        <p:txBody>
          <a:bodyPr wrap="square" lIns="0" tIns="0" rIns="0" bIns="0" rtlCol="0" anchor="ctr"/>
          <a:lstStyle/>
          <a:p>
            <a:pPr algn="ctr" indent="0" marL="0">
              <a:buNone/>
            </a:pPr>
            <a:r>
              <a:rPr lang="en-US" sz="1050" b="1" dirty="0">
                <a:solidFill>
                  <a:srgbClr val="3C3C3C"/>
                </a:solidFill>
                <a:latin typeface="Yu Gothic" pitchFamily="34" charset="0"/>
                <a:ea typeface="Yu Gothic" pitchFamily="34" charset="-122"/>
                <a:cs typeface="Yu Gothic" pitchFamily="34" charset="-120"/>
              </a:rPr>
              <a:t>NTTマーケティングアクトProCX</a:t>
            </a:r>
            <a:endParaRPr lang="en-US" sz="1050" dirty="0"/>
          </a:p>
        </p:txBody>
      </p:sp>
      <p:sp>
        <p:nvSpPr>
          <p:cNvPr id="13" name="Shape 11"/>
          <p:cNvSpPr/>
          <p:nvPr/>
        </p:nvSpPr>
        <p:spPr>
          <a:xfrm>
            <a:off x="3337560" y="2971800"/>
            <a:ext cx="2514600" cy="621792"/>
          </a:xfrm>
          <a:prstGeom prst="rect">
            <a:avLst/>
          </a:prstGeom>
          <a:solidFill>
            <a:srgbClr val="F5F5F5"/>
          </a:solidFill>
          <a:ln/>
        </p:spPr>
      </p:sp>
      <p:sp>
        <p:nvSpPr>
          <p:cNvPr id="14" name="Text 12"/>
          <p:cNvSpPr txBox="1"/>
          <p:nvPr/>
        </p:nvSpPr>
        <p:spPr>
          <a:xfrm>
            <a:off x="3429000" y="297180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ソフトバンク</a:t>
            </a:r>
            <a:endParaRPr lang="en-US" sz="1300" dirty="0"/>
          </a:p>
        </p:txBody>
      </p:sp>
      <p:sp>
        <p:nvSpPr>
          <p:cNvPr id="15" name="Shape 13"/>
          <p:cNvSpPr/>
          <p:nvPr/>
        </p:nvSpPr>
        <p:spPr>
          <a:xfrm>
            <a:off x="640080" y="3749040"/>
            <a:ext cx="2514600" cy="621792"/>
          </a:xfrm>
          <a:prstGeom prst="rect">
            <a:avLst/>
          </a:prstGeom>
          <a:solidFill>
            <a:srgbClr val="F5F5F5"/>
          </a:solidFill>
          <a:ln/>
        </p:spPr>
      </p:sp>
      <p:sp>
        <p:nvSpPr>
          <p:cNvPr id="16" name="Text 14"/>
          <p:cNvSpPr txBox="1"/>
          <p:nvPr/>
        </p:nvSpPr>
        <p:spPr>
          <a:xfrm>
            <a:off x="731520" y="374904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電通</a:t>
            </a:r>
            <a:endParaRPr lang="en-US" sz="1300" dirty="0"/>
          </a:p>
        </p:txBody>
      </p:sp>
      <p:sp>
        <p:nvSpPr>
          <p:cNvPr id="17" name="Shape 15"/>
          <p:cNvSpPr/>
          <p:nvPr/>
        </p:nvSpPr>
        <p:spPr>
          <a:xfrm>
            <a:off x="3337560" y="3749040"/>
            <a:ext cx="2514600" cy="621792"/>
          </a:xfrm>
          <a:prstGeom prst="rect">
            <a:avLst/>
          </a:prstGeom>
          <a:solidFill>
            <a:srgbClr val="F5F5F5"/>
          </a:solidFill>
          <a:ln/>
        </p:spPr>
      </p:sp>
      <p:sp>
        <p:nvSpPr>
          <p:cNvPr id="18" name="Text 16"/>
          <p:cNvSpPr txBox="1"/>
          <p:nvPr/>
        </p:nvSpPr>
        <p:spPr>
          <a:xfrm>
            <a:off x="3429000" y="374904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博報堂</a:t>
            </a:r>
            <a:endParaRPr lang="en-US" sz="1300" dirty="0"/>
          </a:p>
        </p:txBody>
      </p:sp>
      <p:sp>
        <p:nvSpPr>
          <p:cNvPr id="19" name="Shape 17"/>
          <p:cNvSpPr/>
          <p:nvPr/>
        </p:nvSpPr>
        <p:spPr>
          <a:xfrm>
            <a:off x="640080" y="4526280"/>
            <a:ext cx="2514600" cy="621792"/>
          </a:xfrm>
          <a:prstGeom prst="rect">
            <a:avLst/>
          </a:prstGeom>
          <a:solidFill>
            <a:srgbClr val="F5F5F5"/>
          </a:solidFill>
          <a:ln/>
        </p:spPr>
      </p:sp>
      <p:sp>
        <p:nvSpPr>
          <p:cNvPr id="20" name="Text 18"/>
          <p:cNvSpPr txBox="1"/>
          <p:nvPr/>
        </p:nvSpPr>
        <p:spPr>
          <a:xfrm>
            <a:off x="731520" y="452628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日本テレビ</a:t>
            </a:r>
            <a:endParaRPr lang="en-US" sz="1300" dirty="0"/>
          </a:p>
        </p:txBody>
      </p:sp>
      <p:sp>
        <p:nvSpPr>
          <p:cNvPr id="21" name="Shape 19"/>
          <p:cNvSpPr/>
          <p:nvPr/>
        </p:nvSpPr>
        <p:spPr>
          <a:xfrm>
            <a:off x="3337560" y="4526280"/>
            <a:ext cx="2514600" cy="621792"/>
          </a:xfrm>
          <a:prstGeom prst="rect">
            <a:avLst/>
          </a:prstGeom>
          <a:solidFill>
            <a:srgbClr val="F5F5F5"/>
          </a:solidFill>
          <a:ln/>
        </p:spPr>
      </p:sp>
      <p:sp>
        <p:nvSpPr>
          <p:cNvPr id="22" name="Text 20"/>
          <p:cNvSpPr txBox="1"/>
          <p:nvPr/>
        </p:nvSpPr>
        <p:spPr>
          <a:xfrm>
            <a:off x="3429000" y="4526280"/>
            <a:ext cx="2331720" cy="621792"/>
          </a:xfrm>
          <a:prstGeom prst="rect">
            <a:avLst/>
          </a:prstGeom>
          <a:noFill/>
          <a:ln/>
        </p:spPr>
        <p:txBody>
          <a:bodyPr wrap="square" lIns="0" tIns="0" rIns="0" bIns="0" rtlCol="0" anchor="ctr"/>
          <a:lstStyle/>
          <a:p>
            <a:pPr algn="ctr" indent="0" marL="0">
              <a:buNone/>
            </a:pPr>
            <a:r>
              <a:rPr lang="en-US" sz="1300" b="1" dirty="0">
                <a:solidFill>
                  <a:srgbClr val="3C3C3C"/>
                </a:solidFill>
                <a:latin typeface="Yu Gothic" pitchFamily="34" charset="0"/>
                <a:ea typeface="Yu Gothic" pitchFamily="34" charset="-122"/>
                <a:cs typeface="Yu Gothic" pitchFamily="34" charset="-120"/>
              </a:rPr>
              <a:t>WeWork</a:t>
            </a:r>
            <a:endParaRPr lang="en-US" sz="1300" dirty="0"/>
          </a:p>
        </p:txBody>
      </p:sp>
      <p:sp>
        <p:nvSpPr>
          <p:cNvPr id="23" name="Text 21"/>
          <p:cNvSpPr txBox="1"/>
          <p:nvPr/>
        </p:nvSpPr>
        <p:spPr>
          <a:xfrm>
            <a:off x="640080" y="5349240"/>
            <a:ext cx="2743200" cy="228600"/>
          </a:xfrm>
          <a:prstGeom prst="rect">
            <a:avLst/>
          </a:prstGeom>
          <a:noFill/>
          <a:ln/>
        </p:spPr>
        <p:txBody>
          <a:bodyPr wrap="square" lIns="0" tIns="0" rIns="0" bIns="0" rtlCol="0" anchor="t"/>
          <a:lstStyle/>
          <a:p>
            <a:pPr indent="0" marL="0">
              <a:buNone/>
            </a:pPr>
            <a:r>
              <a:rPr lang="en-US" sz="950" dirty="0">
                <a:solidFill>
                  <a:srgbClr val="9A9A9A"/>
                </a:solidFill>
                <a:latin typeface="Yu Gothic" pitchFamily="34" charset="0"/>
                <a:ea typeface="Yu Gothic" pitchFamily="34" charset="-122"/>
                <a:cs typeface="Yu Gothic" pitchFamily="34" charset="-120"/>
              </a:rPr>
              <a:t>順不同・敬称略</a:t>
            </a:r>
            <a:endParaRPr lang="en-US" sz="950" dirty="0"/>
          </a:p>
        </p:txBody>
      </p:sp>
      <p:sp>
        <p:nvSpPr>
          <p:cNvPr id="24" name="Text 22"/>
          <p:cNvSpPr txBox="1"/>
          <p:nvPr/>
        </p:nvSpPr>
        <p:spPr>
          <a:xfrm>
            <a:off x="6675120" y="1691640"/>
            <a:ext cx="4572000" cy="320040"/>
          </a:xfrm>
          <a:prstGeom prst="rect">
            <a:avLst/>
          </a:prstGeom>
          <a:noFill/>
          <a:ln/>
        </p:spPr>
        <p:txBody>
          <a:bodyPr wrap="square" lIns="0" tIns="0" rIns="0" bIns="0" rtlCol="0" anchor="t"/>
          <a:lstStyle/>
          <a:p>
            <a:pPr indent="0" marL="0">
              <a:buNone/>
            </a:pPr>
            <a:r>
              <a:rPr lang="en-US" sz="1500" b="1" dirty="0">
                <a:solidFill>
                  <a:srgbClr val="3C3C3C"/>
                </a:solidFill>
                <a:latin typeface="Yu Mincho" pitchFamily="34" charset="0"/>
                <a:ea typeface="Yu Mincho" pitchFamily="34" charset="-122"/>
                <a:cs typeface="Yu Mincho" pitchFamily="34" charset="-120"/>
              </a:rPr>
              <a:t>対応エリア</a:t>
            </a:r>
            <a:endParaRPr lang="en-US" sz="1500" dirty="0"/>
          </a:p>
        </p:txBody>
      </p:sp>
      <p:sp>
        <p:nvSpPr>
          <p:cNvPr id="25" name="Text 23"/>
          <p:cNvSpPr txBox="1"/>
          <p:nvPr/>
        </p:nvSpPr>
        <p:spPr>
          <a:xfrm>
            <a:off x="6675120" y="2103120"/>
            <a:ext cx="4846320" cy="1371600"/>
          </a:xfrm>
          <a:prstGeom prst="rect">
            <a:avLst/>
          </a:prstGeom>
          <a:noFill/>
          <a:ln/>
        </p:spPr>
        <p:txBody>
          <a:bodyPr wrap="square" lIns="0" tIns="0" rIns="0" bIns="0" rtlCol="0" anchor="ctr"/>
          <a:lstStyle/>
          <a:p>
            <a:pPr indent="0" marL="0">
              <a:buNone/>
            </a:pPr>
            <a:r>
              <a:rPr lang="en-US" sz="8800" b="1" dirty="0">
                <a:solidFill>
                  <a:srgbClr val="3C3C3C"/>
                </a:solidFill>
                <a:latin typeface="Yu Mincho" pitchFamily="34" charset="0"/>
                <a:ea typeface="Yu Mincho" pitchFamily="34" charset="-122"/>
                <a:cs typeface="Yu Mincho" pitchFamily="34" charset="-120"/>
              </a:rPr>
              <a:t>45</a:t>
            </a:r>
            <a:pPr indent="0" marL="0">
              <a:buNone/>
            </a:pPr>
            <a:r>
              <a:rPr lang="en-US" sz="2200" dirty="0">
                <a:solidFill>
                  <a:srgbClr val="3C3C3C"/>
                </a:solidFill>
                <a:latin typeface="Yu Mincho" pitchFamily="34" charset="0"/>
                <a:ea typeface="Yu Mincho" pitchFamily="34" charset="-122"/>
                <a:cs typeface="Yu Mincho" pitchFamily="34" charset="-120"/>
              </a:rPr>
              <a:t> 都府県</a:t>
            </a:r>
            <a:endParaRPr lang="en-US" sz="8800" dirty="0"/>
          </a:p>
        </p:txBody>
      </p:sp>
      <p:sp>
        <p:nvSpPr>
          <p:cNvPr id="26" name="Text 24"/>
          <p:cNvSpPr txBox="1"/>
          <p:nvPr/>
        </p:nvSpPr>
        <p:spPr>
          <a:xfrm>
            <a:off x="6675120" y="3566160"/>
            <a:ext cx="4846320" cy="411480"/>
          </a:xfrm>
          <a:prstGeom prst="rect">
            <a:avLst/>
          </a:prstGeom>
          <a:noFill/>
          <a:ln/>
        </p:spPr>
        <p:txBody>
          <a:bodyPr wrap="square" lIns="0" tIns="0" rIns="0" bIns="0" rtlCol="0" anchor="t"/>
          <a:lstStyle/>
          <a:p>
            <a:pPr indent="0" marL="0">
              <a:buNone/>
            </a:pPr>
            <a:r>
              <a:rPr lang="en-US" sz="1800" dirty="0">
                <a:solidFill>
                  <a:srgbClr val="3C3C3C"/>
                </a:solidFill>
                <a:latin typeface="Yu Mincho" pitchFamily="34" charset="0"/>
                <a:ea typeface="Yu Mincho" pitchFamily="34" charset="-122"/>
                <a:cs typeface="Yu Mincho" pitchFamily="34" charset="-120"/>
              </a:rPr>
              <a:t>大阪から、全国へ。</a:t>
            </a:r>
            <a:endParaRPr lang="en-US" sz="1800" dirty="0"/>
          </a:p>
        </p:txBody>
      </p:sp>
      <p:sp>
        <p:nvSpPr>
          <p:cNvPr id="27" name="Text 25"/>
          <p:cNvSpPr txBox="1"/>
          <p:nvPr/>
        </p:nvSpPr>
        <p:spPr>
          <a:xfrm>
            <a:off x="6675120" y="4069080"/>
            <a:ext cx="4846320" cy="1371600"/>
          </a:xfrm>
          <a:prstGeom prst="rect">
            <a:avLst/>
          </a:prstGeom>
          <a:noFill/>
          <a:ln/>
        </p:spPr>
        <p:txBody>
          <a:bodyPr wrap="square" lIns="0" tIns="0" rIns="0" bIns="0" rtlCol="0" anchor="t"/>
          <a:lstStyle/>
          <a:p>
            <a:pPr indent="0" marL="0">
              <a:lnSpc>
                <a:spcPct val="140000"/>
              </a:lnSpc>
              <a:buNone/>
            </a:pPr>
            <a:r>
              <a:rPr lang="en-US" sz="1250" dirty="0">
                <a:solidFill>
                  <a:srgbClr val="6E6E6E"/>
                </a:solidFill>
                <a:latin typeface="Yu Gothic" pitchFamily="34" charset="0"/>
                <a:ea typeface="Yu Gothic" pitchFamily="34" charset="-122"/>
                <a:cs typeface="Yu Gothic" pitchFamily="34" charset="-120"/>
              </a:rPr>
              <a:t>本社は大阪・南堀江。名古屋・九州・沖縄の営業所とともに、全国の家電量販店・携帯ショップ・商業施設での販売促進やイベント運営に対応しています（北海道・広島県を除く）。</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HISTORY</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沿革</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08</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pic>
        <p:nvPicPr>
          <p:cNvPr id="6" name="Image 0" descr="stripe.png">    </p:cNvPr>
          <p:cNvPicPr>
            <a:picLocks noChangeAspect="1"/>
          </p:cNvPicPr>
          <p:nvPr/>
        </p:nvPicPr>
        <p:blipFill>
          <a:blip r:embed="rId1"/>
          <a:srcRect l="0" r="0" t="0" b="0"/>
          <a:stretch/>
        </p:blipFill>
        <p:spPr>
          <a:xfrm>
            <a:off x="640080" y="3108960"/>
            <a:ext cx="10911535" cy="45720"/>
          </a:xfrm>
          <a:prstGeom prst="rect">
            <a:avLst/>
          </a:prstGeom>
        </p:spPr>
      </p:pic>
      <p:sp>
        <p:nvSpPr>
          <p:cNvPr id="7" name="Shape 4"/>
          <p:cNvSpPr/>
          <p:nvPr/>
        </p:nvSpPr>
        <p:spPr>
          <a:xfrm>
            <a:off x="658368" y="3040380"/>
            <a:ext cx="182880" cy="182880"/>
          </a:xfrm>
          <a:prstGeom prst="ellipse">
            <a:avLst/>
          </a:prstGeom>
          <a:solidFill>
            <a:srgbClr val="3C3C3C"/>
          </a:solidFill>
          <a:ln w="19050">
            <a:solidFill>
              <a:srgbClr val="FFFFFF"/>
            </a:solidFill>
            <a:prstDash val="solid"/>
          </a:ln>
        </p:spPr>
      </p:sp>
      <p:sp>
        <p:nvSpPr>
          <p:cNvPr id="8" name="Text 5"/>
          <p:cNvSpPr txBox="1"/>
          <p:nvPr/>
        </p:nvSpPr>
        <p:spPr>
          <a:xfrm>
            <a:off x="640080"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2017.06</a:t>
            </a:r>
            <a:endParaRPr lang="en-US" sz="1800" dirty="0"/>
          </a:p>
        </p:txBody>
      </p:sp>
      <p:sp>
        <p:nvSpPr>
          <p:cNvPr id="9" name="Text 6"/>
          <p:cNvSpPr txBox="1"/>
          <p:nvPr/>
        </p:nvSpPr>
        <p:spPr>
          <a:xfrm>
            <a:off x="640080"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株式会社DreamCreation 設立</a:t>
            </a:r>
            <a:endParaRPr lang="en-US" sz="1150" dirty="0"/>
          </a:p>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名古屋営業所・九州営業所 開設</a:t>
            </a:r>
            <a:endParaRPr lang="en-US" sz="1150" dirty="0"/>
          </a:p>
        </p:txBody>
      </p:sp>
      <p:sp>
        <p:nvSpPr>
          <p:cNvPr id="10" name="Shape 7"/>
          <p:cNvSpPr/>
          <p:nvPr/>
        </p:nvSpPr>
        <p:spPr>
          <a:xfrm>
            <a:off x="2217159" y="3040380"/>
            <a:ext cx="182880" cy="182880"/>
          </a:xfrm>
          <a:prstGeom prst="ellipse">
            <a:avLst/>
          </a:prstGeom>
          <a:solidFill>
            <a:srgbClr val="3C3C3C"/>
          </a:solidFill>
          <a:ln w="19050">
            <a:solidFill>
              <a:srgbClr val="FFFFFF"/>
            </a:solidFill>
            <a:prstDash val="solid"/>
          </a:ln>
        </p:spPr>
      </p:sp>
      <p:sp>
        <p:nvSpPr>
          <p:cNvPr id="11" name="Text 8"/>
          <p:cNvSpPr txBox="1"/>
          <p:nvPr/>
        </p:nvSpPr>
        <p:spPr>
          <a:xfrm>
            <a:off x="2198871"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2019.07</a:t>
            </a:r>
            <a:endParaRPr lang="en-US" sz="1800" dirty="0"/>
          </a:p>
        </p:txBody>
      </p:sp>
      <p:sp>
        <p:nvSpPr>
          <p:cNvPr id="12" name="Text 9"/>
          <p:cNvSpPr txBox="1"/>
          <p:nvPr/>
        </p:nvSpPr>
        <p:spPr>
          <a:xfrm>
            <a:off x="2198871"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日本テレビHRと業務提携</a:t>
            </a:r>
            <a:endParaRPr lang="en-US" sz="1150" dirty="0"/>
          </a:p>
        </p:txBody>
      </p:sp>
      <p:sp>
        <p:nvSpPr>
          <p:cNvPr id="13" name="Shape 10"/>
          <p:cNvSpPr/>
          <p:nvPr/>
        </p:nvSpPr>
        <p:spPr>
          <a:xfrm>
            <a:off x="3775949" y="3040380"/>
            <a:ext cx="182880" cy="182880"/>
          </a:xfrm>
          <a:prstGeom prst="ellipse">
            <a:avLst/>
          </a:prstGeom>
          <a:solidFill>
            <a:srgbClr val="3C3C3C"/>
          </a:solidFill>
          <a:ln w="19050">
            <a:solidFill>
              <a:srgbClr val="FFFFFF"/>
            </a:solidFill>
            <a:prstDash val="solid"/>
          </a:ln>
        </p:spPr>
      </p:sp>
      <p:sp>
        <p:nvSpPr>
          <p:cNvPr id="14" name="Text 11"/>
          <p:cNvSpPr txBox="1"/>
          <p:nvPr/>
        </p:nvSpPr>
        <p:spPr>
          <a:xfrm>
            <a:off x="3757661"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2019.08</a:t>
            </a:r>
            <a:endParaRPr lang="en-US" sz="1800" dirty="0"/>
          </a:p>
        </p:txBody>
      </p:sp>
      <p:sp>
        <p:nvSpPr>
          <p:cNvPr id="15" name="Text 12"/>
          <p:cNvSpPr txBox="1"/>
          <p:nvPr/>
        </p:nvSpPr>
        <p:spPr>
          <a:xfrm>
            <a:off x="3757661"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本社を難波 Namba Sky-O に移転</a:t>
            </a:r>
            <a:endParaRPr lang="en-US" sz="1150" dirty="0"/>
          </a:p>
        </p:txBody>
      </p:sp>
      <p:sp>
        <p:nvSpPr>
          <p:cNvPr id="16" name="Shape 13"/>
          <p:cNvSpPr/>
          <p:nvPr/>
        </p:nvSpPr>
        <p:spPr>
          <a:xfrm>
            <a:off x="5334740" y="3040380"/>
            <a:ext cx="182880" cy="182880"/>
          </a:xfrm>
          <a:prstGeom prst="ellipse">
            <a:avLst/>
          </a:prstGeom>
          <a:solidFill>
            <a:srgbClr val="3C3C3C"/>
          </a:solidFill>
          <a:ln w="19050">
            <a:solidFill>
              <a:srgbClr val="FFFFFF"/>
            </a:solidFill>
            <a:prstDash val="solid"/>
          </a:ln>
        </p:spPr>
      </p:sp>
      <p:sp>
        <p:nvSpPr>
          <p:cNvPr id="17" name="Text 14"/>
          <p:cNvSpPr txBox="1"/>
          <p:nvPr/>
        </p:nvSpPr>
        <p:spPr>
          <a:xfrm>
            <a:off x="5316452"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2019.11</a:t>
            </a:r>
            <a:endParaRPr lang="en-US" sz="1800" dirty="0"/>
          </a:p>
        </p:txBody>
      </p:sp>
      <p:sp>
        <p:nvSpPr>
          <p:cNvPr id="18" name="Text 15"/>
          <p:cNvSpPr txBox="1"/>
          <p:nvPr/>
        </p:nvSpPr>
        <p:spPr>
          <a:xfrm>
            <a:off x="5316452"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沖縄営業所 開設</a:t>
            </a:r>
            <a:endParaRPr lang="en-US" sz="1150" dirty="0"/>
          </a:p>
        </p:txBody>
      </p:sp>
      <p:sp>
        <p:nvSpPr>
          <p:cNvPr id="19" name="Shape 16"/>
          <p:cNvSpPr/>
          <p:nvPr/>
        </p:nvSpPr>
        <p:spPr>
          <a:xfrm>
            <a:off x="6893531" y="3040380"/>
            <a:ext cx="182880" cy="182880"/>
          </a:xfrm>
          <a:prstGeom prst="ellipse">
            <a:avLst/>
          </a:prstGeom>
          <a:solidFill>
            <a:srgbClr val="3C3C3C"/>
          </a:solidFill>
          <a:ln w="19050">
            <a:solidFill>
              <a:srgbClr val="FFFFFF"/>
            </a:solidFill>
            <a:prstDash val="solid"/>
          </a:ln>
        </p:spPr>
      </p:sp>
      <p:sp>
        <p:nvSpPr>
          <p:cNvPr id="20" name="Text 17"/>
          <p:cNvSpPr txBox="1"/>
          <p:nvPr/>
        </p:nvSpPr>
        <p:spPr>
          <a:xfrm>
            <a:off x="6875243"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2021.05</a:t>
            </a:r>
            <a:endParaRPr lang="en-US" sz="1800" dirty="0"/>
          </a:p>
        </p:txBody>
      </p:sp>
      <p:sp>
        <p:nvSpPr>
          <p:cNvPr id="21" name="Text 18"/>
          <p:cNvSpPr txBox="1"/>
          <p:nvPr/>
        </p:nvSpPr>
        <p:spPr>
          <a:xfrm>
            <a:off x="6875243"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資本金を1,200万円に増資</a:t>
            </a:r>
            <a:endParaRPr lang="en-US" sz="1150" dirty="0"/>
          </a:p>
        </p:txBody>
      </p:sp>
      <p:sp>
        <p:nvSpPr>
          <p:cNvPr id="22" name="Shape 19"/>
          <p:cNvSpPr/>
          <p:nvPr/>
        </p:nvSpPr>
        <p:spPr>
          <a:xfrm>
            <a:off x="8452322" y="3040380"/>
            <a:ext cx="182880" cy="182880"/>
          </a:xfrm>
          <a:prstGeom prst="ellipse">
            <a:avLst/>
          </a:prstGeom>
          <a:solidFill>
            <a:srgbClr val="3C3C3C"/>
          </a:solidFill>
          <a:ln w="19050">
            <a:solidFill>
              <a:srgbClr val="FFFFFF"/>
            </a:solidFill>
            <a:prstDash val="solid"/>
          </a:ln>
        </p:spPr>
      </p:sp>
      <p:sp>
        <p:nvSpPr>
          <p:cNvPr id="23" name="Text 20"/>
          <p:cNvSpPr txBox="1"/>
          <p:nvPr/>
        </p:nvSpPr>
        <p:spPr>
          <a:xfrm>
            <a:off x="8434034"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2022.03</a:t>
            </a:r>
            <a:endParaRPr lang="en-US" sz="1800" dirty="0"/>
          </a:p>
        </p:txBody>
      </p:sp>
      <p:sp>
        <p:nvSpPr>
          <p:cNvPr id="24" name="Text 21"/>
          <p:cNvSpPr txBox="1"/>
          <p:nvPr/>
        </p:nvSpPr>
        <p:spPr>
          <a:xfrm>
            <a:off x="8434034"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労働者派遣事業を開始</a:t>
            </a:r>
            <a:endParaRPr lang="en-US" sz="1150" dirty="0"/>
          </a:p>
        </p:txBody>
      </p:sp>
      <p:sp>
        <p:nvSpPr>
          <p:cNvPr id="25" name="Shape 22"/>
          <p:cNvSpPr/>
          <p:nvPr/>
        </p:nvSpPr>
        <p:spPr>
          <a:xfrm>
            <a:off x="10011112" y="3040380"/>
            <a:ext cx="182880" cy="182880"/>
          </a:xfrm>
          <a:prstGeom prst="ellipse">
            <a:avLst/>
          </a:prstGeom>
          <a:solidFill>
            <a:srgbClr val="3C3C3C"/>
          </a:solidFill>
          <a:ln w="19050">
            <a:solidFill>
              <a:srgbClr val="FFFFFF"/>
            </a:solidFill>
            <a:prstDash val="solid"/>
          </a:ln>
        </p:spPr>
      </p:sp>
      <p:sp>
        <p:nvSpPr>
          <p:cNvPr id="26" name="Text 23"/>
          <p:cNvSpPr txBox="1"/>
          <p:nvPr/>
        </p:nvSpPr>
        <p:spPr>
          <a:xfrm>
            <a:off x="9992824" y="2331720"/>
            <a:ext cx="1467351" cy="457200"/>
          </a:xfrm>
          <a:prstGeom prst="rect">
            <a:avLst/>
          </a:prstGeom>
          <a:noFill/>
          <a:ln/>
        </p:spPr>
        <p:txBody>
          <a:bodyPr wrap="square" lIns="0" tIns="0" rIns="0" bIns="0" rtlCol="0" anchor="t"/>
          <a:lstStyle/>
          <a:p>
            <a:pPr indent="0" marL="0">
              <a:buNone/>
            </a:pPr>
            <a:r>
              <a:rPr lang="en-US" sz="1800" b="1" dirty="0">
                <a:solidFill>
                  <a:srgbClr val="3C3C3C"/>
                </a:solidFill>
                <a:latin typeface="Yu Mincho" pitchFamily="34" charset="0"/>
                <a:ea typeface="Yu Mincho" pitchFamily="34" charset="-122"/>
                <a:cs typeface="Yu Mincho" pitchFamily="34" charset="-120"/>
              </a:rPr>
              <a:t>現在</a:t>
            </a:r>
            <a:endParaRPr lang="en-US" sz="1800" dirty="0"/>
          </a:p>
        </p:txBody>
      </p:sp>
      <p:sp>
        <p:nvSpPr>
          <p:cNvPr id="27" name="Text 24"/>
          <p:cNvSpPr txBox="1"/>
          <p:nvPr/>
        </p:nvSpPr>
        <p:spPr>
          <a:xfrm>
            <a:off x="9992824" y="3429000"/>
            <a:ext cx="1421631" cy="1463040"/>
          </a:xfrm>
          <a:prstGeom prst="rect">
            <a:avLst/>
          </a:prstGeom>
          <a:noFill/>
          <a:ln/>
        </p:spPr>
        <p:txBody>
          <a:bodyPr wrap="square" lIns="0" tIns="0" rIns="0" bIns="0" rtlCol="0" anchor="t"/>
          <a:lstStyle/>
          <a:p>
            <a:pPr indent="0" marL="0">
              <a:lnSpc>
                <a:spcPct val="135000"/>
              </a:lnSpc>
              <a:buNone/>
            </a:pPr>
            <a:r>
              <a:rPr lang="en-US" sz="1150" dirty="0">
                <a:solidFill>
                  <a:srgbClr val="6E6E6E"/>
                </a:solidFill>
                <a:latin typeface="Yu Gothic" pitchFamily="34" charset="0"/>
                <a:ea typeface="Yu Gothic" pitchFamily="34" charset="-122"/>
                <a:cs typeface="Yu Gothic" pitchFamily="34" charset="-120"/>
              </a:rPr>
              <a:t>本社を大阪市西区南堀江に移転</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CORPORATE DATA</a:t>
            </a:r>
            <a:endParaRPr lang="en-US" sz="11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2800" b="1" dirty="0">
                <a:solidFill>
                  <a:srgbClr val="3C3C3C"/>
                </a:solidFill>
                <a:latin typeface="Yu Mincho" pitchFamily="34" charset="0"/>
                <a:ea typeface="Yu Mincho" pitchFamily="34" charset="-122"/>
                <a:cs typeface="Yu Mincho" pitchFamily="34" charset="-120"/>
              </a:rPr>
              <a:t>会社概要</a:t>
            </a:r>
            <a:endParaRPr lang="en-US" sz="2800" dirty="0"/>
          </a:p>
        </p:txBody>
      </p:sp>
      <p:sp>
        <p:nvSpPr>
          <p:cNvPr id="4" name="Text 2"/>
          <p:cNvSpPr txBox="1"/>
          <p:nvPr/>
        </p:nvSpPr>
        <p:spPr>
          <a:xfrm>
            <a:off x="10637215" y="6355080"/>
            <a:ext cx="914400" cy="22860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09</a:t>
            </a:r>
            <a:endParaRPr lang="en-US" sz="1000" dirty="0"/>
          </a:p>
        </p:txBody>
      </p:sp>
      <p:sp>
        <p:nvSpPr>
          <p:cNvPr id="5" name="Text 3"/>
          <p:cNvSpPr txBox="1"/>
          <p:nvPr/>
        </p:nvSpPr>
        <p:spPr>
          <a:xfrm>
            <a:off x="640080" y="6355080"/>
            <a:ext cx="2743200" cy="228600"/>
          </a:xfrm>
          <a:prstGeom prst="rect">
            <a:avLst/>
          </a:prstGeom>
          <a:noFill/>
          <a:ln/>
        </p:spPr>
        <p:txBody>
          <a:bodyPr wrap="square" lIns="0" tIns="0" rIns="0" bIns="0" rtlCol="0" anchor="t"/>
          <a:lstStyle/>
          <a:p>
            <a:pPr indent="0" marL="0">
              <a:buNone/>
            </a:pPr>
            <a:r>
              <a:rPr lang="en-US" sz="1000" b="1" dirty="0">
                <a:solidFill>
                  <a:srgbClr val="9A9A9A"/>
                </a:solidFill>
                <a:latin typeface="Yu Gothic" pitchFamily="34" charset="0"/>
                <a:ea typeface="Yu Gothic" pitchFamily="34" charset="-122"/>
                <a:cs typeface="Yu Gothic" pitchFamily="34" charset="-120"/>
              </a:rPr>
              <a:t>DreamCreation</a:t>
            </a:r>
            <a:endParaRPr lang="en-US" sz="1000" dirty="0"/>
          </a:p>
        </p:txBody>
      </p:sp>
      <p:sp>
        <p:nvSpPr>
          <p:cNvPr id="6" name="Text 4"/>
          <p:cNvSpPr txBox="1"/>
          <p:nvPr/>
        </p:nvSpPr>
        <p:spPr>
          <a:xfrm>
            <a:off x="640080" y="1737360"/>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社名</a:t>
            </a:r>
            <a:endParaRPr lang="en-US" sz="1200" dirty="0"/>
          </a:p>
        </p:txBody>
      </p:sp>
      <p:sp>
        <p:nvSpPr>
          <p:cNvPr id="7" name="Text 5"/>
          <p:cNvSpPr txBox="1"/>
          <p:nvPr/>
        </p:nvSpPr>
        <p:spPr>
          <a:xfrm>
            <a:off x="2011680" y="1737360"/>
            <a:ext cx="5120640" cy="402336"/>
          </a:xfrm>
          <a:prstGeom prst="rect">
            <a:avLst/>
          </a:prstGeom>
          <a:noFill/>
          <a:ln/>
        </p:spPr>
        <p:txBody>
          <a:bodyPr wrap="square" lIns="0" tIns="0" rIns="0" bIns="0" rtlCol="0" anchor="ctr"/>
          <a:lstStyle/>
          <a:p>
            <a:pPr indent="0" marL="0">
              <a:buNone/>
            </a:pPr>
            <a:r>
              <a:rPr lang="en-US" sz="1250" dirty="0">
                <a:solidFill>
                  <a:srgbClr val="3C3C3C"/>
                </a:solidFill>
                <a:latin typeface="Yu Gothic" pitchFamily="34" charset="0"/>
                <a:ea typeface="Yu Gothic" pitchFamily="34" charset="-122"/>
                <a:cs typeface="Yu Gothic" pitchFamily="34" charset="-120"/>
              </a:rPr>
              <a:t>株式会社DreamCreation</a:t>
            </a:r>
            <a:endParaRPr lang="en-US" sz="1250" dirty="0"/>
          </a:p>
        </p:txBody>
      </p:sp>
      <p:sp>
        <p:nvSpPr>
          <p:cNvPr id="8" name="Shape 6"/>
          <p:cNvSpPr/>
          <p:nvPr/>
        </p:nvSpPr>
        <p:spPr>
          <a:xfrm>
            <a:off x="640080" y="2176272"/>
            <a:ext cx="6492240" cy="0"/>
          </a:xfrm>
          <a:prstGeom prst="line">
            <a:avLst/>
          </a:prstGeom>
          <a:noFill/>
          <a:ln w="9525">
            <a:solidFill>
              <a:srgbClr val="D9D9D9"/>
            </a:solidFill>
            <a:prstDash val="solid"/>
          </a:ln>
        </p:spPr>
      </p:sp>
      <p:sp>
        <p:nvSpPr>
          <p:cNvPr id="9" name="Text 7"/>
          <p:cNvSpPr txBox="1"/>
          <p:nvPr/>
        </p:nvSpPr>
        <p:spPr>
          <a:xfrm>
            <a:off x="640080" y="2267712"/>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所在地</a:t>
            </a:r>
            <a:endParaRPr lang="en-US" sz="1200" dirty="0"/>
          </a:p>
        </p:txBody>
      </p:sp>
      <p:sp>
        <p:nvSpPr>
          <p:cNvPr id="10" name="Text 8"/>
          <p:cNvSpPr txBox="1"/>
          <p:nvPr/>
        </p:nvSpPr>
        <p:spPr>
          <a:xfrm>
            <a:off x="2011680" y="2267712"/>
            <a:ext cx="5120640" cy="402336"/>
          </a:xfrm>
          <a:prstGeom prst="rect">
            <a:avLst/>
          </a:prstGeom>
          <a:noFill/>
          <a:ln/>
        </p:spPr>
        <p:txBody>
          <a:bodyPr wrap="square" lIns="0" tIns="0" rIns="0" bIns="0" rtlCol="0" anchor="ctr"/>
          <a:lstStyle/>
          <a:p>
            <a:pPr indent="0" marL="0">
              <a:buNone/>
            </a:pPr>
            <a:r>
              <a:rPr lang="en-US" sz="1150" dirty="0">
                <a:solidFill>
                  <a:srgbClr val="3C3C3C"/>
                </a:solidFill>
                <a:latin typeface="Yu Gothic" pitchFamily="34" charset="0"/>
                <a:ea typeface="Yu Gothic" pitchFamily="34" charset="-122"/>
                <a:cs typeface="Yu Gothic" pitchFamily="34" charset="-120"/>
              </a:rPr>
              <a:t>〒550-0015 大阪府大阪市西区南堀江1-10-1 KT堀江801号室</a:t>
            </a:r>
            <a:endParaRPr lang="en-US" sz="1150" dirty="0"/>
          </a:p>
        </p:txBody>
      </p:sp>
      <p:sp>
        <p:nvSpPr>
          <p:cNvPr id="11" name="Shape 9"/>
          <p:cNvSpPr/>
          <p:nvPr/>
        </p:nvSpPr>
        <p:spPr>
          <a:xfrm>
            <a:off x="640080" y="2706624"/>
            <a:ext cx="6492240" cy="0"/>
          </a:xfrm>
          <a:prstGeom prst="line">
            <a:avLst/>
          </a:prstGeom>
          <a:noFill/>
          <a:ln w="9525">
            <a:solidFill>
              <a:srgbClr val="D9D9D9"/>
            </a:solidFill>
            <a:prstDash val="solid"/>
          </a:ln>
        </p:spPr>
      </p:sp>
      <p:sp>
        <p:nvSpPr>
          <p:cNvPr id="12" name="Text 10"/>
          <p:cNvSpPr txBox="1"/>
          <p:nvPr/>
        </p:nvSpPr>
        <p:spPr>
          <a:xfrm>
            <a:off x="640080" y="2798064"/>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代表者</a:t>
            </a:r>
            <a:endParaRPr lang="en-US" sz="1200" dirty="0"/>
          </a:p>
        </p:txBody>
      </p:sp>
      <p:sp>
        <p:nvSpPr>
          <p:cNvPr id="13" name="Text 11"/>
          <p:cNvSpPr txBox="1"/>
          <p:nvPr/>
        </p:nvSpPr>
        <p:spPr>
          <a:xfrm>
            <a:off x="2011680" y="2798064"/>
            <a:ext cx="5120640" cy="402336"/>
          </a:xfrm>
          <a:prstGeom prst="rect">
            <a:avLst/>
          </a:prstGeom>
          <a:noFill/>
          <a:ln/>
        </p:spPr>
        <p:txBody>
          <a:bodyPr wrap="square" lIns="0" tIns="0" rIns="0" bIns="0" rtlCol="0" anchor="ctr"/>
          <a:lstStyle/>
          <a:p>
            <a:pPr indent="0" marL="0">
              <a:buNone/>
            </a:pPr>
            <a:r>
              <a:rPr lang="en-US" sz="1250" dirty="0">
                <a:solidFill>
                  <a:srgbClr val="3C3C3C"/>
                </a:solidFill>
                <a:latin typeface="Yu Gothic" pitchFamily="34" charset="0"/>
                <a:ea typeface="Yu Gothic" pitchFamily="34" charset="-122"/>
                <a:cs typeface="Yu Gothic" pitchFamily="34" charset="-120"/>
              </a:rPr>
              <a:t>代表取締役　竹村 英哲</a:t>
            </a:r>
            <a:endParaRPr lang="en-US" sz="1250" dirty="0"/>
          </a:p>
        </p:txBody>
      </p:sp>
      <p:sp>
        <p:nvSpPr>
          <p:cNvPr id="14" name="Shape 12"/>
          <p:cNvSpPr/>
          <p:nvPr/>
        </p:nvSpPr>
        <p:spPr>
          <a:xfrm>
            <a:off x="640080" y="3236976"/>
            <a:ext cx="6492240" cy="0"/>
          </a:xfrm>
          <a:prstGeom prst="line">
            <a:avLst/>
          </a:prstGeom>
          <a:noFill/>
          <a:ln w="9525">
            <a:solidFill>
              <a:srgbClr val="D9D9D9"/>
            </a:solidFill>
            <a:prstDash val="solid"/>
          </a:ln>
        </p:spPr>
      </p:sp>
      <p:sp>
        <p:nvSpPr>
          <p:cNvPr id="15" name="Text 13"/>
          <p:cNvSpPr txBox="1"/>
          <p:nvPr/>
        </p:nvSpPr>
        <p:spPr>
          <a:xfrm>
            <a:off x="640080" y="3328416"/>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設立</a:t>
            </a:r>
            <a:endParaRPr lang="en-US" sz="1200" dirty="0"/>
          </a:p>
        </p:txBody>
      </p:sp>
      <p:sp>
        <p:nvSpPr>
          <p:cNvPr id="16" name="Text 14"/>
          <p:cNvSpPr txBox="1"/>
          <p:nvPr/>
        </p:nvSpPr>
        <p:spPr>
          <a:xfrm>
            <a:off x="2011680" y="3328416"/>
            <a:ext cx="5120640" cy="402336"/>
          </a:xfrm>
          <a:prstGeom prst="rect">
            <a:avLst/>
          </a:prstGeom>
          <a:noFill/>
          <a:ln/>
        </p:spPr>
        <p:txBody>
          <a:bodyPr wrap="square" lIns="0" tIns="0" rIns="0" bIns="0" rtlCol="0" anchor="ctr"/>
          <a:lstStyle/>
          <a:p>
            <a:pPr indent="0" marL="0">
              <a:buNone/>
            </a:pPr>
            <a:r>
              <a:rPr lang="en-US" sz="1250" dirty="0">
                <a:solidFill>
                  <a:srgbClr val="3C3C3C"/>
                </a:solidFill>
                <a:latin typeface="Yu Gothic" pitchFamily="34" charset="0"/>
                <a:ea typeface="Yu Gothic" pitchFamily="34" charset="-122"/>
                <a:cs typeface="Yu Gothic" pitchFamily="34" charset="-120"/>
              </a:rPr>
              <a:t>2017年6月27日</a:t>
            </a:r>
            <a:endParaRPr lang="en-US" sz="1250" dirty="0"/>
          </a:p>
        </p:txBody>
      </p:sp>
      <p:sp>
        <p:nvSpPr>
          <p:cNvPr id="17" name="Shape 15"/>
          <p:cNvSpPr/>
          <p:nvPr/>
        </p:nvSpPr>
        <p:spPr>
          <a:xfrm>
            <a:off x="640080" y="3767328"/>
            <a:ext cx="6492240" cy="0"/>
          </a:xfrm>
          <a:prstGeom prst="line">
            <a:avLst/>
          </a:prstGeom>
          <a:noFill/>
          <a:ln w="9525">
            <a:solidFill>
              <a:srgbClr val="D9D9D9"/>
            </a:solidFill>
            <a:prstDash val="solid"/>
          </a:ln>
        </p:spPr>
      </p:sp>
      <p:sp>
        <p:nvSpPr>
          <p:cNvPr id="18" name="Text 16"/>
          <p:cNvSpPr txBox="1"/>
          <p:nvPr/>
        </p:nvSpPr>
        <p:spPr>
          <a:xfrm>
            <a:off x="640080" y="3858768"/>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資本金</a:t>
            </a:r>
            <a:endParaRPr lang="en-US" sz="1200" dirty="0"/>
          </a:p>
        </p:txBody>
      </p:sp>
      <p:sp>
        <p:nvSpPr>
          <p:cNvPr id="19" name="Text 17"/>
          <p:cNvSpPr txBox="1"/>
          <p:nvPr/>
        </p:nvSpPr>
        <p:spPr>
          <a:xfrm>
            <a:off x="2011680" y="3858768"/>
            <a:ext cx="5120640" cy="402336"/>
          </a:xfrm>
          <a:prstGeom prst="rect">
            <a:avLst/>
          </a:prstGeom>
          <a:noFill/>
          <a:ln/>
        </p:spPr>
        <p:txBody>
          <a:bodyPr wrap="square" lIns="0" tIns="0" rIns="0" bIns="0" rtlCol="0" anchor="ctr"/>
          <a:lstStyle/>
          <a:p>
            <a:pPr indent="0" marL="0">
              <a:buNone/>
            </a:pPr>
            <a:r>
              <a:rPr lang="en-US" sz="1250" dirty="0">
                <a:solidFill>
                  <a:srgbClr val="3C3C3C"/>
                </a:solidFill>
                <a:latin typeface="Yu Gothic" pitchFamily="34" charset="0"/>
                <a:ea typeface="Yu Gothic" pitchFamily="34" charset="-122"/>
                <a:cs typeface="Yu Gothic" pitchFamily="34" charset="-120"/>
              </a:rPr>
              <a:t>1,200万円</a:t>
            </a:r>
            <a:endParaRPr lang="en-US" sz="1250" dirty="0"/>
          </a:p>
        </p:txBody>
      </p:sp>
      <p:sp>
        <p:nvSpPr>
          <p:cNvPr id="20" name="Shape 18"/>
          <p:cNvSpPr/>
          <p:nvPr/>
        </p:nvSpPr>
        <p:spPr>
          <a:xfrm>
            <a:off x="640080" y="4297680"/>
            <a:ext cx="6492240" cy="0"/>
          </a:xfrm>
          <a:prstGeom prst="line">
            <a:avLst/>
          </a:prstGeom>
          <a:noFill/>
          <a:ln w="9525">
            <a:solidFill>
              <a:srgbClr val="D9D9D9"/>
            </a:solidFill>
            <a:prstDash val="solid"/>
          </a:ln>
        </p:spPr>
      </p:sp>
      <p:sp>
        <p:nvSpPr>
          <p:cNvPr id="21" name="Text 19"/>
          <p:cNvSpPr txBox="1"/>
          <p:nvPr/>
        </p:nvSpPr>
        <p:spPr>
          <a:xfrm>
            <a:off x="640080" y="4389120"/>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事業内容</a:t>
            </a:r>
            <a:endParaRPr lang="en-US" sz="1200" dirty="0"/>
          </a:p>
        </p:txBody>
      </p:sp>
      <p:sp>
        <p:nvSpPr>
          <p:cNvPr id="22" name="Text 20"/>
          <p:cNvSpPr txBox="1"/>
          <p:nvPr/>
        </p:nvSpPr>
        <p:spPr>
          <a:xfrm>
            <a:off x="2011680" y="4389120"/>
            <a:ext cx="5120640" cy="402336"/>
          </a:xfrm>
          <a:prstGeom prst="rect">
            <a:avLst/>
          </a:prstGeom>
          <a:noFill/>
          <a:ln/>
        </p:spPr>
        <p:txBody>
          <a:bodyPr wrap="square" lIns="0" tIns="0" rIns="0" bIns="0" rtlCol="0" anchor="ctr"/>
          <a:lstStyle/>
          <a:p>
            <a:pPr indent="0" marL="0">
              <a:buNone/>
            </a:pPr>
            <a:r>
              <a:rPr lang="en-US" sz="1150" dirty="0">
                <a:solidFill>
                  <a:srgbClr val="3C3C3C"/>
                </a:solidFill>
                <a:latin typeface="Yu Gothic" pitchFamily="34" charset="0"/>
                <a:ea typeface="Yu Gothic" pitchFamily="34" charset="-122"/>
                <a:cs typeface="Yu Gothic" pitchFamily="34" charset="-120"/>
              </a:rPr>
              <a:t>セールスプロモーション／イベントの企画・運営／代理店事業／労働者派遣事業</a:t>
            </a:r>
            <a:endParaRPr lang="en-US" sz="1150" dirty="0"/>
          </a:p>
        </p:txBody>
      </p:sp>
      <p:sp>
        <p:nvSpPr>
          <p:cNvPr id="23" name="Shape 21"/>
          <p:cNvSpPr/>
          <p:nvPr/>
        </p:nvSpPr>
        <p:spPr>
          <a:xfrm>
            <a:off x="640080" y="4828032"/>
            <a:ext cx="6492240" cy="0"/>
          </a:xfrm>
          <a:prstGeom prst="line">
            <a:avLst/>
          </a:prstGeom>
          <a:noFill/>
          <a:ln w="9525">
            <a:solidFill>
              <a:srgbClr val="D9D9D9"/>
            </a:solidFill>
            <a:prstDash val="solid"/>
          </a:ln>
        </p:spPr>
      </p:sp>
      <p:sp>
        <p:nvSpPr>
          <p:cNvPr id="24" name="Text 22"/>
          <p:cNvSpPr txBox="1"/>
          <p:nvPr/>
        </p:nvSpPr>
        <p:spPr>
          <a:xfrm>
            <a:off x="640080" y="4919472"/>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TEL</a:t>
            </a:r>
            <a:endParaRPr lang="en-US" sz="1200" dirty="0"/>
          </a:p>
        </p:txBody>
      </p:sp>
      <p:sp>
        <p:nvSpPr>
          <p:cNvPr id="25" name="Text 23"/>
          <p:cNvSpPr txBox="1"/>
          <p:nvPr/>
        </p:nvSpPr>
        <p:spPr>
          <a:xfrm>
            <a:off x="2011680" y="4919472"/>
            <a:ext cx="5120640" cy="402336"/>
          </a:xfrm>
          <a:prstGeom prst="rect">
            <a:avLst/>
          </a:prstGeom>
          <a:noFill/>
          <a:ln/>
        </p:spPr>
        <p:txBody>
          <a:bodyPr wrap="square" lIns="0" tIns="0" rIns="0" bIns="0" rtlCol="0" anchor="ctr"/>
          <a:lstStyle/>
          <a:p>
            <a:pPr indent="0" marL="0">
              <a:buNone/>
            </a:pPr>
            <a:r>
              <a:rPr lang="en-US" sz="1250" dirty="0">
                <a:solidFill>
                  <a:srgbClr val="3C3C3C"/>
                </a:solidFill>
                <a:latin typeface="Yu Gothic" pitchFamily="34" charset="0"/>
                <a:ea typeface="Yu Gothic" pitchFamily="34" charset="-122"/>
                <a:cs typeface="Yu Gothic" pitchFamily="34" charset="-120"/>
              </a:rPr>
              <a:t>06-4967-1038</a:t>
            </a:r>
            <a:endParaRPr lang="en-US" sz="1250" dirty="0"/>
          </a:p>
        </p:txBody>
      </p:sp>
      <p:sp>
        <p:nvSpPr>
          <p:cNvPr id="26" name="Shape 24"/>
          <p:cNvSpPr/>
          <p:nvPr/>
        </p:nvSpPr>
        <p:spPr>
          <a:xfrm>
            <a:off x="640080" y="5358384"/>
            <a:ext cx="6492240" cy="0"/>
          </a:xfrm>
          <a:prstGeom prst="line">
            <a:avLst/>
          </a:prstGeom>
          <a:noFill/>
          <a:ln w="9525">
            <a:solidFill>
              <a:srgbClr val="D9D9D9"/>
            </a:solidFill>
            <a:prstDash val="solid"/>
          </a:ln>
        </p:spPr>
      </p:sp>
      <p:sp>
        <p:nvSpPr>
          <p:cNvPr id="27" name="Text 25"/>
          <p:cNvSpPr txBox="1"/>
          <p:nvPr/>
        </p:nvSpPr>
        <p:spPr>
          <a:xfrm>
            <a:off x="640080" y="5449824"/>
            <a:ext cx="1280160" cy="365760"/>
          </a:xfrm>
          <a:prstGeom prst="rect">
            <a:avLst/>
          </a:prstGeom>
          <a:noFill/>
          <a:ln/>
        </p:spPr>
        <p:txBody>
          <a:bodyPr wrap="square" lIns="0" tIns="0" rIns="0" bIns="0" rtlCol="0" anchor="ctr"/>
          <a:lstStyle/>
          <a:p>
            <a:pPr indent="0" marL="0">
              <a:buNone/>
            </a:pPr>
            <a:r>
              <a:rPr lang="en-US" sz="1200" b="1" dirty="0">
                <a:solidFill>
                  <a:srgbClr val="9A9A9A"/>
                </a:solidFill>
                <a:latin typeface="Yu Gothic" pitchFamily="34" charset="0"/>
                <a:ea typeface="Yu Gothic" pitchFamily="34" charset="-122"/>
                <a:cs typeface="Yu Gothic" pitchFamily="34" charset="-120"/>
              </a:rPr>
              <a:t>MAIL</a:t>
            </a:r>
            <a:endParaRPr lang="en-US" sz="1200" dirty="0"/>
          </a:p>
        </p:txBody>
      </p:sp>
      <p:sp>
        <p:nvSpPr>
          <p:cNvPr id="28" name="Text 26"/>
          <p:cNvSpPr txBox="1"/>
          <p:nvPr/>
        </p:nvSpPr>
        <p:spPr>
          <a:xfrm>
            <a:off x="2011680" y="5449824"/>
            <a:ext cx="5120640" cy="402336"/>
          </a:xfrm>
          <a:prstGeom prst="rect">
            <a:avLst/>
          </a:prstGeom>
          <a:noFill/>
          <a:ln/>
        </p:spPr>
        <p:txBody>
          <a:bodyPr wrap="square" lIns="0" tIns="0" rIns="0" bIns="0" rtlCol="0" anchor="ctr"/>
          <a:lstStyle/>
          <a:p>
            <a:pPr indent="0" marL="0">
              <a:buNone/>
            </a:pPr>
            <a:r>
              <a:rPr lang="en-US" sz="1250" dirty="0">
                <a:solidFill>
                  <a:srgbClr val="3C3C3C"/>
                </a:solidFill>
                <a:latin typeface="Yu Gothic" pitchFamily="34" charset="0"/>
                <a:ea typeface="Yu Gothic" pitchFamily="34" charset="-122"/>
                <a:cs typeface="Yu Gothic" pitchFamily="34" charset="-120"/>
              </a:rPr>
              <a:t>data@d-creation-o.com</a:t>
            </a:r>
            <a:endParaRPr lang="en-US" sz="1250" dirty="0"/>
          </a:p>
        </p:txBody>
      </p:sp>
      <p:sp>
        <p:nvSpPr>
          <p:cNvPr id="29" name="Shape 27"/>
          <p:cNvSpPr/>
          <p:nvPr/>
        </p:nvSpPr>
        <p:spPr>
          <a:xfrm>
            <a:off x="640080" y="5888736"/>
            <a:ext cx="6492240" cy="0"/>
          </a:xfrm>
          <a:prstGeom prst="line">
            <a:avLst/>
          </a:prstGeom>
          <a:noFill/>
          <a:ln w="9525">
            <a:solidFill>
              <a:srgbClr val="D9D9D9"/>
            </a:solidFill>
            <a:prstDash val="solid"/>
          </a:ln>
        </p:spPr>
      </p:sp>
      <p:sp>
        <p:nvSpPr>
          <p:cNvPr id="30" name="Text 28"/>
          <p:cNvSpPr txBox="1"/>
          <p:nvPr/>
        </p:nvSpPr>
        <p:spPr>
          <a:xfrm>
            <a:off x="7772400" y="1737360"/>
            <a:ext cx="3779215" cy="320040"/>
          </a:xfrm>
          <a:prstGeom prst="rect">
            <a:avLst/>
          </a:prstGeom>
          <a:noFill/>
          <a:ln/>
        </p:spPr>
        <p:txBody>
          <a:bodyPr wrap="square" lIns="0" tIns="0" rIns="0" bIns="0" rtlCol="0" anchor="t"/>
          <a:lstStyle/>
          <a:p>
            <a:pPr indent="0" marL="0">
              <a:buNone/>
            </a:pPr>
            <a:r>
              <a:rPr lang="en-US" sz="1500" b="1" dirty="0">
                <a:solidFill>
                  <a:srgbClr val="3C3C3C"/>
                </a:solidFill>
                <a:latin typeface="Yu Mincho" pitchFamily="34" charset="0"/>
                <a:ea typeface="Yu Mincho" pitchFamily="34" charset="-122"/>
                <a:cs typeface="Yu Mincho" pitchFamily="34" charset="-120"/>
              </a:rPr>
              <a:t>許認可・認証</a:t>
            </a:r>
            <a:endParaRPr lang="en-US" sz="1500" dirty="0"/>
          </a:p>
        </p:txBody>
      </p:sp>
      <p:sp>
        <p:nvSpPr>
          <p:cNvPr id="31" name="Shape 29"/>
          <p:cNvSpPr/>
          <p:nvPr/>
        </p:nvSpPr>
        <p:spPr>
          <a:xfrm>
            <a:off x="7772400" y="2194560"/>
            <a:ext cx="3779215" cy="731520"/>
          </a:xfrm>
          <a:prstGeom prst="rect">
            <a:avLst/>
          </a:prstGeom>
          <a:solidFill>
            <a:srgbClr val="F5F5F5"/>
          </a:solidFill>
          <a:ln/>
        </p:spPr>
      </p:sp>
      <p:sp>
        <p:nvSpPr>
          <p:cNvPr id="32" name="Text 30"/>
          <p:cNvSpPr txBox="1"/>
          <p:nvPr/>
        </p:nvSpPr>
        <p:spPr>
          <a:xfrm>
            <a:off x="7955280" y="2304288"/>
            <a:ext cx="3413455" cy="274320"/>
          </a:xfrm>
          <a:prstGeom prst="rect">
            <a:avLst/>
          </a:prstGeom>
          <a:noFill/>
          <a:ln/>
        </p:spPr>
        <p:txBody>
          <a:bodyPr wrap="square" lIns="0" tIns="0" rIns="0" bIns="0" rtlCol="0" anchor="t"/>
          <a:lstStyle/>
          <a:p>
            <a:pPr indent="0" marL="0">
              <a:buNone/>
            </a:pPr>
            <a:r>
              <a:rPr lang="en-US" sz="1250" b="1" dirty="0">
                <a:solidFill>
                  <a:srgbClr val="3C3C3C"/>
                </a:solidFill>
                <a:latin typeface="Yu Gothic" pitchFamily="34" charset="0"/>
                <a:ea typeface="Yu Gothic" pitchFamily="34" charset="-122"/>
                <a:cs typeface="Yu Gothic" pitchFamily="34" charset="-120"/>
              </a:rPr>
              <a:t>プライバシーマーク</a:t>
            </a:r>
            <a:endParaRPr lang="en-US" sz="1250" dirty="0"/>
          </a:p>
        </p:txBody>
      </p:sp>
      <p:sp>
        <p:nvSpPr>
          <p:cNvPr id="33" name="Text 31"/>
          <p:cNvSpPr txBox="1"/>
          <p:nvPr/>
        </p:nvSpPr>
        <p:spPr>
          <a:xfrm>
            <a:off x="7955280" y="2596896"/>
            <a:ext cx="3413455" cy="256032"/>
          </a:xfrm>
          <a:prstGeom prst="rect">
            <a:avLst/>
          </a:prstGeom>
          <a:noFill/>
          <a:ln/>
        </p:spPr>
        <p:txBody>
          <a:bodyPr wrap="square" lIns="0" tIns="0" rIns="0" bIns="0" rtlCol="0" anchor="t"/>
          <a:lstStyle/>
          <a:p>
            <a:pPr indent="0" marL="0">
              <a:buNone/>
            </a:pPr>
            <a:r>
              <a:rPr lang="en-US" sz="1050" dirty="0">
                <a:solidFill>
                  <a:srgbClr val="6E6E6E"/>
                </a:solidFill>
                <a:latin typeface="Yu Gothic" pitchFamily="34" charset="0"/>
                <a:ea typeface="Yu Gothic" pitchFamily="34" charset="-122"/>
                <a:cs typeface="Yu Gothic" pitchFamily="34" charset="-120"/>
              </a:rPr>
              <a:t>登録番号　17004884</a:t>
            </a:r>
            <a:endParaRPr lang="en-US" sz="1050" dirty="0"/>
          </a:p>
        </p:txBody>
      </p:sp>
      <p:sp>
        <p:nvSpPr>
          <p:cNvPr id="34" name="Shape 32"/>
          <p:cNvSpPr/>
          <p:nvPr/>
        </p:nvSpPr>
        <p:spPr>
          <a:xfrm>
            <a:off x="7772400" y="3063240"/>
            <a:ext cx="3779215" cy="731520"/>
          </a:xfrm>
          <a:prstGeom prst="rect">
            <a:avLst/>
          </a:prstGeom>
          <a:solidFill>
            <a:srgbClr val="F5F5F5"/>
          </a:solidFill>
          <a:ln/>
        </p:spPr>
      </p:sp>
      <p:sp>
        <p:nvSpPr>
          <p:cNvPr id="35" name="Text 33"/>
          <p:cNvSpPr txBox="1"/>
          <p:nvPr/>
        </p:nvSpPr>
        <p:spPr>
          <a:xfrm>
            <a:off x="7955280" y="3172968"/>
            <a:ext cx="3413455" cy="274320"/>
          </a:xfrm>
          <a:prstGeom prst="rect">
            <a:avLst/>
          </a:prstGeom>
          <a:noFill/>
          <a:ln/>
        </p:spPr>
        <p:txBody>
          <a:bodyPr wrap="square" lIns="0" tIns="0" rIns="0" bIns="0" rtlCol="0" anchor="t"/>
          <a:lstStyle/>
          <a:p>
            <a:pPr indent="0" marL="0">
              <a:buNone/>
            </a:pPr>
            <a:r>
              <a:rPr lang="en-US" sz="1250" b="1" dirty="0">
                <a:solidFill>
                  <a:srgbClr val="3C3C3C"/>
                </a:solidFill>
                <a:latin typeface="Yu Gothic" pitchFamily="34" charset="0"/>
                <a:ea typeface="Yu Gothic" pitchFamily="34" charset="-122"/>
                <a:cs typeface="Yu Gothic" pitchFamily="34" charset="-120"/>
              </a:rPr>
              <a:t>労働者派遣事業許可</a:t>
            </a:r>
            <a:endParaRPr lang="en-US" sz="1250" dirty="0"/>
          </a:p>
        </p:txBody>
      </p:sp>
      <p:sp>
        <p:nvSpPr>
          <p:cNvPr id="36" name="Text 34"/>
          <p:cNvSpPr txBox="1"/>
          <p:nvPr/>
        </p:nvSpPr>
        <p:spPr>
          <a:xfrm>
            <a:off x="7955280" y="3465576"/>
            <a:ext cx="3413455" cy="256032"/>
          </a:xfrm>
          <a:prstGeom prst="rect">
            <a:avLst/>
          </a:prstGeom>
          <a:noFill/>
          <a:ln/>
        </p:spPr>
        <p:txBody>
          <a:bodyPr wrap="square" lIns="0" tIns="0" rIns="0" bIns="0" rtlCol="0" anchor="t"/>
          <a:lstStyle/>
          <a:p>
            <a:pPr indent="0" marL="0">
              <a:buNone/>
            </a:pPr>
            <a:r>
              <a:rPr lang="en-US" sz="1050" dirty="0">
                <a:solidFill>
                  <a:srgbClr val="6E6E6E"/>
                </a:solidFill>
                <a:latin typeface="Yu Gothic" pitchFamily="34" charset="0"/>
                <a:ea typeface="Yu Gothic" pitchFamily="34" charset="-122"/>
                <a:cs typeface="Yu Gothic" pitchFamily="34" charset="-120"/>
              </a:rPr>
              <a:t>許可番号　派27-304911</a:t>
            </a:r>
            <a:endParaRPr lang="en-US" sz="1050" dirty="0"/>
          </a:p>
        </p:txBody>
      </p:sp>
      <p:sp>
        <p:nvSpPr>
          <p:cNvPr id="37" name="Shape 35"/>
          <p:cNvSpPr/>
          <p:nvPr/>
        </p:nvSpPr>
        <p:spPr>
          <a:xfrm>
            <a:off x="7772400" y="3931920"/>
            <a:ext cx="3779215" cy="731520"/>
          </a:xfrm>
          <a:prstGeom prst="rect">
            <a:avLst/>
          </a:prstGeom>
          <a:solidFill>
            <a:srgbClr val="F5F5F5"/>
          </a:solidFill>
          <a:ln/>
        </p:spPr>
      </p:sp>
      <p:sp>
        <p:nvSpPr>
          <p:cNvPr id="38" name="Text 36"/>
          <p:cNvSpPr txBox="1"/>
          <p:nvPr/>
        </p:nvSpPr>
        <p:spPr>
          <a:xfrm>
            <a:off x="7955280" y="4041648"/>
            <a:ext cx="3413455" cy="274320"/>
          </a:xfrm>
          <a:prstGeom prst="rect">
            <a:avLst/>
          </a:prstGeom>
          <a:noFill/>
          <a:ln/>
        </p:spPr>
        <p:txBody>
          <a:bodyPr wrap="square" lIns="0" tIns="0" rIns="0" bIns="0" rtlCol="0" anchor="t"/>
          <a:lstStyle/>
          <a:p>
            <a:pPr indent="0" marL="0">
              <a:buNone/>
            </a:pPr>
            <a:r>
              <a:rPr lang="en-US" sz="1250" b="1" dirty="0">
                <a:solidFill>
                  <a:srgbClr val="3C3C3C"/>
                </a:solidFill>
                <a:latin typeface="Yu Gothic" pitchFamily="34" charset="0"/>
                <a:ea typeface="Yu Gothic" pitchFamily="34" charset="-122"/>
                <a:cs typeface="Yu Gothic" pitchFamily="34" charset="-120"/>
              </a:rPr>
              <a:t>適格請求書発行事業者</a:t>
            </a:r>
            <a:endParaRPr lang="en-US" sz="1250" dirty="0"/>
          </a:p>
        </p:txBody>
      </p:sp>
      <p:sp>
        <p:nvSpPr>
          <p:cNvPr id="39" name="Text 37"/>
          <p:cNvSpPr txBox="1"/>
          <p:nvPr/>
        </p:nvSpPr>
        <p:spPr>
          <a:xfrm>
            <a:off x="7955280" y="4334256"/>
            <a:ext cx="3413455" cy="256032"/>
          </a:xfrm>
          <a:prstGeom prst="rect">
            <a:avLst/>
          </a:prstGeom>
          <a:noFill/>
          <a:ln/>
        </p:spPr>
        <p:txBody>
          <a:bodyPr wrap="square" lIns="0" tIns="0" rIns="0" bIns="0" rtlCol="0" anchor="t"/>
          <a:lstStyle/>
          <a:p>
            <a:pPr indent="0" marL="0">
              <a:buNone/>
            </a:pPr>
            <a:r>
              <a:rPr lang="en-US" sz="1050" dirty="0">
                <a:solidFill>
                  <a:srgbClr val="6E6E6E"/>
                </a:solidFill>
                <a:latin typeface="Yu Gothic" pitchFamily="34" charset="0"/>
                <a:ea typeface="Yu Gothic" pitchFamily="34" charset="-122"/>
                <a:cs typeface="Yu Gothic" pitchFamily="34" charset="-120"/>
              </a:rPr>
              <a:t>登録番号　T5120001206752</a:t>
            </a:r>
            <a:endParaRPr lang="en-US" sz="1050" dirty="0"/>
          </a:p>
        </p:txBody>
      </p:sp>
      <p:sp>
        <p:nvSpPr>
          <p:cNvPr id="40" name="Shape 38"/>
          <p:cNvSpPr/>
          <p:nvPr/>
        </p:nvSpPr>
        <p:spPr>
          <a:xfrm>
            <a:off x="7772400" y="4800600"/>
            <a:ext cx="3779215" cy="731520"/>
          </a:xfrm>
          <a:prstGeom prst="rect">
            <a:avLst/>
          </a:prstGeom>
          <a:solidFill>
            <a:srgbClr val="F5F5F5"/>
          </a:solidFill>
          <a:ln/>
        </p:spPr>
      </p:sp>
      <p:sp>
        <p:nvSpPr>
          <p:cNvPr id="41" name="Text 39"/>
          <p:cNvSpPr txBox="1"/>
          <p:nvPr/>
        </p:nvSpPr>
        <p:spPr>
          <a:xfrm>
            <a:off x="7955280" y="4910328"/>
            <a:ext cx="3413455" cy="274320"/>
          </a:xfrm>
          <a:prstGeom prst="rect">
            <a:avLst/>
          </a:prstGeom>
          <a:noFill/>
          <a:ln/>
        </p:spPr>
        <p:txBody>
          <a:bodyPr wrap="square" lIns="0" tIns="0" rIns="0" bIns="0" rtlCol="0" anchor="t"/>
          <a:lstStyle/>
          <a:p>
            <a:pPr indent="0" marL="0">
              <a:buNone/>
            </a:pPr>
            <a:r>
              <a:rPr lang="en-US" sz="1250" b="1" dirty="0">
                <a:solidFill>
                  <a:srgbClr val="3C3C3C"/>
                </a:solidFill>
                <a:latin typeface="Yu Gothic" pitchFamily="34" charset="0"/>
                <a:ea typeface="Yu Gothic" pitchFamily="34" charset="-122"/>
                <a:cs typeface="Yu Gothic" pitchFamily="34" charset="-120"/>
              </a:rPr>
              <a:t>パートナーシップ構築宣言</a:t>
            </a:r>
            <a:endParaRPr lang="en-US" sz="1250" dirty="0"/>
          </a:p>
        </p:txBody>
      </p:sp>
      <p:sp>
        <p:nvSpPr>
          <p:cNvPr id="42" name="Text 40"/>
          <p:cNvSpPr txBox="1"/>
          <p:nvPr/>
        </p:nvSpPr>
        <p:spPr>
          <a:xfrm>
            <a:off x="7955280" y="5202936"/>
            <a:ext cx="3413455" cy="256032"/>
          </a:xfrm>
          <a:prstGeom prst="rect">
            <a:avLst/>
          </a:prstGeom>
          <a:noFill/>
          <a:ln/>
        </p:spPr>
        <p:txBody>
          <a:bodyPr wrap="square" lIns="0" tIns="0" rIns="0" bIns="0" rtlCol="0" anchor="t"/>
          <a:lstStyle/>
          <a:p>
            <a:pPr indent="0" marL="0">
              <a:buNone/>
            </a:pPr>
            <a:r>
              <a:rPr lang="en-US" sz="1050" dirty="0">
                <a:solidFill>
                  <a:srgbClr val="6E6E6E"/>
                </a:solidFill>
                <a:latin typeface="Yu Gothic" pitchFamily="34" charset="0"/>
                <a:ea typeface="Yu Gothic" pitchFamily="34" charset="-122"/>
                <a:cs typeface="Yu Gothic" pitchFamily="34" charset="-120"/>
              </a:rPr>
              <a:t>サプライチェーン全体の共存共栄を宣言</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ite/dreamcreation/images/logo.png">    </p:cNvPr>
          <p:cNvPicPr>
            <a:picLocks noChangeAspect="1"/>
          </p:cNvPicPr>
          <p:nvPr/>
        </p:nvPicPr>
        <p:blipFill>
          <a:blip r:embed="rId1"/>
          <a:stretch>
            <a:fillRect/>
          </a:stretch>
        </p:blipFill>
        <p:spPr>
          <a:xfrm>
            <a:off x="822960" y="1737360"/>
            <a:ext cx="3291840" cy="1627632"/>
          </a:xfrm>
          <a:prstGeom prst="rect">
            <a:avLst/>
          </a:prstGeom>
        </p:spPr>
      </p:pic>
      <p:sp>
        <p:nvSpPr>
          <p:cNvPr id="3" name="Text 0"/>
          <p:cNvSpPr txBox="1"/>
          <p:nvPr/>
        </p:nvSpPr>
        <p:spPr>
          <a:xfrm>
            <a:off x="960120" y="3794760"/>
            <a:ext cx="3657600" cy="365760"/>
          </a:xfrm>
          <a:prstGeom prst="rect">
            <a:avLst/>
          </a:prstGeom>
          <a:noFill/>
          <a:ln/>
        </p:spPr>
        <p:txBody>
          <a:bodyPr wrap="square" lIns="0" tIns="0" rIns="0" bIns="0" rtlCol="0" anchor="t"/>
          <a:lstStyle/>
          <a:p>
            <a:pPr indent="0" marL="0">
              <a:buNone/>
            </a:pPr>
            <a:r>
              <a:rPr lang="en-US" sz="1400" i="1" dirty="0">
                <a:solidFill>
                  <a:srgbClr val="6E6E6E"/>
                </a:solidFill>
                <a:latin typeface="Yu Gothic" pitchFamily="34" charset="0"/>
                <a:ea typeface="Yu Gothic" pitchFamily="34" charset="-122"/>
                <a:cs typeface="Yu Gothic" pitchFamily="34" charset="-120"/>
              </a:rPr>
              <a:t>◎ セールスプロモーション</a:t>
            </a:r>
            <a:endParaRPr lang="en-US" sz="1400" dirty="0"/>
          </a:p>
        </p:txBody>
      </p:sp>
      <p:sp>
        <p:nvSpPr>
          <p:cNvPr id="4" name="Text 1"/>
          <p:cNvSpPr txBox="1"/>
          <p:nvPr/>
        </p:nvSpPr>
        <p:spPr>
          <a:xfrm>
            <a:off x="960120" y="4206240"/>
            <a:ext cx="3657600" cy="365760"/>
          </a:xfrm>
          <a:prstGeom prst="rect">
            <a:avLst/>
          </a:prstGeom>
          <a:noFill/>
          <a:ln/>
        </p:spPr>
        <p:txBody>
          <a:bodyPr wrap="square" lIns="0" tIns="0" rIns="0" bIns="0" rtlCol="0" anchor="t"/>
          <a:lstStyle/>
          <a:p>
            <a:pPr indent="0" marL="0">
              <a:buNone/>
            </a:pPr>
            <a:r>
              <a:rPr lang="en-US" sz="1400" i="1" dirty="0">
                <a:solidFill>
                  <a:srgbClr val="6E6E6E"/>
                </a:solidFill>
                <a:latin typeface="Yu Gothic" pitchFamily="34" charset="0"/>
                <a:ea typeface="Yu Gothic" pitchFamily="34" charset="-122"/>
                <a:cs typeface="Yu Gothic" pitchFamily="34" charset="-120"/>
              </a:rPr>
              <a:t>◎ イベントプロモーション</a:t>
            </a:r>
            <a:endParaRPr lang="en-US" sz="1400" dirty="0"/>
          </a:p>
        </p:txBody>
      </p:sp>
      <p:sp>
        <p:nvSpPr>
          <p:cNvPr id="5" name="Text 2"/>
          <p:cNvSpPr txBox="1"/>
          <p:nvPr/>
        </p:nvSpPr>
        <p:spPr>
          <a:xfrm>
            <a:off x="960120" y="4617720"/>
            <a:ext cx="3657600" cy="365760"/>
          </a:xfrm>
          <a:prstGeom prst="rect">
            <a:avLst/>
          </a:prstGeom>
          <a:noFill/>
          <a:ln/>
        </p:spPr>
        <p:txBody>
          <a:bodyPr wrap="square" lIns="0" tIns="0" rIns="0" bIns="0" rtlCol="0" anchor="t"/>
          <a:lstStyle/>
          <a:p>
            <a:pPr indent="0" marL="0">
              <a:buNone/>
            </a:pPr>
            <a:r>
              <a:rPr lang="en-US" sz="1400" i="1" dirty="0">
                <a:solidFill>
                  <a:srgbClr val="6E6E6E"/>
                </a:solidFill>
                <a:latin typeface="Yu Gothic" pitchFamily="34" charset="0"/>
                <a:ea typeface="Yu Gothic" pitchFamily="34" charset="-122"/>
                <a:cs typeface="Yu Gothic" pitchFamily="34" charset="-120"/>
              </a:rPr>
              <a:t>◎ 代理店事業</a:t>
            </a:r>
            <a:endParaRPr lang="en-US" sz="1400" dirty="0"/>
          </a:p>
        </p:txBody>
      </p:sp>
      <p:sp>
        <p:nvSpPr>
          <p:cNvPr id="6" name="Text 3"/>
          <p:cNvSpPr txBox="1"/>
          <p:nvPr/>
        </p:nvSpPr>
        <p:spPr>
          <a:xfrm>
            <a:off x="960120" y="5029200"/>
            <a:ext cx="3657600" cy="365760"/>
          </a:xfrm>
          <a:prstGeom prst="rect">
            <a:avLst/>
          </a:prstGeom>
          <a:noFill/>
          <a:ln/>
        </p:spPr>
        <p:txBody>
          <a:bodyPr wrap="square" lIns="0" tIns="0" rIns="0" bIns="0" rtlCol="0" anchor="t"/>
          <a:lstStyle/>
          <a:p>
            <a:pPr indent="0" marL="0">
              <a:buNone/>
            </a:pPr>
            <a:r>
              <a:rPr lang="en-US" sz="1400" i="1" dirty="0">
                <a:solidFill>
                  <a:srgbClr val="6E6E6E"/>
                </a:solidFill>
                <a:latin typeface="Yu Gothic" pitchFamily="34" charset="0"/>
                <a:ea typeface="Yu Gothic" pitchFamily="34" charset="-122"/>
                <a:cs typeface="Yu Gothic" pitchFamily="34" charset="-120"/>
              </a:rPr>
              <a:t>◎ 人材派遣・育成</a:t>
            </a:r>
            <a:endParaRPr lang="en-US" sz="1400" dirty="0"/>
          </a:p>
        </p:txBody>
      </p:sp>
      <p:sp>
        <p:nvSpPr>
          <p:cNvPr id="7" name="Text 4"/>
          <p:cNvSpPr txBox="1"/>
          <p:nvPr/>
        </p:nvSpPr>
        <p:spPr>
          <a:xfrm>
            <a:off x="5852160" y="1737360"/>
            <a:ext cx="4572000" cy="274320"/>
          </a:xfrm>
          <a:prstGeom prst="rect">
            <a:avLst/>
          </a:prstGeom>
          <a:noFill/>
          <a:ln/>
        </p:spPr>
        <p:txBody>
          <a:bodyPr wrap="square" lIns="0" tIns="0" rIns="0" bIns="0" rtlCol="0" anchor="t"/>
          <a:lstStyle/>
          <a:p>
            <a:pPr indent="0" marL="0">
              <a:buNone/>
            </a:pPr>
            <a:r>
              <a:rPr lang="en-US" sz="1100" spc="400" kern="0" dirty="0">
                <a:solidFill>
                  <a:srgbClr val="9A9A9A"/>
                </a:solidFill>
                <a:latin typeface="Yu Gothic" pitchFamily="34" charset="0"/>
                <a:ea typeface="Yu Gothic" pitchFamily="34" charset="-122"/>
                <a:cs typeface="Yu Gothic" pitchFamily="34" charset="-120"/>
              </a:rPr>
              <a:t>CONTACT</a:t>
            </a:r>
            <a:endParaRPr lang="en-US" sz="1100" dirty="0"/>
          </a:p>
        </p:txBody>
      </p:sp>
      <p:sp>
        <p:nvSpPr>
          <p:cNvPr id="8" name="Text 5"/>
          <p:cNvSpPr txBox="1"/>
          <p:nvPr/>
        </p:nvSpPr>
        <p:spPr>
          <a:xfrm>
            <a:off x="5852160" y="2057400"/>
            <a:ext cx="5486400" cy="548640"/>
          </a:xfrm>
          <a:prstGeom prst="rect">
            <a:avLst/>
          </a:prstGeom>
          <a:noFill/>
          <a:ln/>
        </p:spPr>
        <p:txBody>
          <a:bodyPr wrap="square" lIns="0" tIns="0" rIns="0" bIns="0" rtlCol="0" anchor="t"/>
          <a:lstStyle/>
          <a:p>
            <a:pPr indent="0" marL="0">
              <a:buNone/>
            </a:pPr>
            <a:r>
              <a:rPr lang="en-US" sz="2400" b="1" dirty="0">
                <a:solidFill>
                  <a:srgbClr val="3C3C3C"/>
                </a:solidFill>
                <a:latin typeface="Yu Mincho" pitchFamily="34" charset="0"/>
                <a:ea typeface="Yu Mincho" pitchFamily="34" charset="-122"/>
                <a:cs typeface="Yu Mincho" pitchFamily="34" charset="-120"/>
              </a:rPr>
              <a:t>お気軽にご相談ください。</a:t>
            </a:r>
            <a:endParaRPr lang="en-US" sz="2400" dirty="0"/>
          </a:p>
        </p:txBody>
      </p:sp>
      <p:sp>
        <p:nvSpPr>
          <p:cNvPr id="9" name="Text 6"/>
          <p:cNvSpPr txBox="1"/>
          <p:nvPr/>
        </p:nvSpPr>
        <p:spPr>
          <a:xfrm>
            <a:off x="5852160" y="2926080"/>
            <a:ext cx="1188720" cy="274320"/>
          </a:xfrm>
          <a:prstGeom prst="rect">
            <a:avLst/>
          </a:prstGeom>
          <a:noFill/>
          <a:ln/>
        </p:spPr>
        <p:txBody>
          <a:bodyPr wrap="square" lIns="0" tIns="0" rIns="0" bIns="0" rtlCol="0" anchor="t"/>
          <a:lstStyle/>
          <a:p>
            <a:pPr indent="0" marL="0">
              <a:buNone/>
            </a:pPr>
            <a:r>
              <a:rPr lang="en-US" sz="1050" b="1" spc="200" kern="0" dirty="0">
                <a:solidFill>
                  <a:srgbClr val="9A9A9A"/>
                </a:solidFill>
                <a:latin typeface="Yu Gothic" pitchFamily="34" charset="0"/>
                <a:ea typeface="Yu Gothic" pitchFamily="34" charset="-122"/>
                <a:cs typeface="Yu Gothic" pitchFamily="34" charset="-120"/>
              </a:rPr>
              <a:t>TEL</a:t>
            </a:r>
            <a:endParaRPr lang="en-US" sz="1050" dirty="0"/>
          </a:p>
        </p:txBody>
      </p:sp>
      <p:sp>
        <p:nvSpPr>
          <p:cNvPr id="10" name="Text 7"/>
          <p:cNvSpPr txBox="1"/>
          <p:nvPr/>
        </p:nvSpPr>
        <p:spPr>
          <a:xfrm>
            <a:off x="7040880" y="2898648"/>
            <a:ext cx="4754880" cy="548640"/>
          </a:xfrm>
          <a:prstGeom prst="rect">
            <a:avLst/>
          </a:prstGeom>
          <a:noFill/>
          <a:ln/>
        </p:spPr>
        <p:txBody>
          <a:bodyPr wrap="square" lIns="0" tIns="0" rIns="0" bIns="0" rtlCol="0" anchor="t"/>
          <a:lstStyle/>
          <a:p>
            <a:pPr indent="0" marL="0">
              <a:buNone/>
            </a:pPr>
            <a:r>
              <a:rPr lang="en-US" sz="1350" dirty="0">
                <a:solidFill>
                  <a:srgbClr val="3C3C3C"/>
                </a:solidFill>
                <a:latin typeface="Yu Gothic" pitchFamily="34" charset="0"/>
                <a:ea typeface="Yu Gothic" pitchFamily="34" charset="-122"/>
                <a:cs typeface="Yu Gothic" pitchFamily="34" charset="-120"/>
              </a:rPr>
              <a:t>06-4967-1038（10:00〜18:00／土日祝除く）</a:t>
            </a:r>
            <a:endParaRPr lang="en-US" sz="1350" dirty="0"/>
          </a:p>
        </p:txBody>
      </p:sp>
      <p:sp>
        <p:nvSpPr>
          <p:cNvPr id="11" name="Text 8"/>
          <p:cNvSpPr txBox="1"/>
          <p:nvPr/>
        </p:nvSpPr>
        <p:spPr>
          <a:xfrm>
            <a:off x="5852160" y="3493008"/>
            <a:ext cx="1188720" cy="274320"/>
          </a:xfrm>
          <a:prstGeom prst="rect">
            <a:avLst/>
          </a:prstGeom>
          <a:noFill/>
          <a:ln/>
        </p:spPr>
        <p:txBody>
          <a:bodyPr wrap="square" lIns="0" tIns="0" rIns="0" bIns="0" rtlCol="0" anchor="t"/>
          <a:lstStyle/>
          <a:p>
            <a:pPr indent="0" marL="0">
              <a:buNone/>
            </a:pPr>
            <a:r>
              <a:rPr lang="en-US" sz="1050" b="1" spc="200" kern="0" dirty="0">
                <a:solidFill>
                  <a:srgbClr val="9A9A9A"/>
                </a:solidFill>
                <a:latin typeface="Yu Gothic" pitchFamily="34" charset="0"/>
                <a:ea typeface="Yu Gothic" pitchFamily="34" charset="-122"/>
                <a:cs typeface="Yu Gothic" pitchFamily="34" charset="-120"/>
              </a:rPr>
              <a:t>MAIL</a:t>
            </a:r>
            <a:endParaRPr lang="en-US" sz="1050" dirty="0"/>
          </a:p>
        </p:txBody>
      </p:sp>
      <p:sp>
        <p:nvSpPr>
          <p:cNvPr id="12" name="Text 9"/>
          <p:cNvSpPr txBox="1"/>
          <p:nvPr/>
        </p:nvSpPr>
        <p:spPr>
          <a:xfrm>
            <a:off x="7040880" y="3465576"/>
            <a:ext cx="4754880" cy="548640"/>
          </a:xfrm>
          <a:prstGeom prst="rect">
            <a:avLst/>
          </a:prstGeom>
          <a:noFill/>
          <a:ln/>
        </p:spPr>
        <p:txBody>
          <a:bodyPr wrap="square" lIns="0" tIns="0" rIns="0" bIns="0" rtlCol="0" anchor="t"/>
          <a:lstStyle/>
          <a:p>
            <a:pPr indent="0" marL="0">
              <a:buNone/>
            </a:pPr>
            <a:r>
              <a:rPr lang="en-US" sz="1350" dirty="0">
                <a:solidFill>
                  <a:srgbClr val="3C3C3C"/>
                </a:solidFill>
                <a:latin typeface="Yu Gothic" pitchFamily="34" charset="0"/>
                <a:ea typeface="Yu Gothic" pitchFamily="34" charset="-122"/>
                <a:cs typeface="Yu Gothic" pitchFamily="34" charset="-120"/>
              </a:rPr>
              <a:t>data@d-creation-o.com</a:t>
            </a:r>
            <a:endParaRPr lang="en-US" sz="1350" dirty="0"/>
          </a:p>
        </p:txBody>
      </p:sp>
      <p:sp>
        <p:nvSpPr>
          <p:cNvPr id="13" name="Text 10"/>
          <p:cNvSpPr txBox="1"/>
          <p:nvPr/>
        </p:nvSpPr>
        <p:spPr>
          <a:xfrm>
            <a:off x="5852160" y="4059936"/>
            <a:ext cx="1188720" cy="274320"/>
          </a:xfrm>
          <a:prstGeom prst="rect">
            <a:avLst/>
          </a:prstGeom>
          <a:noFill/>
          <a:ln/>
        </p:spPr>
        <p:txBody>
          <a:bodyPr wrap="square" lIns="0" tIns="0" rIns="0" bIns="0" rtlCol="0" anchor="t"/>
          <a:lstStyle/>
          <a:p>
            <a:pPr indent="0" marL="0">
              <a:buNone/>
            </a:pPr>
            <a:r>
              <a:rPr lang="en-US" sz="1050" b="1" spc="200" kern="0" dirty="0">
                <a:solidFill>
                  <a:srgbClr val="9A9A9A"/>
                </a:solidFill>
                <a:latin typeface="Yu Gothic" pitchFamily="34" charset="0"/>
                <a:ea typeface="Yu Gothic" pitchFamily="34" charset="-122"/>
                <a:cs typeface="Yu Gothic" pitchFamily="34" charset="-120"/>
              </a:rPr>
              <a:t>WEB</a:t>
            </a:r>
            <a:endParaRPr lang="en-US" sz="1050" dirty="0"/>
          </a:p>
        </p:txBody>
      </p:sp>
      <p:sp>
        <p:nvSpPr>
          <p:cNvPr id="14" name="Text 11"/>
          <p:cNvSpPr txBox="1"/>
          <p:nvPr/>
        </p:nvSpPr>
        <p:spPr>
          <a:xfrm>
            <a:off x="7040880" y="4032504"/>
            <a:ext cx="4754880" cy="548640"/>
          </a:xfrm>
          <a:prstGeom prst="rect">
            <a:avLst/>
          </a:prstGeom>
          <a:noFill/>
          <a:ln/>
        </p:spPr>
        <p:txBody>
          <a:bodyPr wrap="square" lIns="0" tIns="0" rIns="0" bIns="0" rtlCol="0" anchor="t"/>
          <a:lstStyle/>
          <a:p>
            <a:pPr indent="0" marL="0">
              <a:buNone/>
            </a:pPr>
            <a:r>
              <a:rPr lang="en-US" sz="1350" dirty="0">
                <a:solidFill>
                  <a:srgbClr val="3C3C3C"/>
                </a:solidFill>
                <a:latin typeface="Yu Gothic" pitchFamily="34" charset="0"/>
                <a:ea typeface="Yu Gothic" pitchFamily="34" charset="-122"/>
                <a:cs typeface="Yu Gothic" pitchFamily="34" charset="-120"/>
              </a:rPr>
              <a:t>https://d-creation-o.com</a:t>
            </a:r>
            <a:endParaRPr lang="en-US" sz="1350" dirty="0"/>
          </a:p>
        </p:txBody>
      </p:sp>
      <p:sp>
        <p:nvSpPr>
          <p:cNvPr id="15" name="Text 12"/>
          <p:cNvSpPr txBox="1"/>
          <p:nvPr/>
        </p:nvSpPr>
        <p:spPr>
          <a:xfrm>
            <a:off x="5852160" y="4626864"/>
            <a:ext cx="1188720" cy="274320"/>
          </a:xfrm>
          <a:prstGeom prst="rect">
            <a:avLst/>
          </a:prstGeom>
          <a:noFill/>
          <a:ln/>
        </p:spPr>
        <p:txBody>
          <a:bodyPr wrap="square" lIns="0" tIns="0" rIns="0" bIns="0" rtlCol="0" anchor="t"/>
          <a:lstStyle/>
          <a:p>
            <a:pPr indent="0" marL="0">
              <a:buNone/>
            </a:pPr>
            <a:r>
              <a:rPr lang="en-US" sz="1050" b="1" spc="200" kern="0" dirty="0">
                <a:solidFill>
                  <a:srgbClr val="9A9A9A"/>
                </a:solidFill>
                <a:latin typeface="Yu Gothic" pitchFamily="34" charset="0"/>
                <a:ea typeface="Yu Gothic" pitchFamily="34" charset="-122"/>
                <a:cs typeface="Yu Gothic" pitchFamily="34" charset="-120"/>
              </a:rPr>
              <a:t>ADDRESS</a:t>
            </a:r>
            <a:endParaRPr lang="en-US" sz="1050" dirty="0"/>
          </a:p>
        </p:txBody>
      </p:sp>
      <p:sp>
        <p:nvSpPr>
          <p:cNvPr id="16" name="Text 13"/>
          <p:cNvSpPr txBox="1"/>
          <p:nvPr/>
        </p:nvSpPr>
        <p:spPr>
          <a:xfrm>
            <a:off x="7040880" y="4599432"/>
            <a:ext cx="4754880" cy="548640"/>
          </a:xfrm>
          <a:prstGeom prst="rect">
            <a:avLst/>
          </a:prstGeom>
          <a:noFill/>
          <a:ln/>
        </p:spPr>
        <p:txBody>
          <a:bodyPr wrap="square" lIns="0" tIns="0" rIns="0" bIns="0" rtlCol="0" anchor="t"/>
          <a:lstStyle/>
          <a:p>
            <a:pPr indent="0" marL="0">
              <a:buNone/>
            </a:pPr>
            <a:r>
              <a:rPr lang="en-US" sz="1350" dirty="0">
                <a:solidFill>
                  <a:srgbClr val="3C3C3C"/>
                </a:solidFill>
                <a:latin typeface="Yu Gothic" pitchFamily="34" charset="0"/>
                <a:ea typeface="Yu Gothic" pitchFamily="34" charset="-122"/>
                <a:cs typeface="Yu Gothic" pitchFamily="34" charset="-120"/>
              </a:rPr>
              <a:t>〒550-0015 大阪府大阪市西区南堀江1-10-1</a:t>
            </a:r>
            <a:endParaRPr lang="en-US" sz="1350" dirty="0"/>
          </a:p>
          <a:p>
            <a:pPr indent="0" marL="0">
              <a:buNone/>
            </a:pPr>
            <a:r>
              <a:rPr lang="en-US" sz="1350" dirty="0">
                <a:solidFill>
                  <a:srgbClr val="3C3C3C"/>
                </a:solidFill>
                <a:latin typeface="Yu Gothic" pitchFamily="34" charset="0"/>
                <a:ea typeface="Yu Gothic" pitchFamily="34" charset="-122"/>
                <a:cs typeface="Yu Gothic" pitchFamily="34" charset="-120"/>
              </a:rPr>
              <a:t>KT堀江801号室</a:t>
            </a:r>
            <a:endParaRPr lang="en-US" sz="1350" dirty="0"/>
          </a:p>
        </p:txBody>
      </p:sp>
      <p:pic>
        <p:nvPicPr>
          <p:cNvPr id="17" name="Image 1" descr="stripe.png">    </p:cNvPr>
          <p:cNvPicPr>
            <a:picLocks noChangeAspect="1"/>
          </p:cNvPicPr>
          <p:nvPr/>
        </p:nvPicPr>
        <p:blipFill>
          <a:blip r:embed="rId2"/>
          <a:srcRect l="0" r="0" t="0" b="0"/>
          <a:stretch/>
        </p:blipFill>
        <p:spPr>
          <a:xfrm>
            <a:off x="640080" y="5715000"/>
            <a:ext cx="10911535" cy="64008"/>
          </a:xfrm>
          <a:prstGeom prst="rect">
            <a:avLst/>
          </a:prstGeom>
        </p:spPr>
      </p:pic>
      <p:sp>
        <p:nvSpPr>
          <p:cNvPr id="18" name="Text 14"/>
          <p:cNvSpPr txBox="1"/>
          <p:nvPr/>
        </p:nvSpPr>
        <p:spPr>
          <a:xfrm>
            <a:off x="640080" y="5943600"/>
            <a:ext cx="7315200" cy="320040"/>
          </a:xfrm>
          <a:prstGeom prst="rect">
            <a:avLst/>
          </a:prstGeom>
          <a:noFill/>
          <a:ln/>
        </p:spPr>
        <p:txBody>
          <a:bodyPr wrap="square" lIns="0" tIns="0" rIns="0" bIns="0" rtlCol="0" anchor="t"/>
          <a:lstStyle/>
          <a:p>
            <a:pPr indent="0" marL="0">
              <a:buNone/>
            </a:pPr>
            <a:r>
              <a:rPr lang="en-US" sz="1200" dirty="0">
                <a:solidFill>
                  <a:srgbClr val="3C3C3C"/>
                </a:solidFill>
                <a:latin typeface="Yu Mincho" pitchFamily="34" charset="0"/>
                <a:ea typeface="Yu Mincho" pitchFamily="34" charset="-122"/>
                <a:cs typeface="Yu Mincho" pitchFamily="34" charset="-120"/>
              </a:rPr>
              <a:t>株式会社DreamCreation　『ともに夢をつくる』</a:t>
            </a:r>
            <a:endParaRPr lang="en-US" sz="1200" dirty="0"/>
          </a:p>
        </p:txBody>
      </p:sp>
      <p:sp>
        <p:nvSpPr>
          <p:cNvPr id="19" name="Text 15"/>
          <p:cNvSpPr txBox="1"/>
          <p:nvPr/>
        </p:nvSpPr>
        <p:spPr>
          <a:xfrm>
            <a:off x="7894015" y="5943600"/>
            <a:ext cx="3657600" cy="320040"/>
          </a:xfrm>
          <a:prstGeom prst="rect">
            <a:avLst/>
          </a:prstGeom>
          <a:noFill/>
          <a:ln/>
        </p:spPr>
        <p:txBody>
          <a:bodyPr wrap="square" lIns="0" tIns="0" rIns="0" bIns="0" rtlCol="0" anchor="t"/>
          <a:lstStyle/>
          <a:p>
            <a:pPr algn="r" indent="0" marL="0">
              <a:buNone/>
            </a:pPr>
            <a:r>
              <a:rPr lang="en-US" sz="1000" dirty="0">
                <a:solidFill>
                  <a:srgbClr val="9A9A9A"/>
                </a:solidFill>
                <a:latin typeface="Yu Gothic" pitchFamily="34" charset="0"/>
                <a:ea typeface="Yu Gothic" pitchFamily="34" charset="-122"/>
                <a:cs typeface="Yu Gothic" pitchFamily="34" charset="-120"/>
              </a:rPr>
              <a:t>© 2026 DreamCreation Inc.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株式会社DreamCreation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DreamCreation 企業カタログ 2026</dc:title>
  <dc:subject>PptxGenJS Presentation</dc:subject>
  <dc:creator>PptxGenJS</dc:creator>
  <cp:lastModifiedBy>PptxGenJS</cp:lastModifiedBy>
  <cp:revision>1</cp:revision>
  <dcterms:created xsi:type="dcterms:W3CDTF">2026-09-25T08:43:22Z</dcterms:created>
  <dcterms:modified xsi:type="dcterms:W3CDTF">2026-09-25T08:43:22Z</dcterms:modified>
</cp:coreProperties>
</file>