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21" d="100"/>
          <a:sy n="121" d="100"/>
        </p:scale>
        <p:origin x="224"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___.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______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title>
      <c:tx>
        <c:rich>
          <a:bodyPr/>
          <a:lstStyle/>
          <a:p>
            <a:pPr>
              <a:defRPr sz="1000" b="0" i="0" u="none" strike="noStrike">
                <a:solidFill>
                  <a:srgbClr val="1A1A1A"/>
                </a:solidFill>
                <a:latin typeface="Yu Gothic"/>
              </a:defRPr>
            </a:pPr>
            <a:r>
              <a:rPr lang="en-US" sz="1000" b="0" i="0" u="none" strike="noStrike">
                <a:solidFill>
                  <a:srgbClr val="1A1A1A"/>
                </a:solidFill>
                <a:latin typeface="Yu Gothic"/>
              </a:rPr>
              <a:t>PI 1</a:t>
            </a:r>
            <a:r>
              <a:rPr lang="ja-JP" altLang="en-US" sz="1000" b="0" i="0" u="none" strike="noStrike">
                <a:solidFill>
                  <a:srgbClr val="1A1A1A"/>
                </a:solidFill>
                <a:latin typeface="Yu Gothic"/>
              </a:rPr>
              <a:t>件あたりの固定商材（件）</a:t>
            </a:r>
          </a:p>
        </c:rich>
      </c:tx>
      <c:overlay val="0"/>
    </c:title>
    <c:autoTitleDeleted val="0"/>
    <c:plotArea>
      <c:layout/>
      <c:barChart>
        <c:barDir val="col"/>
        <c:grouping val="clustered"/>
        <c:varyColors val="0"/>
        <c:ser>
          <c:idx val="0"/>
          <c:order val="0"/>
          <c:tx>
            <c:strRef>
              <c:f>Sheet1!$B$1</c:f>
              <c:strCache>
                <c:ptCount val="1"/>
                <c:pt idx="0">
                  <c:v>Dreamチーム</c:v>
                </c:pt>
              </c:strCache>
            </c:strRef>
          </c:tx>
          <c:spPr>
            <a:solidFill>
              <a:srgbClr val="CC0000"/>
            </a:solidFill>
            <a:effectLst/>
          </c:spPr>
          <c:invertIfNegative val="0"/>
          <c:dLbls>
            <c:numFmt formatCode="0.00" sourceLinked="0"/>
            <c:spPr>
              <a:noFill/>
              <a:ln>
                <a:noFill/>
              </a:ln>
              <a:effectLst/>
            </c:spPr>
            <c:txPr>
              <a:bodyPr/>
              <a:lstStyle/>
              <a:p>
                <a:pPr>
                  <a:defRPr sz="800" b="0" i="0" u="none" strike="noStrike">
                    <a:solidFill>
                      <a:srgbClr val="000000"/>
                    </a:solidFill>
                    <a:latin typeface="Yu Gothic"/>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7月1w 平野</c:v>
                </c:pt>
                <c:pt idx="1">
                  <c:v>7月2w 三田</c:v>
                </c:pt>
                <c:pt idx="2">
                  <c:v>7月3w 宝塚</c:v>
                </c:pt>
                <c:pt idx="3">
                  <c:v>7月4w 堺中環</c:v>
                </c:pt>
              </c:strCache>
            </c:strRef>
          </c:cat>
          <c:val>
            <c:numRef>
              <c:f>Sheet1!$B$2:$B$5</c:f>
              <c:numCache>
                <c:formatCode>General</c:formatCode>
                <c:ptCount val="4"/>
                <c:pt idx="0">
                  <c:v>0.41</c:v>
                </c:pt>
                <c:pt idx="1">
                  <c:v>0.18</c:v>
                </c:pt>
                <c:pt idx="2">
                  <c:v>0.38</c:v>
                </c:pt>
                <c:pt idx="3">
                  <c:v>0.35</c:v>
                </c:pt>
              </c:numCache>
            </c:numRef>
          </c:val>
          <c:extLst>
            <c:ext xmlns:c16="http://schemas.microsoft.com/office/drawing/2014/chart" uri="{C3380CC4-5D6E-409C-BE32-E72D297353CC}">
              <c16:uniqueId val="{00000000-EEE1-6542-B58C-67B467FDDC7C}"/>
            </c:ext>
          </c:extLst>
        </c:ser>
        <c:ser>
          <c:idx val="1"/>
          <c:order val="1"/>
          <c:tx>
            <c:strRef>
              <c:f>Sheet1!$C$1</c:f>
              <c:strCache>
                <c:ptCount val="1"/>
                <c:pt idx="0">
                  <c:v>全部隊 中央値</c:v>
                </c:pt>
              </c:strCache>
            </c:strRef>
          </c:tx>
          <c:spPr>
            <a:solidFill>
              <a:srgbClr val="BFBFBF"/>
            </a:solidFill>
            <a:effectLst/>
          </c:spPr>
          <c:invertIfNegative val="0"/>
          <c:dLbls>
            <c:numFmt formatCode="0.00" sourceLinked="0"/>
            <c:spPr>
              <a:noFill/>
              <a:ln>
                <a:noFill/>
              </a:ln>
              <a:effectLst/>
            </c:spPr>
            <c:txPr>
              <a:bodyPr/>
              <a:lstStyle/>
              <a:p>
                <a:pPr>
                  <a:defRPr sz="800" b="0" i="0" u="none" strike="noStrike">
                    <a:solidFill>
                      <a:srgbClr val="000000"/>
                    </a:solidFill>
                    <a:latin typeface="Yu Gothic"/>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7月1w 平野</c:v>
                </c:pt>
                <c:pt idx="1">
                  <c:v>7月2w 三田</c:v>
                </c:pt>
                <c:pt idx="2">
                  <c:v>7月3w 宝塚</c:v>
                </c:pt>
                <c:pt idx="3">
                  <c:v>7月4w 堺中環</c:v>
                </c:pt>
              </c:strCache>
            </c:strRef>
          </c:cat>
          <c:val>
            <c:numRef>
              <c:f>Sheet1!$C$2:$C$5</c:f>
              <c:numCache>
                <c:formatCode>General</c:formatCode>
                <c:ptCount val="4"/>
                <c:pt idx="0">
                  <c:v>0.24</c:v>
                </c:pt>
                <c:pt idx="1">
                  <c:v>0.24</c:v>
                </c:pt>
                <c:pt idx="2">
                  <c:v>0.25</c:v>
                </c:pt>
                <c:pt idx="3">
                  <c:v>0.21</c:v>
                </c:pt>
              </c:numCache>
            </c:numRef>
          </c:val>
          <c:extLst>
            <c:ext xmlns:c16="http://schemas.microsoft.com/office/drawing/2014/chart" uri="{C3380CC4-5D6E-409C-BE32-E72D297353CC}">
              <c16:uniqueId val="{00000001-EEE1-6542-B58C-67B467FDDC7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767676"/>
                </a:solidFill>
                <a:latin typeface="Yu Gothic"/>
              </a:defRPr>
            </a:pPr>
            <a:endParaRPr lang="en-US"/>
          </a:p>
        </c:txPr>
        <c:crossAx val="2094734552"/>
        <c:crosses val="autoZero"/>
        <c:auto val="1"/>
        <c:lblAlgn val="ctr"/>
        <c:lblOffset val="100"/>
        <c:noMultiLvlLbl val="1"/>
      </c:catAx>
      <c:valAx>
        <c:axId val="2094734552"/>
        <c:scaling>
          <c:orientation val="minMax"/>
          <c:max val="0.6"/>
          <c:min val="0"/>
        </c:scaling>
        <c:delete val="0"/>
        <c:axPos val="l"/>
        <c:majorGridlines>
          <c:spPr>
            <a:ln w="9525" cap="flat">
              <a:solidFill>
                <a:srgbClr val="EEEEEE"/>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767676"/>
                </a:solidFill>
                <a:latin typeface="Yu Gothic"/>
              </a:defRPr>
            </a:pPr>
            <a:endParaRPr lang="en-US"/>
          </a:p>
        </c:txPr>
        <c:crossAx val="2094734554"/>
        <c:crosses val="autoZero"/>
        <c:crossBetween val="between"/>
        <c:majorUnit val="0.1"/>
      </c:valAx>
      <c:spPr>
        <a:noFill/>
        <a:ln>
          <a:noFill/>
        </a:ln>
        <a:effectLst/>
      </c:spPr>
    </c:plotArea>
    <c:legend>
      <c:legendPos val="b"/>
      <c:overlay val="0"/>
      <c:txPr>
        <a:bodyPr/>
        <a:lstStyle/>
        <a:p>
          <a:pPr>
            <a:defRPr sz="800">
              <a:latin typeface="Yu Gothic"/>
              <a:cs typeface="Yu Gothic"/>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title>
      <c:tx>
        <c:rich>
          <a:bodyPr/>
          <a:lstStyle/>
          <a:p>
            <a:pPr>
              <a:defRPr sz="1000" b="0" i="0" u="none" strike="noStrike">
                <a:solidFill>
                  <a:srgbClr val="1A1A1A"/>
                </a:solidFill>
                <a:latin typeface="Yu Gothic"/>
              </a:defRPr>
            </a:pPr>
            <a:r>
              <a:rPr lang="en-US" sz="1000" b="0" i="0" u="none" strike="noStrike">
                <a:solidFill>
                  <a:srgbClr val="1A1A1A"/>
                </a:solidFill>
                <a:latin typeface="Yu Gothic"/>
              </a:rPr>
              <a:t>PI 1</a:t>
            </a:r>
            <a:r>
              <a:rPr lang="ja-JP" altLang="en-US" sz="1000" b="0" i="0" u="none" strike="noStrike">
                <a:solidFill>
                  <a:srgbClr val="1A1A1A"/>
                </a:solidFill>
                <a:latin typeface="Yu Gothic"/>
              </a:rPr>
              <a:t>件あたりの取替（件）</a:t>
            </a:r>
          </a:p>
        </c:rich>
      </c:tx>
      <c:overlay val="0"/>
    </c:title>
    <c:autoTitleDeleted val="0"/>
    <c:plotArea>
      <c:layout/>
      <c:barChart>
        <c:barDir val="col"/>
        <c:grouping val="clustered"/>
        <c:varyColors val="0"/>
        <c:ser>
          <c:idx val="0"/>
          <c:order val="0"/>
          <c:tx>
            <c:strRef>
              <c:f>Sheet1!$B$1</c:f>
              <c:strCache>
                <c:ptCount val="1"/>
                <c:pt idx="0">
                  <c:v>Dreamチーム</c:v>
                </c:pt>
              </c:strCache>
            </c:strRef>
          </c:tx>
          <c:spPr>
            <a:solidFill>
              <a:srgbClr val="CC0000"/>
            </a:solidFill>
            <a:effectLst/>
          </c:spPr>
          <c:invertIfNegative val="0"/>
          <c:dLbls>
            <c:numFmt formatCode="0.00" sourceLinked="0"/>
            <c:spPr>
              <a:noFill/>
              <a:ln>
                <a:noFill/>
              </a:ln>
              <a:effectLst/>
            </c:spPr>
            <c:txPr>
              <a:bodyPr/>
              <a:lstStyle/>
              <a:p>
                <a:pPr>
                  <a:defRPr sz="800" b="0" i="0" u="none" strike="noStrike">
                    <a:solidFill>
                      <a:srgbClr val="000000"/>
                    </a:solidFill>
                    <a:latin typeface="Yu Gothic"/>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7月1w 平野</c:v>
                </c:pt>
                <c:pt idx="1">
                  <c:v>7月2w 三田</c:v>
                </c:pt>
                <c:pt idx="2">
                  <c:v>7月3w 宝塚</c:v>
                </c:pt>
                <c:pt idx="3">
                  <c:v>7月4w 堺中環</c:v>
                </c:pt>
              </c:strCache>
            </c:strRef>
          </c:cat>
          <c:val>
            <c:numRef>
              <c:f>Sheet1!$B$2:$B$5</c:f>
              <c:numCache>
                <c:formatCode>General</c:formatCode>
                <c:ptCount val="4"/>
                <c:pt idx="0">
                  <c:v>0.06</c:v>
                </c:pt>
                <c:pt idx="1">
                  <c:v>0.27</c:v>
                </c:pt>
                <c:pt idx="2">
                  <c:v>0.21</c:v>
                </c:pt>
                <c:pt idx="3">
                  <c:v>0.65</c:v>
                </c:pt>
              </c:numCache>
            </c:numRef>
          </c:val>
          <c:extLst>
            <c:ext xmlns:c16="http://schemas.microsoft.com/office/drawing/2014/chart" uri="{C3380CC4-5D6E-409C-BE32-E72D297353CC}">
              <c16:uniqueId val="{00000000-49EB-8E48-82EB-AD6621CF8495}"/>
            </c:ext>
          </c:extLst>
        </c:ser>
        <c:ser>
          <c:idx val="1"/>
          <c:order val="1"/>
          <c:tx>
            <c:strRef>
              <c:f>Sheet1!$C$1</c:f>
              <c:strCache>
                <c:ptCount val="1"/>
                <c:pt idx="0">
                  <c:v>全部隊 中央値</c:v>
                </c:pt>
              </c:strCache>
            </c:strRef>
          </c:tx>
          <c:spPr>
            <a:solidFill>
              <a:srgbClr val="BFBFBF"/>
            </a:solidFill>
            <a:effectLst/>
          </c:spPr>
          <c:invertIfNegative val="0"/>
          <c:dLbls>
            <c:numFmt formatCode="0.00" sourceLinked="0"/>
            <c:spPr>
              <a:noFill/>
              <a:ln>
                <a:noFill/>
              </a:ln>
              <a:effectLst/>
            </c:spPr>
            <c:txPr>
              <a:bodyPr/>
              <a:lstStyle/>
              <a:p>
                <a:pPr>
                  <a:defRPr sz="800" b="0" i="0" u="none" strike="noStrike">
                    <a:solidFill>
                      <a:srgbClr val="000000"/>
                    </a:solidFill>
                    <a:latin typeface="Yu Gothic"/>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7月1w 平野</c:v>
                </c:pt>
                <c:pt idx="1">
                  <c:v>7月2w 三田</c:v>
                </c:pt>
                <c:pt idx="2">
                  <c:v>7月3w 宝塚</c:v>
                </c:pt>
                <c:pt idx="3">
                  <c:v>7月4w 堺中環</c:v>
                </c:pt>
              </c:strCache>
            </c:strRef>
          </c:cat>
          <c:val>
            <c:numRef>
              <c:f>Sheet1!$C$2:$C$5</c:f>
              <c:numCache>
                <c:formatCode>General</c:formatCode>
                <c:ptCount val="4"/>
                <c:pt idx="0">
                  <c:v>0.11</c:v>
                </c:pt>
                <c:pt idx="1">
                  <c:v>0.13</c:v>
                </c:pt>
                <c:pt idx="2">
                  <c:v>0.14000000000000001</c:v>
                </c:pt>
                <c:pt idx="3">
                  <c:v>0.12</c:v>
                </c:pt>
              </c:numCache>
            </c:numRef>
          </c:val>
          <c:extLst>
            <c:ext xmlns:c16="http://schemas.microsoft.com/office/drawing/2014/chart" uri="{C3380CC4-5D6E-409C-BE32-E72D297353CC}">
              <c16:uniqueId val="{00000001-49EB-8E48-82EB-AD6621CF849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767676"/>
                </a:solidFill>
                <a:latin typeface="Yu Gothic"/>
              </a:defRPr>
            </a:pPr>
            <a:endParaRPr lang="en-US"/>
          </a:p>
        </c:txPr>
        <c:crossAx val="2094734552"/>
        <c:crosses val="autoZero"/>
        <c:auto val="1"/>
        <c:lblAlgn val="ctr"/>
        <c:lblOffset val="100"/>
        <c:noMultiLvlLbl val="1"/>
      </c:catAx>
      <c:valAx>
        <c:axId val="2094734552"/>
        <c:scaling>
          <c:orientation val="minMax"/>
          <c:max val="0.7"/>
          <c:min val="0"/>
        </c:scaling>
        <c:delete val="0"/>
        <c:axPos val="l"/>
        <c:majorGridlines>
          <c:spPr>
            <a:ln w="9525" cap="flat">
              <a:solidFill>
                <a:srgbClr val="EEEEEE"/>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767676"/>
                </a:solidFill>
                <a:latin typeface="Yu Gothic"/>
              </a:defRPr>
            </a:pPr>
            <a:endParaRPr lang="en-US"/>
          </a:p>
        </c:txPr>
        <c:crossAx val="2094734554"/>
        <c:crosses val="autoZero"/>
        <c:crossBetween val="between"/>
        <c:majorUnit val="0.1"/>
      </c:valAx>
      <c:spPr>
        <a:noFill/>
        <a:ln>
          <a:noFill/>
        </a:ln>
        <a:effectLst/>
      </c:spPr>
    </c:plotArea>
    <c:legend>
      <c:legendPos val="b"/>
      <c:overlay val="0"/>
      <c:txPr>
        <a:bodyPr/>
        <a:lstStyle/>
        <a:p>
          <a:pPr>
            <a:defRPr sz="800">
              <a:latin typeface="Yu Gothic"/>
              <a:cs typeface="Yu Gothic"/>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653689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411480" y="292608"/>
            <a:ext cx="384048" cy="256032"/>
          </a:xfrm>
          <a:prstGeom prst="rect">
            <a:avLst/>
          </a:prstGeom>
          <a:solidFill>
            <a:srgbClr val="CC0000"/>
          </a:solidFill>
          <a:ln/>
        </p:spPr>
        <p:txBody>
          <a:bodyPr/>
          <a:lstStyle/>
          <a:p>
            <a:endParaRPr lang="ja-JP" altLang="en-US"/>
          </a:p>
        </p:txBody>
      </p:sp>
      <p:sp>
        <p:nvSpPr>
          <p:cNvPr id="3" name="Text 1"/>
          <p:cNvSpPr/>
          <p:nvPr/>
        </p:nvSpPr>
        <p:spPr>
          <a:xfrm>
            <a:off x="411480" y="292608"/>
            <a:ext cx="384048"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Yu Gothic" pitchFamily="34" charset="0"/>
                <a:ea typeface="Yu Gothic" pitchFamily="34" charset="-122"/>
                <a:cs typeface="Yu Gothic" pitchFamily="34" charset="-120"/>
              </a:rPr>
              <a:t>04</a:t>
            </a:r>
            <a:endParaRPr lang="en-US" sz="1200" dirty="0"/>
          </a:p>
        </p:txBody>
      </p:sp>
      <p:sp>
        <p:nvSpPr>
          <p:cNvPr id="4" name="Text 2"/>
          <p:cNvSpPr/>
          <p:nvPr/>
        </p:nvSpPr>
        <p:spPr>
          <a:xfrm>
            <a:off x="896112" y="274320"/>
            <a:ext cx="10881360" cy="292608"/>
          </a:xfrm>
          <a:prstGeom prst="rect">
            <a:avLst/>
          </a:prstGeom>
          <a:noFill/>
          <a:ln/>
        </p:spPr>
        <p:txBody>
          <a:bodyPr wrap="square" lIns="0" tIns="0" rIns="0" bIns="0" rtlCol="0" anchor="ctr"/>
          <a:lstStyle/>
          <a:p>
            <a:pPr marL="0" indent="0">
              <a:buNone/>
            </a:pPr>
            <a:r>
              <a:rPr lang="en-US" sz="1700" b="1" dirty="0">
                <a:solidFill>
                  <a:srgbClr val="1A1A1A"/>
                </a:solidFill>
                <a:latin typeface="Yu Gothic" pitchFamily="34" charset="0"/>
                <a:ea typeface="Yu Gothic" pitchFamily="34" charset="-122"/>
                <a:cs typeface="Yu Gothic" pitchFamily="34" charset="-120"/>
              </a:rPr>
              <a:t>7月 月間累計 目標 vs 実績（5週確定・差し替え版）</a:t>
            </a:r>
            <a:endParaRPr lang="en-US" sz="1700" dirty="0"/>
          </a:p>
        </p:txBody>
      </p:sp>
      <p:sp>
        <p:nvSpPr>
          <p:cNvPr id="5" name="Text 3"/>
          <p:cNvSpPr/>
          <p:nvPr/>
        </p:nvSpPr>
        <p:spPr>
          <a:xfrm>
            <a:off x="429768" y="621792"/>
            <a:ext cx="11338560" cy="384048"/>
          </a:xfrm>
          <a:prstGeom prst="rect">
            <a:avLst/>
          </a:prstGeom>
          <a:noFill/>
          <a:ln/>
        </p:spPr>
        <p:txBody>
          <a:bodyPr wrap="square" lIns="0" tIns="0" rIns="0" bIns="0" rtlCol="0" anchor="ctr"/>
          <a:lstStyle/>
          <a:p>
            <a:pPr marL="0" indent="0">
              <a:lnSpc>
                <a:spcPts val="1400"/>
              </a:lnSpc>
              <a:buNone/>
            </a:pPr>
            <a:r>
              <a:rPr lang="en-US" sz="950" dirty="0">
                <a:solidFill>
                  <a:srgbClr val="767676"/>
                </a:solidFill>
                <a:latin typeface="Yu Gothic" pitchFamily="34" charset="0"/>
                <a:ea typeface="Yu Gothic" pitchFamily="34" charset="-122"/>
                <a:cs typeface="Yu Gothic" pitchFamily="34" charset="-120"/>
              </a:rPr>
              <a:t>前回ご報告（7月3週時点・PI 60/87＝69%）に、7月4w 堺中央環状店および5w分を反映した確定値です。PIは90.8%、総販では92.8%まで到達しました。</a:t>
            </a:r>
            <a:endParaRPr lang="en-US" sz="950" dirty="0"/>
          </a:p>
        </p:txBody>
      </p:sp>
      <p:sp>
        <p:nvSpPr>
          <p:cNvPr id="6" name="Shape 4"/>
          <p:cNvSpPr/>
          <p:nvPr/>
        </p:nvSpPr>
        <p:spPr>
          <a:xfrm>
            <a:off x="411480" y="1060704"/>
            <a:ext cx="11384280" cy="0"/>
          </a:xfrm>
          <a:prstGeom prst="line">
            <a:avLst/>
          </a:prstGeom>
          <a:noFill/>
          <a:ln w="9525">
            <a:solidFill>
              <a:srgbClr val="E0E0E0"/>
            </a:solidFill>
            <a:prstDash val="solid"/>
          </a:ln>
        </p:spPr>
        <p:txBody>
          <a:bodyPr/>
          <a:lstStyle/>
          <a:p>
            <a:endParaRPr lang="ja-JP" altLang="en-US"/>
          </a:p>
        </p:txBody>
      </p:sp>
      <p:sp>
        <p:nvSpPr>
          <p:cNvPr id="7" name="Shape 5"/>
          <p:cNvSpPr/>
          <p:nvPr/>
        </p:nvSpPr>
        <p:spPr>
          <a:xfrm>
            <a:off x="411480" y="1207008"/>
            <a:ext cx="2743200" cy="1024128"/>
          </a:xfrm>
          <a:prstGeom prst="rect">
            <a:avLst/>
          </a:prstGeom>
          <a:solidFill>
            <a:srgbClr val="FDF0F0"/>
          </a:solidFill>
          <a:ln w="9525">
            <a:solidFill>
              <a:srgbClr val="F4CFCF"/>
            </a:solidFill>
            <a:prstDash val="solid"/>
          </a:ln>
        </p:spPr>
        <p:txBody>
          <a:bodyPr/>
          <a:lstStyle/>
          <a:p>
            <a:endParaRPr lang="ja-JP" altLang="en-US"/>
          </a:p>
        </p:txBody>
      </p:sp>
      <p:sp>
        <p:nvSpPr>
          <p:cNvPr id="8" name="Text 6"/>
          <p:cNvSpPr/>
          <p:nvPr/>
        </p:nvSpPr>
        <p:spPr>
          <a:xfrm>
            <a:off x="557784" y="1280160"/>
            <a:ext cx="2450592" cy="219456"/>
          </a:xfrm>
          <a:prstGeom prst="rect">
            <a:avLst/>
          </a:prstGeom>
          <a:noFill/>
          <a:ln/>
        </p:spPr>
        <p:txBody>
          <a:bodyPr wrap="square" lIns="0" tIns="0" rIns="0" bIns="0" rtlCol="0" anchor="ctr"/>
          <a:lstStyle/>
          <a:p>
            <a:pPr marL="0" indent="0">
              <a:buNone/>
            </a:pPr>
            <a:r>
              <a:rPr lang="en-US" sz="850" b="1" dirty="0">
                <a:solidFill>
                  <a:srgbClr val="CC0000"/>
                </a:solidFill>
                <a:latin typeface="Yu Gothic" pitchFamily="34" charset="0"/>
                <a:ea typeface="Yu Gothic" pitchFamily="34" charset="-122"/>
                <a:cs typeface="Yu Gothic" pitchFamily="34" charset="-120"/>
              </a:rPr>
              <a:t>PI 月間達成率</a:t>
            </a:r>
            <a:endParaRPr lang="en-US" sz="850" dirty="0"/>
          </a:p>
        </p:txBody>
      </p:sp>
      <p:sp>
        <p:nvSpPr>
          <p:cNvPr id="9" name="Text 7"/>
          <p:cNvSpPr/>
          <p:nvPr/>
        </p:nvSpPr>
        <p:spPr>
          <a:xfrm>
            <a:off x="557784" y="1481328"/>
            <a:ext cx="2450592" cy="384048"/>
          </a:xfrm>
          <a:prstGeom prst="rect">
            <a:avLst/>
          </a:prstGeom>
          <a:noFill/>
          <a:ln/>
        </p:spPr>
        <p:txBody>
          <a:bodyPr wrap="square" lIns="0" tIns="0" rIns="0" bIns="0" rtlCol="0" anchor="ctr"/>
          <a:lstStyle/>
          <a:p>
            <a:pPr marL="0" indent="0">
              <a:buNone/>
            </a:pPr>
            <a:r>
              <a:rPr lang="en-US" sz="2100" b="1" dirty="0">
                <a:solidFill>
                  <a:srgbClr val="1A1A1A"/>
                </a:solidFill>
                <a:latin typeface="Yu Gothic" pitchFamily="34" charset="0"/>
                <a:ea typeface="Yu Gothic" pitchFamily="34" charset="-122"/>
                <a:cs typeface="Yu Gothic" pitchFamily="34" charset="-120"/>
              </a:rPr>
              <a:t>90.8%</a:t>
            </a:r>
            <a:endParaRPr lang="en-US" sz="2100" dirty="0"/>
          </a:p>
        </p:txBody>
      </p:sp>
      <p:sp>
        <p:nvSpPr>
          <p:cNvPr id="10" name="Text 8"/>
          <p:cNvSpPr/>
          <p:nvPr/>
        </p:nvSpPr>
        <p:spPr>
          <a:xfrm>
            <a:off x="557784" y="1883664"/>
            <a:ext cx="2450592" cy="292608"/>
          </a:xfrm>
          <a:prstGeom prst="rect">
            <a:avLst/>
          </a:prstGeom>
          <a:noFill/>
          <a:ln/>
        </p:spPr>
        <p:txBody>
          <a:bodyPr wrap="square" lIns="0" tIns="0" rIns="0" bIns="0" rtlCol="0" anchor="ctr"/>
          <a:lstStyle/>
          <a:p>
            <a:pPr marL="0" indent="0">
              <a:lnSpc>
                <a:spcPts val="1100"/>
              </a:lnSpc>
              <a:buNone/>
            </a:pPr>
            <a:r>
              <a:rPr lang="en-US" sz="800" dirty="0">
                <a:solidFill>
                  <a:srgbClr val="767676"/>
                </a:solidFill>
                <a:latin typeface="Yu Gothic" pitchFamily="34" charset="0"/>
                <a:ea typeface="Yu Gothic" pitchFamily="34" charset="-122"/>
                <a:cs typeface="Yu Gothic" pitchFamily="34" charset="-120"/>
              </a:rPr>
              <a:t>79 / 87件　前回報告69%から+21.8pt</a:t>
            </a:r>
            <a:endParaRPr lang="en-US" sz="800" dirty="0"/>
          </a:p>
        </p:txBody>
      </p:sp>
      <p:sp>
        <p:nvSpPr>
          <p:cNvPr id="11" name="Shape 9"/>
          <p:cNvSpPr/>
          <p:nvPr/>
        </p:nvSpPr>
        <p:spPr>
          <a:xfrm>
            <a:off x="3319272" y="1207008"/>
            <a:ext cx="2743200" cy="1024128"/>
          </a:xfrm>
          <a:prstGeom prst="rect">
            <a:avLst/>
          </a:prstGeom>
          <a:solidFill>
            <a:srgbClr val="FDF0F0"/>
          </a:solidFill>
          <a:ln w="9525">
            <a:solidFill>
              <a:srgbClr val="F4CFCF"/>
            </a:solidFill>
            <a:prstDash val="solid"/>
          </a:ln>
        </p:spPr>
        <p:txBody>
          <a:bodyPr/>
          <a:lstStyle/>
          <a:p>
            <a:endParaRPr lang="ja-JP" altLang="en-US"/>
          </a:p>
        </p:txBody>
      </p:sp>
      <p:sp>
        <p:nvSpPr>
          <p:cNvPr id="12" name="Text 10"/>
          <p:cNvSpPr/>
          <p:nvPr/>
        </p:nvSpPr>
        <p:spPr>
          <a:xfrm>
            <a:off x="3465576" y="1280160"/>
            <a:ext cx="2450592" cy="219456"/>
          </a:xfrm>
          <a:prstGeom prst="rect">
            <a:avLst/>
          </a:prstGeom>
          <a:noFill/>
          <a:ln/>
        </p:spPr>
        <p:txBody>
          <a:bodyPr wrap="square" lIns="0" tIns="0" rIns="0" bIns="0" rtlCol="0" anchor="ctr"/>
          <a:lstStyle/>
          <a:p>
            <a:pPr marL="0" indent="0">
              <a:buNone/>
            </a:pPr>
            <a:r>
              <a:rPr lang="en-US" sz="850" b="1" dirty="0">
                <a:solidFill>
                  <a:srgbClr val="CC0000"/>
                </a:solidFill>
                <a:latin typeface="Yu Gothic" pitchFamily="34" charset="0"/>
                <a:ea typeface="Yu Gothic" pitchFamily="34" charset="-122"/>
                <a:cs typeface="Yu Gothic" pitchFamily="34" charset="-120"/>
              </a:rPr>
              <a:t>総販 月間達成率</a:t>
            </a:r>
            <a:endParaRPr lang="en-US" sz="850" dirty="0"/>
          </a:p>
        </p:txBody>
      </p:sp>
      <p:sp>
        <p:nvSpPr>
          <p:cNvPr id="13" name="Text 11"/>
          <p:cNvSpPr/>
          <p:nvPr/>
        </p:nvSpPr>
        <p:spPr>
          <a:xfrm>
            <a:off x="3465576" y="1481328"/>
            <a:ext cx="2450592" cy="384048"/>
          </a:xfrm>
          <a:prstGeom prst="rect">
            <a:avLst/>
          </a:prstGeom>
          <a:noFill/>
          <a:ln/>
        </p:spPr>
        <p:txBody>
          <a:bodyPr wrap="square" lIns="0" tIns="0" rIns="0" bIns="0" rtlCol="0" anchor="ctr"/>
          <a:lstStyle/>
          <a:p>
            <a:pPr marL="0" indent="0">
              <a:buNone/>
            </a:pPr>
            <a:r>
              <a:rPr lang="en-US" sz="2100" b="1" dirty="0">
                <a:solidFill>
                  <a:srgbClr val="1A1A1A"/>
                </a:solidFill>
                <a:latin typeface="Yu Gothic" pitchFamily="34" charset="0"/>
                <a:ea typeface="Yu Gothic" pitchFamily="34" charset="-122"/>
                <a:cs typeface="Yu Gothic" pitchFamily="34" charset="-120"/>
              </a:rPr>
              <a:t>92.8%</a:t>
            </a:r>
            <a:endParaRPr lang="en-US" sz="2100" dirty="0"/>
          </a:p>
        </p:txBody>
      </p:sp>
      <p:sp>
        <p:nvSpPr>
          <p:cNvPr id="14" name="Text 12"/>
          <p:cNvSpPr/>
          <p:nvPr/>
        </p:nvSpPr>
        <p:spPr>
          <a:xfrm>
            <a:off x="3465576" y="1883664"/>
            <a:ext cx="2450592" cy="292608"/>
          </a:xfrm>
          <a:prstGeom prst="rect">
            <a:avLst/>
          </a:prstGeom>
          <a:noFill/>
          <a:ln/>
        </p:spPr>
        <p:txBody>
          <a:bodyPr wrap="square" lIns="0" tIns="0" rIns="0" bIns="0" rtlCol="0" anchor="ctr"/>
          <a:lstStyle/>
          <a:p>
            <a:pPr marL="0" indent="0">
              <a:lnSpc>
                <a:spcPts val="1100"/>
              </a:lnSpc>
              <a:buNone/>
            </a:pPr>
            <a:r>
              <a:rPr lang="en-US" sz="800" dirty="0">
                <a:solidFill>
                  <a:srgbClr val="767676"/>
                </a:solidFill>
                <a:latin typeface="Yu Gothic" pitchFamily="34" charset="0"/>
                <a:ea typeface="Yu Gothic" pitchFamily="34" charset="-122"/>
                <a:cs typeface="Yu Gothic" pitchFamily="34" charset="-120"/>
              </a:rPr>
              <a:t>103 / 111件（PI＋取替＋純新規）</a:t>
            </a:r>
            <a:endParaRPr lang="en-US" sz="800" dirty="0"/>
          </a:p>
        </p:txBody>
      </p:sp>
      <p:sp>
        <p:nvSpPr>
          <p:cNvPr id="15" name="Shape 13"/>
          <p:cNvSpPr/>
          <p:nvPr/>
        </p:nvSpPr>
        <p:spPr>
          <a:xfrm>
            <a:off x="6227064" y="1207008"/>
            <a:ext cx="2743200" cy="1024128"/>
          </a:xfrm>
          <a:prstGeom prst="rect">
            <a:avLst/>
          </a:prstGeom>
          <a:solidFill>
            <a:srgbClr val="FDF0F0"/>
          </a:solidFill>
          <a:ln w="9525">
            <a:solidFill>
              <a:srgbClr val="F4CFCF"/>
            </a:solidFill>
            <a:prstDash val="solid"/>
          </a:ln>
        </p:spPr>
        <p:txBody>
          <a:bodyPr/>
          <a:lstStyle/>
          <a:p>
            <a:endParaRPr lang="ja-JP" altLang="en-US"/>
          </a:p>
        </p:txBody>
      </p:sp>
      <p:sp>
        <p:nvSpPr>
          <p:cNvPr id="16" name="Text 14"/>
          <p:cNvSpPr/>
          <p:nvPr/>
        </p:nvSpPr>
        <p:spPr>
          <a:xfrm>
            <a:off x="6373368" y="1280160"/>
            <a:ext cx="2450592" cy="219456"/>
          </a:xfrm>
          <a:prstGeom prst="rect">
            <a:avLst/>
          </a:prstGeom>
          <a:noFill/>
          <a:ln/>
        </p:spPr>
        <p:txBody>
          <a:bodyPr wrap="square" lIns="0" tIns="0" rIns="0" bIns="0" rtlCol="0" anchor="ctr"/>
          <a:lstStyle/>
          <a:p>
            <a:pPr marL="0" indent="0">
              <a:buNone/>
            </a:pPr>
            <a:r>
              <a:rPr lang="en-US" sz="850" b="1" dirty="0">
                <a:solidFill>
                  <a:srgbClr val="CC0000"/>
                </a:solidFill>
                <a:latin typeface="Yu Gothic" pitchFamily="34" charset="0"/>
                <a:ea typeface="Yu Gothic" pitchFamily="34" charset="-122"/>
                <a:cs typeface="Yu Gothic" pitchFamily="34" charset="-120"/>
              </a:rPr>
              <a:t>取替 月間達成率</a:t>
            </a:r>
            <a:endParaRPr lang="en-US" sz="850" dirty="0"/>
          </a:p>
        </p:txBody>
      </p:sp>
      <p:sp>
        <p:nvSpPr>
          <p:cNvPr id="17" name="Text 15"/>
          <p:cNvSpPr/>
          <p:nvPr/>
        </p:nvSpPr>
        <p:spPr>
          <a:xfrm>
            <a:off x="6373368" y="1481328"/>
            <a:ext cx="2450592" cy="384048"/>
          </a:xfrm>
          <a:prstGeom prst="rect">
            <a:avLst/>
          </a:prstGeom>
          <a:noFill/>
          <a:ln/>
        </p:spPr>
        <p:txBody>
          <a:bodyPr wrap="square" lIns="0" tIns="0" rIns="0" bIns="0" rtlCol="0" anchor="ctr"/>
          <a:lstStyle/>
          <a:p>
            <a:pPr marL="0" indent="0">
              <a:buNone/>
            </a:pPr>
            <a:r>
              <a:rPr lang="en-US" sz="2100" b="1" dirty="0">
                <a:solidFill>
                  <a:srgbClr val="1A1A1A"/>
                </a:solidFill>
                <a:latin typeface="Yu Gothic" pitchFamily="34" charset="0"/>
                <a:ea typeface="Yu Gothic" pitchFamily="34" charset="-122"/>
                <a:cs typeface="Yu Gothic" pitchFamily="34" charset="-120"/>
              </a:rPr>
              <a:t>105.6%</a:t>
            </a:r>
            <a:endParaRPr lang="en-US" sz="2100" dirty="0"/>
          </a:p>
        </p:txBody>
      </p:sp>
      <p:sp>
        <p:nvSpPr>
          <p:cNvPr id="18" name="Text 16"/>
          <p:cNvSpPr/>
          <p:nvPr/>
        </p:nvSpPr>
        <p:spPr>
          <a:xfrm>
            <a:off x="6373368" y="1883664"/>
            <a:ext cx="2450592" cy="292608"/>
          </a:xfrm>
          <a:prstGeom prst="rect">
            <a:avLst/>
          </a:prstGeom>
          <a:noFill/>
          <a:ln/>
        </p:spPr>
        <p:txBody>
          <a:bodyPr wrap="square" lIns="0" tIns="0" rIns="0" bIns="0" rtlCol="0" anchor="ctr"/>
          <a:lstStyle/>
          <a:p>
            <a:pPr marL="0" indent="0">
              <a:lnSpc>
                <a:spcPts val="1100"/>
              </a:lnSpc>
              <a:buNone/>
            </a:pPr>
            <a:r>
              <a:rPr lang="en-US" sz="800" dirty="0">
                <a:solidFill>
                  <a:srgbClr val="767676"/>
                </a:solidFill>
                <a:latin typeface="Yu Gothic" pitchFamily="34" charset="0"/>
                <a:ea typeface="Yu Gothic" pitchFamily="34" charset="-122"/>
                <a:cs typeface="Yu Gothic" pitchFamily="34" charset="-120"/>
              </a:rPr>
              <a:t>19 / 18件　目標超過</a:t>
            </a:r>
            <a:endParaRPr lang="en-US" sz="800" dirty="0"/>
          </a:p>
        </p:txBody>
      </p:sp>
      <p:sp>
        <p:nvSpPr>
          <p:cNvPr id="19" name="Shape 17"/>
          <p:cNvSpPr/>
          <p:nvPr/>
        </p:nvSpPr>
        <p:spPr>
          <a:xfrm>
            <a:off x="9134856" y="1207008"/>
            <a:ext cx="2660904" cy="1024128"/>
          </a:xfrm>
          <a:prstGeom prst="rect">
            <a:avLst/>
          </a:prstGeom>
          <a:solidFill>
            <a:srgbClr val="FDF0F0"/>
          </a:solidFill>
          <a:ln w="9525">
            <a:solidFill>
              <a:srgbClr val="F4CFCF"/>
            </a:solidFill>
            <a:prstDash val="solid"/>
          </a:ln>
        </p:spPr>
        <p:txBody>
          <a:bodyPr/>
          <a:lstStyle/>
          <a:p>
            <a:endParaRPr lang="ja-JP" altLang="en-US"/>
          </a:p>
        </p:txBody>
      </p:sp>
      <p:sp>
        <p:nvSpPr>
          <p:cNvPr id="20" name="Text 18"/>
          <p:cNvSpPr/>
          <p:nvPr/>
        </p:nvSpPr>
        <p:spPr>
          <a:xfrm>
            <a:off x="9281160" y="1280160"/>
            <a:ext cx="2368296" cy="219456"/>
          </a:xfrm>
          <a:prstGeom prst="rect">
            <a:avLst/>
          </a:prstGeom>
          <a:noFill/>
          <a:ln/>
        </p:spPr>
        <p:txBody>
          <a:bodyPr wrap="square" lIns="0" tIns="0" rIns="0" bIns="0" rtlCol="0" anchor="ctr"/>
          <a:lstStyle/>
          <a:p>
            <a:pPr marL="0" indent="0">
              <a:buNone/>
            </a:pPr>
            <a:r>
              <a:rPr lang="en-US" sz="850" b="1" dirty="0">
                <a:solidFill>
                  <a:srgbClr val="CC0000"/>
                </a:solidFill>
                <a:latin typeface="Yu Gothic" pitchFamily="34" charset="0"/>
                <a:ea typeface="Yu Gothic" pitchFamily="34" charset="-122"/>
                <a:cs typeface="Yu Gothic" pitchFamily="34" charset="-120"/>
              </a:rPr>
              <a:t>カード系3種 合計</a:t>
            </a:r>
            <a:endParaRPr lang="en-US" sz="850" dirty="0"/>
          </a:p>
        </p:txBody>
      </p:sp>
      <p:sp>
        <p:nvSpPr>
          <p:cNvPr id="21" name="Text 19"/>
          <p:cNvSpPr/>
          <p:nvPr/>
        </p:nvSpPr>
        <p:spPr>
          <a:xfrm>
            <a:off x="9281160" y="1481328"/>
            <a:ext cx="2368296" cy="384048"/>
          </a:xfrm>
          <a:prstGeom prst="rect">
            <a:avLst/>
          </a:prstGeom>
          <a:noFill/>
          <a:ln/>
        </p:spPr>
        <p:txBody>
          <a:bodyPr wrap="square" lIns="0" tIns="0" rIns="0" bIns="0" rtlCol="0" anchor="ctr"/>
          <a:lstStyle/>
          <a:p>
            <a:pPr marL="0" indent="0">
              <a:buNone/>
            </a:pPr>
            <a:r>
              <a:rPr lang="en-US" sz="2100" b="1" dirty="0">
                <a:solidFill>
                  <a:srgbClr val="1A1A1A"/>
                </a:solidFill>
                <a:latin typeface="Yu Gothic" pitchFamily="34" charset="0"/>
                <a:ea typeface="Yu Gothic" pitchFamily="34" charset="-122"/>
                <a:cs typeface="Yu Gothic" pitchFamily="34" charset="-120"/>
              </a:rPr>
              <a:t>20.0%</a:t>
            </a:r>
            <a:endParaRPr lang="en-US" sz="2100" dirty="0"/>
          </a:p>
        </p:txBody>
      </p:sp>
      <p:sp>
        <p:nvSpPr>
          <p:cNvPr id="22" name="Text 20"/>
          <p:cNvSpPr/>
          <p:nvPr/>
        </p:nvSpPr>
        <p:spPr>
          <a:xfrm>
            <a:off x="9281160" y="1883664"/>
            <a:ext cx="2368296" cy="292608"/>
          </a:xfrm>
          <a:prstGeom prst="rect">
            <a:avLst/>
          </a:prstGeom>
          <a:noFill/>
          <a:ln/>
        </p:spPr>
        <p:txBody>
          <a:bodyPr wrap="square" lIns="0" tIns="0" rIns="0" bIns="0" rtlCol="0" anchor="ctr"/>
          <a:lstStyle/>
          <a:p>
            <a:pPr marL="0" indent="0">
              <a:lnSpc>
                <a:spcPts val="1100"/>
              </a:lnSpc>
              <a:buNone/>
            </a:pPr>
            <a:r>
              <a:rPr lang="en-US" sz="800" dirty="0">
                <a:solidFill>
                  <a:srgbClr val="767676"/>
                </a:solidFill>
                <a:latin typeface="Yu Gothic" pitchFamily="34" charset="0"/>
                <a:ea typeface="Yu Gothic" pitchFamily="34" charset="-122"/>
                <a:cs typeface="Yu Gothic" pitchFamily="34" charset="-120"/>
              </a:rPr>
              <a:t>3 / 15件　最大の未達領域</a:t>
            </a:r>
            <a:endParaRPr lang="en-US" sz="8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11480" y="2432304"/>
          <a:ext cx="11384280" cy="2798064"/>
        </p:xfrm>
        <a:graphic>
          <a:graphicData uri="http://schemas.openxmlformats.org/drawingml/2006/table">
            <a:tbl>
              <a:tblPr/>
              <a:tblGrid>
                <a:gridCol w="182880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gridCol w="6035040">
                  <a:extLst>
                    <a:ext uri="{9D8B030D-6E8A-4147-A177-3AD203B41FA5}">
                      <a16:colId xmlns:a16="http://schemas.microsoft.com/office/drawing/2014/main" val="20005"/>
                    </a:ext>
                  </a:extLst>
                </a:gridCol>
              </a:tblGrid>
              <a:tr h="233172">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商材</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月間目標</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累計実績</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達成率</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評価</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所見</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extLst>
                  <a:ext uri="{0D108BD9-81ED-4DB2-BD59-A6C34878D82A}">
                    <a16:rowId xmlns:a16="http://schemas.microsoft.com/office/drawing/2014/main" val="10000"/>
                  </a:ext>
                </a:extLst>
              </a:tr>
              <a:tr h="233172">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PI（ポートイン）</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87</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79</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90.8%</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7月2w三田の55%が月間未達分をほぼ説明</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1"/>
                  </a:ext>
                </a:extLst>
              </a:tr>
              <a:tr h="233172">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取替</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18</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19</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b="1" dirty="0">
                          <a:solidFill>
                            <a:srgbClr val="CC0000"/>
                          </a:solidFill>
                          <a:latin typeface="Yu Gothic" pitchFamily="34" charset="0"/>
                          <a:ea typeface="Yu Gothic" pitchFamily="34" charset="-122"/>
                          <a:cs typeface="Yu Gothic" pitchFamily="34" charset="-120"/>
                        </a:rPr>
                        <a:t>105.6%</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堺中央環状店11件が牽引。顧客照会の徹底が奏功</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extLst>
                  <a:ext uri="{0D108BD9-81ED-4DB2-BD59-A6C34878D82A}">
                    <a16:rowId xmlns:a16="http://schemas.microsoft.com/office/drawing/2014/main" val="10002"/>
                  </a:ext>
                </a:extLst>
              </a:tr>
              <a:tr h="233172">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純新規</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6</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5</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83.3%</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あと1件</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3"/>
                  </a:ext>
                </a:extLst>
              </a:tr>
              <a:tr h="233172">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ドコモ光 1G</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18</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13</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72.2%</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家電コーナー起点の提案は機能。件数の底上げが課題</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4"/>
                  </a:ext>
                </a:extLst>
              </a:tr>
              <a:tr h="233172">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ドコモ光 10G</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6</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5</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83.3%</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平野うりわり店3件。高ARPUの勝ちパターンを確立</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5"/>
                  </a:ext>
                </a:extLst>
              </a:tr>
              <a:tr h="233172">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home 5G</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6</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3</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50.0%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登録対応スタッフ数・ランプ台数の制約が影響</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6"/>
                  </a:ext>
                </a:extLst>
              </a:tr>
              <a:tr h="233172">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ドコモでんき</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6</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6</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b="1" dirty="0">
                          <a:solidFill>
                            <a:srgbClr val="CC0000"/>
                          </a:solidFill>
                          <a:latin typeface="Yu Gothic" pitchFamily="34" charset="0"/>
                          <a:ea typeface="Yu Gothic" pitchFamily="34" charset="-122"/>
                          <a:cs typeface="Yu Gothic" pitchFamily="34" charset="-120"/>
                        </a:rPr>
                        <a:t>100.0%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目標達成</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extLst>
                  <a:ext uri="{0D108BD9-81ED-4DB2-BD59-A6C34878D82A}">
                    <a16:rowId xmlns:a16="http://schemas.microsoft.com/office/drawing/2014/main" val="10007"/>
                  </a:ext>
                </a:extLst>
              </a:tr>
              <a:tr h="233172">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ドコモガス</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3</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未着手。でんき達成に対しセット訴求ができていない</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8"/>
                  </a:ext>
                </a:extLst>
              </a:tr>
              <a:tr h="233172">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PLATINUM</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3</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未着手。dカードG保有客への上位訴求が未実装</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9"/>
                  </a:ext>
                </a:extLst>
              </a:tr>
              <a:tr h="233172">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GOLD</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9</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3</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33.3%</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成約時のセット提案が標準化できていない</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10"/>
                  </a:ext>
                </a:extLst>
              </a:tr>
              <a:tr h="233172">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GOLD U（学割）</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3</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未着手。ファミリー層への学生訴求が未実装</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
        <p:nvSpPr>
          <p:cNvPr id="24" name="Shape 21"/>
          <p:cNvSpPr/>
          <p:nvPr/>
        </p:nvSpPr>
        <p:spPr>
          <a:xfrm>
            <a:off x="411480" y="5504688"/>
            <a:ext cx="5532120" cy="749808"/>
          </a:xfrm>
          <a:prstGeom prst="rect">
            <a:avLst/>
          </a:prstGeom>
          <a:solidFill>
            <a:srgbClr val="FFFFFF"/>
          </a:solidFill>
          <a:ln w="9525">
            <a:solidFill>
              <a:srgbClr val="E0E0E0"/>
            </a:solidFill>
            <a:prstDash val="solid"/>
          </a:ln>
        </p:spPr>
        <p:txBody>
          <a:bodyPr/>
          <a:lstStyle/>
          <a:p>
            <a:endParaRPr lang="ja-JP" altLang="en-US"/>
          </a:p>
        </p:txBody>
      </p:sp>
      <p:sp>
        <p:nvSpPr>
          <p:cNvPr id="25" name="Shape 22"/>
          <p:cNvSpPr/>
          <p:nvPr/>
        </p:nvSpPr>
        <p:spPr>
          <a:xfrm>
            <a:off x="411480" y="5504688"/>
            <a:ext cx="41148" cy="749808"/>
          </a:xfrm>
          <a:prstGeom prst="rect">
            <a:avLst/>
          </a:prstGeom>
          <a:solidFill>
            <a:srgbClr val="CC0000"/>
          </a:solidFill>
          <a:ln/>
        </p:spPr>
        <p:txBody>
          <a:bodyPr/>
          <a:lstStyle/>
          <a:p>
            <a:endParaRPr lang="ja-JP" altLang="en-US"/>
          </a:p>
        </p:txBody>
      </p:sp>
      <p:sp>
        <p:nvSpPr>
          <p:cNvPr id="26" name="Text 23"/>
          <p:cNvSpPr/>
          <p:nvPr/>
        </p:nvSpPr>
        <p:spPr>
          <a:xfrm>
            <a:off x="576072" y="5596128"/>
            <a:ext cx="5221224" cy="237744"/>
          </a:xfrm>
          <a:prstGeom prst="rect">
            <a:avLst/>
          </a:prstGeom>
          <a:noFill/>
          <a:ln/>
        </p:spPr>
        <p:txBody>
          <a:bodyPr wrap="square" lIns="0" tIns="0" rIns="0" bIns="0" rtlCol="0" anchor="ctr"/>
          <a:lstStyle/>
          <a:p>
            <a:pPr marL="0" indent="0">
              <a:buNone/>
            </a:pPr>
            <a:r>
              <a:rPr lang="en-US" sz="1000" b="1" dirty="0">
                <a:solidFill>
                  <a:srgbClr val="1A1A1A"/>
                </a:solidFill>
                <a:latin typeface="Yu Gothic" pitchFamily="34" charset="0"/>
                <a:ea typeface="Yu Gothic" pitchFamily="34" charset="-122"/>
                <a:cs typeface="Yu Gothic" pitchFamily="34" charset="-120"/>
              </a:rPr>
              <a:t>評価できる点</a:t>
            </a:r>
            <a:endParaRPr lang="en-US" sz="1000" dirty="0"/>
          </a:p>
        </p:txBody>
      </p:sp>
      <p:sp>
        <p:nvSpPr>
          <p:cNvPr id="27" name="Text 24"/>
          <p:cNvSpPr/>
          <p:nvPr/>
        </p:nvSpPr>
        <p:spPr>
          <a:xfrm>
            <a:off x="576072" y="5852160"/>
            <a:ext cx="5221224" cy="292608"/>
          </a:xfrm>
          <a:prstGeom prst="rect">
            <a:avLst/>
          </a:prstGeom>
          <a:noFill/>
          <a:ln/>
        </p:spPr>
        <p:txBody>
          <a:bodyPr wrap="square" lIns="0" tIns="0" rIns="0" bIns="0" rtlCol="0" anchor="t"/>
          <a:lstStyle/>
          <a:p>
            <a:pPr marL="0" indent="0">
              <a:lnSpc>
                <a:spcPts val="1300"/>
              </a:lnSpc>
              <a:buNone/>
            </a:pPr>
            <a:r>
              <a:rPr lang="en-US" sz="850" dirty="0">
                <a:solidFill>
                  <a:srgbClr val="3A3A3A"/>
                </a:solidFill>
                <a:latin typeface="Yu Gothic" pitchFamily="34" charset="0"/>
                <a:ea typeface="Yu Gothic" pitchFamily="34" charset="-122"/>
                <a:cs typeface="Yu Gothic" pitchFamily="34" charset="-120"/>
              </a:rPr>
              <a:t>取替が目標超過（105.6%）、でんきが目標達成（100%）。主力商材の獲得力は目標水準に到達しています。</a:t>
            </a:r>
            <a:endParaRPr lang="en-US" sz="850" dirty="0"/>
          </a:p>
        </p:txBody>
      </p:sp>
      <p:sp>
        <p:nvSpPr>
          <p:cNvPr id="28" name="Shape 25"/>
          <p:cNvSpPr/>
          <p:nvPr/>
        </p:nvSpPr>
        <p:spPr>
          <a:xfrm>
            <a:off x="6263640" y="5504688"/>
            <a:ext cx="5532120" cy="749808"/>
          </a:xfrm>
          <a:prstGeom prst="rect">
            <a:avLst/>
          </a:prstGeom>
          <a:solidFill>
            <a:srgbClr val="FFFFFF"/>
          </a:solidFill>
          <a:ln w="9525">
            <a:solidFill>
              <a:srgbClr val="E0E0E0"/>
            </a:solidFill>
            <a:prstDash val="solid"/>
          </a:ln>
        </p:spPr>
        <p:txBody>
          <a:bodyPr/>
          <a:lstStyle/>
          <a:p>
            <a:endParaRPr lang="ja-JP" altLang="en-US"/>
          </a:p>
        </p:txBody>
      </p:sp>
      <p:sp>
        <p:nvSpPr>
          <p:cNvPr id="29" name="Shape 26"/>
          <p:cNvSpPr/>
          <p:nvPr/>
        </p:nvSpPr>
        <p:spPr>
          <a:xfrm>
            <a:off x="6263640" y="5504688"/>
            <a:ext cx="41148" cy="749808"/>
          </a:xfrm>
          <a:prstGeom prst="rect">
            <a:avLst/>
          </a:prstGeom>
          <a:solidFill>
            <a:srgbClr val="CC0000"/>
          </a:solidFill>
          <a:ln/>
        </p:spPr>
        <p:txBody>
          <a:bodyPr/>
          <a:lstStyle/>
          <a:p>
            <a:endParaRPr lang="ja-JP" altLang="en-US"/>
          </a:p>
        </p:txBody>
      </p:sp>
      <p:sp>
        <p:nvSpPr>
          <p:cNvPr id="30" name="Text 27"/>
          <p:cNvSpPr/>
          <p:nvPr/>
        </p:nvSpPr>
        <p:spPr>
          <a:xfrm>
            <a:off x="6428232" y="5596128"/>
            <a:ext cx="5221224" cy="237744"/>
          </a:xfrm>
          <a:prstGeom prst="rect">
            <a:avLst/>
          </a:prstGeom>
          <a:noFill/>
          <a:ln/>
        </p:spPr>
        <p:txBody>
          <a:bodyPr wrap="square" lIns="0" tIns="0" rIns="0" bIns="0" rtlCol="0" anchor="ctr"/>
          <a:lstStyle/>
          <a:p>
            <a:pPr marL="0" indent="0">
              <a:buNone/>
            </a:pPr>
            <a:r>
              <a:rPr lang="en-US" sz="1000" b="1" dirty="0">
                <a:solidFill>
                  <a:srgbClr val="1A1A1A"/>
                </a:solidFill>
                <a:latin typeface="Yu Gothic" pitchFamily="34" charset="0"/>
                <a:ea typeface="Yu Gothic" pitchFamily="34" charset="-122"/>
                <a:cs typeface="Yu Gothic" pitchFamily="34" charset="-120"/>
              </a:rPr>
              <a:t>8月の最優先課題</a:t>
            </a:r>
            <a:endParaRPr lang="en-US" sz="1000" dirty="0"/>
          </a:p>
        </p:txBody>
      </p:sp>
      <p:sp>
        <p:nvSpPr>
          <p:cNvPr id="31" name="Text 28"/>
          <p:cNvSpPr/>
          <p:nvPr/>
        </p:nvSpPr>
        <p:spPr>
          <a:xfrm>
            <a:off x="6428232" y="5852160"/>
            <a:ext cx="5221224" cy="292608"/>
          </a:xfrm>
          <a:prstGeom prst="rect">
            <a:avLst/>
          </a:prstGeom>
          <a:noFill/>
          <a:ln/>
        </p:spPr>
        <p:txBody>
          <a:bodyPr wrap="square" lIns="0" tIns="0" rIns="0" bIns="0" rtlCol="0" anchor="t"/>
          <a:lstStyle/>
          <a:p>
            <a:pPr marL="0" indent="0">
              <a:lnSpc>
                <a:spcPts val="1300"/>
              </a:lnSpc>
              <a:buNone/>
            </a:pPr>
            <a:r>
              <a:rPr lang="en-US" sz="850" dirty="0">
                <a:solidFill>
                  <a:srgbClr val="3A3A3A"/>
                </a:solidFill>
                <a:latin typeface="Yu Gothic" pitchFamily="34" charset="0"/>
                <a:ea typeface="Yu Gothic" pitchFamily="34" charset="-122"/>
                <a:cs typeface="Yu Gothic" pitchFamily="34" charset="-120"/>
              </a:rPr>
              <a:t>カード系3種とガスの合計は3件／目標18件。PI成約時のセット提案を型として8月12日研修会で標準化します。</a:t>
            </a:r>
            <a:endParaRPr lang="en-US" sz="850" dirty="0"/>
          </a:p>
        </p:txBody>
      </p:sp>
      <p:sp>
        <p:nvSpPr>
          <p:cNvPr id="32" name="Shape 29"/>
          <p:cNvSpPr/>
          <p:nvPr/>
        </p:nvSpPr>
        <p:spPr>
          <a:xfrm>
            <a:off x="411480" y="6355080"/>
            <a:ext cx="11384280" cy="0"/>
          </a:xfrm>
          <a:prstGeom prst="line">
            <a:avLst/>
          </a:prstGeom>
          <a:noFill/>
          <a:ln w="9525">
            <a:solidFill>
              <a:srgbClr val="E0E0E0"/>
            </a:solidFill>
            <a:prstDash val="solid"/>
          </a:ln>
        </p:spPr>
        <p:txBody>
          <a:bodyPr/>
          <a:lstStyle/>
          <a:p>
            <a:endParaRPr lang="ja-JP" altLang="en-US"/>
          </a:p>
        </p:txBody>
      </p:sp>
      <p:sp>
        <p:nvSpPr>
          <p:cNvPr id="33" name="Text 30"/>
          <p:cNvSpPr/>
          <p:nvPr/>
        </p:nvSpPr>
        <p:spPr>
          <a:xfrm>
            <a:off x="411480" y="6400800"/>
            <a:ext cx="8778240" cy="274320"/>
          </a:xfrm>
          <a:prstGeom prst="rect">
            <a:avLst/>
          </a:prstGeom>
          <a:noFill/>
          <a:ln/>
        </p:spPr>
        <p:txBody>
          <a:bodyPr wrap="square" lIns="0" tIns="0" rIns="0" bIns="0" rtlCol="0" anchor="ctr"/>
          <a:lstStyle/>
          <a:p>
            <a:pPr marL="0" indent="0">
              <a:buNone/>
            </a:pPr>
            <a:r>
              <a:rPr lang="en-US" sz="750" dirty="0">
                <a:solidFill>
                  <a:srgbClr val="767676"/>
                </a:solidFill>
                <a:latin typeface="Yu Gothic" pitchFamily="34" charset="0"/>
                <a:ea typeface="Yu Gothic" pitchFamily="34" charset="-122"/>
                <a:cs typeface="Yu Gothic" pitchFamily="34" charset="-120"/>
              </a:rPr>
              <a:t>04 / 19　既存4枚目（7月3週時点）の差し替え版。5週分を反映した月間確定値。総販＝PI＋取替＋純新規。</a:t>
            </a:r>
            <a:endParaRPr lang="en-US" sz="750" dirty="0"/>
          </a:p>
        </p:txBody>
      </p:sp>
      <p:sp>
        <p:nvSpPr>
          <p:cNvPr id="34" name="Text 31"/>
          <p:cNvSpPr/>
          <p:nvPr/>
        </p:nvSpPr>
        <p:spPr>
          <a:xfrm>
            <a:off x="9235440" y="6400800"/>
            <a:ext cx="2560320" cy="274320"/>
          </a:xfrm>
          <a:prstGeom prst="rect">
            <a:avLst/>
          </a:prstGeom>
          <a:noFill/>
          <a:ln/>
        </p:spPr>
        <p:txBody>
          <a:bodyPr wrap="square" lIns="0" tIns="0" rIns="0" bIns="0" rtlCol="0" anchor="ctr"/>
          <a:lstStyle/>
          <a:p>
            <a:pPr marL="0" indent="0" algn="r">
              <a:buNone/>
            </a:pPr>
            <a:r>
              <a:rPr lang="en-US" sz="750" dirty="0">
                <a:solidFill>
                  <a:srgbClr val="767676"/>
                </a:solidFill>
                <a:latin typeface="Yu Gothic" pitchFamily="34" charset="0"/>
                <a:ea typeface="Yu Gothic" pitchFamily="34" charset="-122"/>
                <a:cs typeface="Yu Gothic" pitchFamily="34" charset="-120"/>
              </a:rPr>
              <a:t>DREAM TEAM · JULY 2026</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11480" y="292608"/>
            <a:ext cx="384048" cy="256032"/>
          </a:xfrm>
          <a:prstGeom prst="rect">
            <a:avLst/>
          </a:prstGeom>
          <a:solidFill>
            <a:srgbClr val="CC0000"/>
          </a:solidFill>
          <a:ln/>
        </p:spPr>
        <p:txBody>
          <a:bodyPr/>
          <a:lstStyle/>
          <a:p>
            <a:endParaRPr lang="ja-JP" altLang="en-US"/>
          </a:p>
        </p:txBody>
      </p:sp>
      <p:sp>
        <p:nvSpPr>
          <p:cNvPr id="3" name="Text 1"/>
          <p:cNvSpPr/>
          <p:nvPr/>
        </p:nvSpPr>
        <p:spPr>
          <a:xfrm>
            <a:off x="411480" y="292608"/>
            <a:ext cx="384048"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Yu Gothic" pitchFamily="34" charset="0"/>
                <a:ea typeface="Yu Gothic" pitchFamily="34" charset="-122"/>
                <a:cs typeface="Yu Gothic" pitchFamily="34" charset="-120"/>
              </a:rPr>
              <a:t>12</a:t>
            </a:r>
            <a:endParaRPr lang="en-US" sz="1200" dirty="0"/>
          </a:p>
        </p:txBody>
      </p:sp>
      <p:sp>
        <p:nvSpPr>
          <p:cNvPr id="4" name="Text 2"/>
          <p:cNvSpPr/>
          <p:nvPr/>
        </p:nvSpPr>
        <p:spPr>
          <a:xfrm>
            <a:off x="896112" y="274320"/>
            <a:ext cx="10881360" cy="292608"/>
          </a:xfrm>
          <a:prstGeom prst="rect">
            <a:avLst/>
          </a:prstGeom>
          <a:noFill/>
          <a:ln/>
        </p:spPr>
        <p:txBody>
          <a:bodyPr wrap="square" lIns="0" tIns="0" rIns="0" bIns="0" rtlCol="0" anchor="ctr"/>
          <a:lstStyle/>
          <a:p>
            <a:pPr marL="0" indent="0">
              <a:buNone/>
            </a:pPr>
            <a:r>
              <a:rPr lang="en-US" sz="1700" b="1" dirty="0">
                <a:solidFill>
                  <a:srgbClr val="1A1A1A"/>
                </a:solidFill>
                <a:latin typeface="Yu Gothic" pitchFamily="34" charset="0"/>
                <a:ea typeface="Yu Gothic" pitchFamily="34" charset="-122"/>
                <a:cs typeface="Yu Gothic" pitchFamily="34" charset="-120"/>
              </a:rPr>
              <a:t>本レポートで検証する 2つの論点</a:t>
            </a:r>
            <a:endParaRPr lang="en-US" sz="1700" dirty="0"/>
          </a:p>
        </p:txBody>
      </p:sp>
      <p:sp>
        <p:nvSpPr>
          <p:cNvPr id="5" name="Text 3"/>
          <p:cNvSpPr/>
          <p:nvPr/>
        </p:nvSpPr>
        <p:spPr>
          <a:xfrm>
            <a:off x="429768" y="621792"/>
            <a:ext cx="11338560" cy="384048"/>
          </a:xfrm>
          <a:prstGeom prst="rect">
            <a:avLst/>
          </a:prstGeom>
          <a:noFill/>
          <a:ln/>
        </p:spPr>
        <p:txBody>
          <a:bodyPr wrap="square" lIns="0" tIns="0" rIns="0" bIns="0" rtlCol="0" anchor="ctr"/>
          <a:lstStyle/>
          <a:p>
            <a:pPr marL="0" indent="0">
              <a:lnSpc>
                <a:spcPts val="1400"/>
              </a:lnSpc>
              <a:buNone/>
            </a:pPr>
            <a:r>
              <a:rPr lang="en-US" sz="950" dirty="0">
                <a:solidFill>
                  <a:srgbClr val="767676"/>
                </a:solidFill>
                <a:latin typeface="Yu Gothic" pitchFamily="34" charset="0"/>
                <a:ea typeface="Yu Gothic" pitchFamily="34" charset="-122"/>
                <a:cs typeface="Yu Gothic" pitchFamily="34" charset="-120"/>
              </a:rPr>
              <a:t>ドコモCS関西・野尻課長よりご提示いただいた2つの切り口について、6月4w〜7月4wの全稼働週データおよび7月関西イベント全部隊のデータを用いて検証しました。</a:t>
            </a:r>
            <a:endParaRPr lang="en-US" sz="950" dirty="0"/>
          </a:p>
        </p:txBody>
      </p:sp>
      <p:sp>
        <p:nvSpPr>
          <p:cNvPr id="6" name="Shape 4"/>
          <p:cNvSpPr/>
          <p:nvPr/>
        </p:nvSpPr>
        <p:spPr>
          <a:xfrm>
            <a:off x="411480" y="1060704"/>
            <a:ext cx="11384280" cy="0"/>
          </a:xfrm>
          <a:prstGeom prst="line">
            <a:avLst/>
          </a:prstGeom>
          <a:noFill/>
          <a:ln w="9525">
            <a:solidFill>
              <a:srgbClr val="E0E0E0"/>
            </a:solidFill>
            <a:prstDash val="solid"/>
          </a:ln>
        </p:spPr>
        <p:txBody>
          <a:bodyPr/>
          <a:lstStyle/>
          <a:p>
            <a:endParaRPr lang="ja-JP" altLang="en-US"/>
          </a:p>
        </p:txBody>
      </p:sp>
      <p:sp>
        <p:nvSpPr>
          <p:cNvPr id="7" name="Text 5"/>
          <p:cNvSpPr/>
          <p:nvPr/>
        </p:nvSpPr>
        <p:spPr>
          <a:xfrm>
            <a:off x="411480" y="1207008"/>
            <a:ext cx="5532120" cy="274320"/>
          </a:xfrm>
          <a:prstGeom prst="rect">
            <a:avLst/>
          </a:prstGeom>
          <a:noFill/>
          <a:ln/>
        </p:spPr>
        <p:txBody>
          <a:bodyPr wrap="square" lIns="0" tIns="0" rIns="0" bIns="0" rtlCol="0" anchor="ctr"/>
          <a:lstStyle/>
          <a:p>
            <a:pPr marL="0" indent="0">
              <a:buNone/>
            </a:pPr>
            <a:r>
              <a:rPr lang="en-US" sz="1100" b="1" dirty="0">
                <a:solidFill>
                  <a:srgbClr val="CC0000"/>
                </a:solidFill>
                <a:latin typeface="Yu Gothic" pitchFamily="34" charset="0"/>
                <a:ea typeface="Yu Gothic" pitchFamily="34" charset="-122"/>
                <a:cs typeface="Yu Gothic" pitchFamily="34" charset="-120"/>
              </a:rPr>
              <a:t>論点 1 ／ 事前入店は店舗協力値を作り、当週の総販を押し上げているか</a:t>
            </a:r>
            <a:endParaRPr lang="en-US" sz="1100" dirty="0"/>
          </a:p>
        </p:txBody>
      </p:sp>
      <p:sp>
        <p:nvSpPr>
          <p:cNvPr id="8" name="Shape 6"/>
          <p:cNvSpPr/>
          <p:nvPr/>
        </p:nvSpPr>
        <p:spPr>
          <a:xfrm>
            <a:off x="411480" y="1536192"/>
            <a:ext cx="5532120" cy="932688"/>
          </a:xfrm>
          <a:prstGeom prst="rect">
            <a:avLst/>
          </a:prstGeom>
          <a:solidFill>
            <a:srgbClr val="F7F7F7"/>
          </a:solidFill>
          <a:ln/>
        </p:spPr>
        <p:txBody>
          <a:bodyPr/>
          <a:lstStyle/>
          <a:p>
            <a:endParaRPr lang="ja-JP" altLang="en-US"/>
          </a:p>
        </p:txBody>
      </p:sp>
      <p:sp>
        <p:nvSpPr>
          <p:cNvPr id="9" name="Text 7"/>
          <p:cNvSpPr/>
          <p:nvPr/>
        </p:nvSpPr>
        <p:spPr>
          <a:xfrm>
            <a:off x="566928" y="1627632"/>
            <a:ext cx="5212080" cy="768096"/>
          </a:xfrm>
          <a:prstGeom prst="rect">
            <a:avLst/>
          </a:prstGeom>
          <a:noFill/>
          <a:ln/>
        </p:spPr>
        <p:txBody>
          <a:bodyPr wrap="square" lIns="0" tIns="0" rIns="0" bIns="0" rtlCol="0" anchor="t"/>
          <a:lstStyle/>
          <a:p>
            <a:pPr marL="0" indent="0">
              <a:lnSpc>
                <a:spcPts val="1500"/>
              </a:lnSpc>
              <a:buNone/>
            </a:pPr>
            <a:r>
              <a:rPr lang="en-US" sz="950" dirty="0">
                <a:solidFill>
                  <a:srgbClr val="1A1A1A"/>
                </a:solidFill>
                <a:latin typeface="Yu Gothic" pitchFamily="34" charset="0"/>
                <a:ea typeface="Yu Gothic" pitchFamily="34" charset="-122"/>
                <a:cs typeface="Yu Gothic" pitchFamily="34" charset="-120"/>
              </a:rPr>
              <a:t>検証結果：仮説は支持された。事前入店でイベントを実施した4週はすべて店舗協力値〇、未実施の2週はすべて△。例外なし。</a:t>
            </a:r>
            <a:endParaRPr lang="en-US" sz="950" dirty="0"/>
          </a:p>
        </p:txBody>
      </p:sp>
      <p:sp>
        <p:nvSpPr>
          <p:cNvPr id="10" name="Text 8"/>
          <p:cNvSpPr/>
          <p:nvPr/>
        </p:nvSpPr>
        <p:spPr>
          <a:xfrm>
            <a:off x="6263640" y="1207008"/>
            <a:ext cx="5532120" cy="274320"/>
          </a:xfrm>
          <a:prstGeom prst="rect">
            <a:avLst/>
          </a:prstGeom>
          <a:noFill/>
          <a:ln/>
        </p:spPr>
        <p:txBody>
          <a:bodyPr wrap="square" lIns="0" tIns="0" rIns="0" bIns="0" rtlCol="0" anchor="ctr"/>
          <a:lstStyle/>
          <a:p>
            <a:pPr marL="0" indent="0">
              <a:buNone/>
            </a:pPr>
            <a:r>
              <a:rPr lang="en-US" sz="1100" b="1" dirty="0">
                <a:solidFill>
                  <a:srgbClr val="CC0000"/>
                </a:solidFill>
                <a:latin typeface="Yu Gothic" pitchFamily="34" charset="0"/>
                <a:ea typeface="Yu Gothic" pitchFamily="34" charset="-122"/>
                <a:cs typeface="Yu Gothic" pitchFamily="34" charset="-120"/>
              </a:rPr>
              <a:t>論点 2 ／ 特販がイベントに入る価値はどこにあるか</a:t>
            </a:r>
            <a:endParaRPr lang="en-US" sz="1100" dirty="0"/>
          </a:p>
        </p:txBody>
      </p:sp>
      <p:sp>
        <p:nvSpPr>
          <p:cNvPr id="11" name="Shape 9"/>
          <p:cNvSpPr/>
          <p:nvPr/>
        </p:nvSpPr>
        <p:spPr>
          <a:xfrm>
            <a:off x="6263640" y="1536192"/>
            <a:ext cx="5532120" cy="932688"/>
          </a:xfrm>
          <a:prstGeom prst="rect">
            <a:avLst/>
          </a:prstGeom>
          <a:solidFill>
            <a:srgbClr val="F7F7F7"/>
          </a:solidFill>
          <a:ln/>
        </p:spPr>
        <p:txBody>
          <a:bodyPr/>
          <a:lstStyle/>
          <a:p>
            <a:endParaRPr lang="ja-JP" altLang="en-US"/>
          </a:p>
        </p:txBody>
      </p:sp>
      <p:sp>
        <p:nvSpPr>
          <p:cNvPr id="12" name="Text 10"/>
          <p:cNvSpPr/>
          <p:nvPr/>
        </p:nvSpPr>
        <p:spPr>
          <a:xfrm>
            <a:off x="6419088" y="1627632"/>
            <a:ext cx="5212080" cy="768096"/>
          </a:xfrm>
          <a:prstGeom prst="rect">
            <a:avLst/>
          </a:prstGeom>
          <a:noFill/>
          <a:ln/>
        </p:spPr>
        <p:txBody>
          <a:bodyPr wrap="square" lIns="0" tIns="0" rIns="0" bIns="0" rtlCol="0" anchor="t"/>
          <a:lstStyle/>
          <a:p>
            <a:pPr marL="0" indent="0">
              <a:lnSpc>
                <a:spcPts val="1500"/>
              </a:lnSpc>
              <a:buNone/>
            </a:pPr>
            <a:r>
              <a:rPr lang="en-US" sz="950" dirty="0">
                <a:solidFill>
                  <a:srgbClr val="1A1A1A"/>
                </a:solidFill>
                <a:latin typeface="Yu Gothic" pitchFamily="34" charset="0"/>
                <a:ea typeface="Yu Gothic" pitchFamily="34" charset="-122"/>
                <a:cs typeface="Yu Gothic" pitchFamily="34" charset="-120"/>
              </a:rPr>
              <a:t>検証結果：PI・イエナカは量でも達成率でも下位。一方で取替・純新規は達成率で上位3割に入る。役割が異なる。</a:t>
            </a:r>
            <a:endParaRPr lang="en-US" sz="950" dirty="0"/>
          </a:p>
        </p:txBody>
      </p:sp>
      <p:sp>
        <p:nvSpPr>
          <p:cNvPr id="13" name="Shape 11"/>
          <p:cNvSpPr/>
          <p:nvPr/>
        </p:nvSpPr>
        <p:spPr>
          <a:xfrm>
            <a:off x="411480" y="2697480"/>
            <a:ext cx="2743200" cy="1024128"/>
          </a:xfrm>
          <a:prstGeom prst="rect">
            <a:avLst/>
          </a:prstGeom>
          <a:solidFill>
            <a:srgbClr val="FDF0F0"/>
          </a:solidFill>
          <a:ln w="9525">
            <a:solidFill>
              <a:srgbClr val="F4CFCF"/>
            </a:solidFill>
            <a:prstDash val="solid"/>
          </a:ln>
        </p:spPr>
        <p:txBody>
          <a:bodyPr/>
          <a:lstStyle/>
          <a:p>
            <a:endParaRPr lang="ja-JP" altLang="en-US"/>
          </a:p>
        </p:txBody>
      </p:sp>
      <p:sp>
        <p:nvSpPr>
          <p:cNvPr id="14" name="Text 12"/>
          <p:cNvSpPr/>
          <p:nvPr/>
        </p:nvSpPr>
        <p:spPr>
          <a:xfrm>
            <a:off x="557784" y="2770632"/>
            <a:ext cx="2450592" cy="219456"/>
          </a:xfrm>
          <a:prstGeom prst="rect">
            <a:avLst/>
          </a:prstGeom>
          <a:noFill/>
          <a:ln/>
        </p:spPr>
        <p:txBody>
          <a:bodyPr wrap="square" lIns="0" tIns="0" rIns="0" bIns="0" rtlCol="0" anchor="ctr"/>
          <a:lstStyle/>
          <a:p>
            <a:pPr marL="0" indent="0">
              <a:buNone/>
            </a:pPr>
            <a:r>
              <a:rPr lang="en-US" sz="850" b="1" dirty="0">
                <a:solidFill>
                  <a:srgbClr val="CC0000"/>
                </a:solidFill>
                <a:latin typeface="Yu Gothic" pitchFamily="34" charset="0"/>
                <a:ea typeface="Yu Gothic" pitchFamily="34" charset="-122"/>
                <a:cs typeface="Yu Gothic" pitchFamily="34" charset="-120"/>
              </a:rPr>
              <a:t>事前入店イベント 実施週</a:t>
            </a:r>
            <a:endParaRPr lang="en-US" sz="850" dirty="0"/>
          </a:p>
        </p:txBody>
      </p:sp>
      <p:sp>
        <p:nvSpPr>
          <p:cNvPr id="15" name="Text 13"/>
          <p:cNvSpPr/>
          <p:nvPr/>
        </p:nvSpPr>
        <p:spPr>
          <a:xfrm>
            <a:off x="557784" y="2971800"/>
            <a:ext cx="2450592" cy="384048"/>
          </a:xfrm>
          <a:prstGeom prst="rect">
            <a:avLst/>
          </a:prstGeom>
          <a:noFill/>
          <a:ln/>
        </p:spPr>
        <p:txBody>
          <a:bodyPr wrap="square" lIns="0" tIns="0" rIns="0" bIns="0" rtlCol="0" anchor="ctr"/>
          <a:lstStyle/>
          <a:p>
            <a:pPr marL="0" indent="0">
              <a:buNone/>
            </a:pPr>
            <a:r>
              <a:rPr lang="en-US" sz="2100" b="1" dirty="0">
                <a:solidFill>
                  <a:srgbClr val="1A1A1A"/>
                </a:solidFill>
                <a:latin typeface="Yu Gothic" pitchFamily="34" charset="0"/>
                <a:ea typeface="Yu Gothic" pitchFamily="34" charset="-122"/>
                <a:cs typeface="Yu Gothic" pitchFamily="34" charset="-120"/>
              </a:rPr>
              <a:t>115%</a:t>
            </a:r>
            <a:endParaRPr lang="en-US" sz="2100" dirty="0"/>
          </a:p>
        </p:txBody>
      </p:sp>
      <p:sp>
        <p:nvSpPr>
          <p:cNvPr id="16" name="Text 14"/>
          <p:cNvSpPr/>
          <p:nvPr/>
        </p:nvSpPr>
        <p:spPr>
          <a:xfrm>
            <a:off x="557784" y="3374136"/>
            <a:ext cx="2450592" cy="292608"/>
          </a:xfrm>
          <a:prstGeom prst="rect">
            <a:avLst/>
          </a:prstGeom>
          <a:noFill/>
          <a:ln/>
        </p:spPr>
        <p:txBody>
          <a:bodyPr wrap="square" lIns="0" tIns="0" rIns="0" bIns="0" rtlCol="0" anchor="ctr"/>
          <a:lstStyle/>
          <a:p>
            <a:pPr marL="0" indent="0">
              <a:lnSpc>
                <a:spcPts val="1100"/>
              </a:lnSpc>
              <a:buNone/>
            </a:pPr>
            <a:r>
              <a:rPr lang="en-US" sz="800" dirty="0">
                <a:solidFill>
                  <a:srgbClr val="767676"/>
                </a:solidFill>
                <a:latin typeface="Yu Gothic" pitchFamily="34" charset="0"/>
                <a:ea typeface="Yu Gothic" pitchFamily="34" charset="-122"/>
                <a:cs typeface="Yu Gothic" pitchFamily="34" charset="-120"/>
              </a:rPr>
              <a:t>平均PI達成率／東大阪100・加古川135・宝塚109</a:t>
            </a:r>
            <a:endParaRPr lang="en-US" sz="800" dirty="0"/>
          </a:p>
        </p:txBody>
      </p:sp>
      <p:sp>
        <p:nvSpPr>
          <p:cNvPr id="17" name="Shape 15"/>
          <p:cNvSpPr/>
          <p:nvPr/>
        </p:nvSpPr>
        <p:spPr>
          <a:xfrm>
            <a:off x="3319272" y="2697480"/>
            <a:ext cx="2743200" cy="1024128"/>
          </a:xfrm>
          <a:prstGeom prst="rect">
            <a:avLst/>
          </a:prstGeom>
          <a:solidFill>
            <a:srgbClr val="FDF0F0"/>
          </a:solidFill>
          <a:ln w="9525">
            <a:solidFill>
              <a:srgbClr val="F4CFCF"/>
            </a:solidFill>
            <a:prstDash val="solid"/>
          </a:ln>
        </p:spPr>
        <p:txBody>
          <a:bodyPr/>
          <a:lstStyle/>
          <a:p>
            <a:endParaRPr lang="ja-JP" altLang="en-US"/>
          </a:p>
        </p:txBody>
      </p:sp>
      <p:sp>
        <p:nvSpPr>
          <p:cNvPr id="18" name="Text 16"/>
          <p:cNvSpPr/>
          <p:nvPr/>
        </p:nvSpPr>
        <p:spPr>
          <a:xfrm>
            <a:off x="3465576" y="2770632"/>
            <a:ext cx="2450592" cy="219456"/>
          </a:xfrm>
          <a:prstGeom prst="rect">
            <a:avLst/>
          </a:prstGeom>
          <a:noFill/>
          <a:ln/>
        </p:spPr>
        <p:txBody>
          <a:bodyPr wrap="square" lIns="0" tIns="0" rIns="0" bIns="0" rtlCol="0" anchor="ctr"/>
          <a:lstStyle/>
          <a:p>
            <a:pPr marL="0" indent="0">
              <a:buNone/>
            </a:pPr>
            <a:r>
              <a:rPr lang="en-US" sz="850" b="1" dirty="0">
                <a:solidFill>
                  <a:srgbClr val="CC0000"/>
                </a:solidFill>
                <a:latin typeface="Yu Gothic" pitchFamily="34" charset="0"/>
                <a:ea typeface="Yu Gothic" pitchFamily="34" charset="-122"/>
                <a:cs typeface="Yu Gothic" pitchFamily="34" charset="-120"/>
              </a:rPr>
              <a:t>事前入店イベント 未実施週</a:t>
            </a:r>
            <a:endParaRPr lang="en-US" sz="850" dirty="0"/>
          </a:p>
        </p:txBody>
      </p:sp>
      <p:sp>
        <p:nvSpPr>
          <p:cNvPr id="19" name="Text 17"/>
          <p:cNvSpPr/>
          <p:nvPr/>
        </p:nvSpPr>
        <p:spPr>
          <a:xfrm>
            <a:off x="3465576" y="2971800"/>
            <a:ext cx="2450592" cy="384048"/>
          </a:xfrm>
          <a:prstGeom prst="rect">
            <a:avLst/>
          </a:prstGeom>
          <a:noFill/>
          <a:ln/>
        </p:spPr>
        <p:txBody>
          <a:bodyPr wrap="square" lIns="0" tIns="0" rIns="0" bIns="0" rtlCol="0" anchor="ctr"/>
          <a:lstStyle/>
          <a:p>
            <a:pPr marL="0" indent="0">
              <a:buNone/>
            </a:pPr>
            <a:r>
              <a:rPr lang="en-US" sz="2100" b="1" dirty="0">
                <a:solidFill>
                  <a:srgbClr val="1A1A1A"/>
                </a:solidFill>
                <a:latin typeface="Yu Gothic" pitchFamily="34" charset="0"/>
                <a:ea typeface="Yu Gothic" pitchFamily="34" charset="-122"/>
                <a:cs typeface="Yu Gothic" pitchFamily="34" charset="-120"/>
              </a:rPr>
              <a:t>70%</a:t>
            </a:r>
            <a:endParaRPr lang="en-US" sz="2100" dirty="0"/>
          </a:p>
        </p:txBody>
      </p:sp>
      <p:sp>
        <p:nvSpPr>
          <p:cNvPr id="20" name="Text 18"/>
          <p:cNvSpPr/>
          <p:nvPr/>
        </p:nvSpPr>
        <p:spPr>
          <a:xfrm>
            <a:off x="3465576" y="3374136"/>
            <a:ext cx="2450592" cy="292608"/>
          </a:xfrm>
          <a:prstGeom prst="rect">
            <a:avLst/>
          </a:prstGeom>
          <a:noFill/>
          <a:ln/>
        </p:spPr>
        <p:txBody>
          <a:bodyPr wrap="square" lIns="0" tIns="0" rIns="0" bIns="0" rtlCol="0" anchor="ctr"/>
          <a:lstStyle/>
          <a:p>
            <a:pPr marL="0" indent="0">
              <a:lnSpc>
                <a:spcPts val="1100"/>
              </a:lnSpc>
              <a:buNone/>
            </a:pPr>
            <a:r>
              <a:rPr lang="en-US" sz="800" dirty="0">
                <a:solidFill>
                  <a:srgbClr val="767676"/>
                </a:solidFill>
                <a:latin typeface="Yu Gothic" pitchFamily="34" charset="0"/>
                <a:ea typeface="Yu Gothic" pitchFamily="34" charset="-122"/>
                <a:cs typeface="Yu Gothic" pitchFamily="34" charset="-120"/>
              </a:rPr>
              <a:t>平均PI達成率／平野85・三田55　差 −45pt</a:t>
            </a:r>
            <a:endParaRPr lang="en-US" sz="800" dirty="0"/>
          </a:p>
        </p:txBody>
      </p:sp>
      <p:sp>
        <p:nvSpPr>
          <p:cNvPr id="21" name="Shape 19"/>
          <p:cNvSpPr/>
          <p:nvPr/>
        </p:nvSpPr>
        <p:spPr>
          <a:xfrm>
            <a:off x="6227064" y="2697480"/>
            <a:ext cx="2743200" cy="1024128"/>
          </a:xfrm>
          <a:prstGeom prst="rect">
            <a:avLst/>
          </a:prstGeom>
          <a:solidFill>
            <a:srgbClr val="FDF0F0"/>
          </a:solidFill>
          <a:ln w="9525">
            <a:solidFill>
              <a:srgbClr val="F4CFCF"/>
            </a:solidFill>
            <a:prstDash val="solid"/>
          </a:ln>
        </p:spPr>
        <p:txBody>
          <a:bodyPr/>
          <a:lstStyle/>
          <a:p>
            <a:endParaRPr lang="ja-JP" altLang="en-US"/>
          </a:p>
        </p:txBody>
      </p:sp>
      <p:sp>
        <p:nvSpPr>
          <p:cNvPr id="22" name="Text 20"/>
          <p:cNvSpPr/>
          <p:nvPr/>
        </p:nvSpPr>
        <p:spPr>
          <a:xfrm>
            <a:off x="6373368" y="2770632"/>
            <a:ext cx="2450592" cy="219456"/>
          </a:xfrm>
          <a:prstGeom prst="rect">
            <a:avLst/>
          </a:prstGeom>
          <a:noFill/>
          <a:ln/>
        </p:spPr>
        <p:txBody>
          <a:bodyPr wrap="square" lIns="0" tIns="0" rIns="0" bIns="0" rtlCol="0" anchor="ctr"/>
          <a:lstStyle/>
          <a:p>
            <a:pPr marL="0" indent="0">
              <a:buNone/>
            </a:pPr>
            <a:r>
              <a:rPr lang="en-US" sz="850" b="1" dirty="0">
                <a:solidFill>
                  <a:srgbClr val="CC0000"/>
                </a:solidFill>
                <a:latin typeface="Yu Gothic" pitchFamily="34" charset="0"/>
                <a:ea typeface="Yu Gothic" pitchFamily="34" charset="-122"/>
                <a:cs typeface="Yu Gothic" pitchFamily="34" charset="-120"/>
              </a:rPr>
              <a:t>取替 月間達成率（全部隊内）</a:t>
            </a:r>
            <a:endParaRPr lang="en-US" sz="850" dirty="0"/>
          </a:p>
        </p:txBody>
      </p:sp>
      <p:sp>
        <p:nvSpPr>
          <p:cNvPr id="23" name="Text 21"/>
          <p:cNvSpPr/>
          <p:nvPr/>
        </p:nvSpPr>
        <p:spPr>
          <a:xfrm>
            <a:off x="6373368" y="2971800"/>
            <a:ext cx="2450592" cy="384048"/>
          </a:xfrm>
          <a:prstGeom prst="rect">
            <a:avLst/>
          </a:prstGeom>
          <a:noFill/>
          <a:ln/>
        </p:spPr>
        <p:txBody>
          <a:bodyPr wrap="square" lIns="0" tIns="0" rIns="0" bIns="0" rtlCol="0" anchor="ctr"/>
          <a:lstStyle/>
          <a:p>
            <a:pPr marL="0" indent="0">
              <a:buNone/>
            </a:pPr>
            <a:r>
              <a:rPr lang="en-US" sz="2100" b="1" dirty="0">
                <a:solidFill>
                  <a:srgbClr val="1A1A1A"/>
                </a:solidFill>
                <a:latin typeface="Yu Gothic" pitchFamily="34" charset="0"/>
                <a:ea typeface="Yu Gothic" pitchFamily="34" charset="-122"/>
                <a:cs typeface="Yu Gothic" pitchFamily="34" charset="-120"/>
              </a:rPr>
              <a:t>上位29%</a:t>
            </a:r>
            <a:endParaRPr lang="en-US" sz="2100" dirty="0"/>
          </a:p>
        </p:txBody>
      </p:sp>
      <p:sp>
        <p:nvSpPr>
          <p:cNvPr id="24" name="Text 22"/>
          <p:cNvSpPr/>
          <p:nvPr/>
        </p:nvSpPr>
        <p:spPr>
          <a:xfrm>
            <a:off x="6373368" y="3374136"/>
            <a:ext cx="2450592" cy="292608"/>
          </a:xfrm>
          <a:prstGeom prst="rect">
            <a:avLst/>
          </a:prstGeom>
          <a:noFill/>
          <a:ln/>
        </p:spPr>
        <p:txBody>
          <a:bodyPr wrap="square" lIns="0" tIns="0" rIns="0" bIns="0" rtlCol="0" anchor="ctr"/>
          <a:lstStyle/>
          <a:p>
            <a:pPr marL="0" indent="0">
              <a:lnSpc>
                <a:spcPts val="1100"/>
              </a:lnSpc>
              <a:buNone/>
            </a:pPr>
            <a:r>
              <a:rPr lang="en-US" sz="800" dirty="0">
                <a:solidFill>
                  <a:srgbClr val="767676"/>
                </a:solidFill>
                <a:latin typeface="Yu Gothic" pitchFamily="34" charset="0"/>
                <a:ea typeface="Yu Gothic" pitchFamily="34" charset="-122"/>
                <a:cs typeface="Yu Gothic" pitchFamily="34" charset="-120"/>
              </a:rPr>
              <a:t>105.6%　79社中23位。全部隊中央値80.9%</a:t>
            </a:r>
            <a:endParaRPr lang="en-US" sz="800" dirty="0"/>
          </a:p>
        </p:txBody>
      </p:sp>
      <p:sp>
        <p:nvSpPr>
          <p:cNvPr id="25" name="Shape 23"/>
          <p:cNvSpPr/>
          <p:nvPr/>
        </p:nvSpPr>
        <p:spPr>
          <a:xfrm>
            <a:off x="9134856" y="2697480"/>
            <a:ext cx="2660904" cy="1024128"/>
          </a:xfrm>
          <a:prstGeom prst="rect">
            <a:avLst/>
          </a:prstGeom>
          <a:solidFill>
            <a:srgbClr val="FDF0F0"/>
          </a:solidFill>
          <a:ln w="9525">
            <a:solidFill>
              <a:srgbClr val="F4CFCF"/>
            </a:solidFill>
            <a:prstDash val="solid"/>
          </a:ln>
        </p:spPr>
        <p:txBody>
          <a:bodyPr/>
          <a:lstStyle/>
          <a:p>
            <a:endParaRPr lang="ja-JP" altLang="en-US"/>
          </a:p>
        </p:txBody>
      </p:sp>
      <p:sp>
        <p:nvSpPr>
          <p:cNvPr id="26" name="Text 24"/>
          <p:cNvSpPr/>
          <p:nvPr/>
        </p:nvSpPr>
        <p:spPr>
          <a:xfrm>
            <a:off x="9281160" y="2770632"/>
            <a:ext cx="2368296" cy="219456"/>
          </a:xfrm>
          <a:prstGeom prst="rect">
            <a:avLst/>
          </a:prstGeom>
          <a:noFill/>
          <a:ln/>
        </p:spPr>
        <p:txBody>
          <a:bodyPr wrap="square" lIns="0" tIns="0" rIns="0" bIns="0" rtlCol="0" anchor="ctr"/>
          <a:lstStyle/>
          <a:p>
            <a:pPr marL="0" indent="0">
              <a:buNone/>
            </a:pPr>
            <a:r>
              <a:rPr lang="en-US" sz="850" b="1" dirty="0">
                <a:solidFill>
                  <a:srgbClr val="CC0000"/>
                </a:solidFill>
                <a:latin typeface="Yu Gothic" pitchFamily="34" charset="0"/>
                <a:ea typeface="Yu Gothic" pitchFamily="34" charset="-122"/>
                <a:cs typeface="Yu Gothic" pitchFamily="34" charset="-120"/>
              </a:rPr>
              <a:t>PI 月間達成率（全部隊内）</a:t>
            </a:r>
            <a:endParaRPr lang="en-US" sz="850" dirty="0"/>
          </a:p>
        </p:txBody>
      </p:sp>
      <p:sp>
        <p:nvSpPr>
          <p:cNvPr id="27" name="Text 25"/>
          <p:cNvSpPr/>
          <p:nvPr/>
        </p:nvSpPr>
        <p:spPr>
          <a:xfrm>
            <a:off x="9281160" y="2971800"/>
            <a:ext cx="2368296" cy="384048"/>
          </a:xfrm>
          <a:prstGeom prst="rect">
            <a:avLst/>
          </a:prstGeom>
          <a:noFill/>
          <a:ln/>
        </p:spPr>
        <p:txBody>
          <a:bodyPr wrap="square" lIns="0" tIns="0" rIns="0" bIns="0" rtlCol="0" anchor="ctr"/>
          <a:lstStyle/>
          <a:p>
            <a:pPr marL="0" indent="0">
              <a:buNone/>
            </a:pPr>
            <a:r>
              <a:rPr lang="en-US" sz="2100" b="1" dirty="0">
                <a:solidFill>
                  <a:srgbClr val="1A1A1A"/>
                </a:solidFill>
                <a:latin typeface="Yu Gothic" pitchFamily="34" charset="0"/>
                <a:ea typeface="Yu Gothic" pitchFamily="34" charset="-122"/>
                <a:cs typeface="Yu Gothic" pitchFamily="34" charset="-120"/>
              </a:rPr>
              <a:t>下位</a:t>
            </a:r>
            <a:endParaRPr lang="en-US" sz="2100" dirty="0"/>
          </a:p>
        </p:txBody>
      </p:sp>
      <p:sp>
        <p:nvSpPr>
          <p:cNvPr id="28" name="Text 26"/>
          <p:cNvSpPr/>
          <p:nvPr/>
        </p:nvSpPr>
        <p:spPr>
          <a:xfrm>
            <a:off x="9281160" y="3374136"/>
            <a:ext cx="2368296" cy="292608"/>
          </a:xfrm>
          <a:prstGeom prst="rect">
            <a:avLst/>
          </a:prstGeom>
          <a:noFill/>
          <a:ln/>
        </p:spPr>
        <p:txBody>
          <a:bodyPr wrap="square" lIns="0" tIns="0" rIns="0" bIns="0" rtlCol="0" anchor="ctr"/>
          <a:lstStyle/>
          <a:p>
            <a:pPr marL="0" indent="0">
              <a:lnSpc>
                <a:spcPts val="1100"/>
              </a:lnSpc>
              <a:buNone/>
            </a:pPr>
            <a:r>
              <a:rPr lang="en-US" sz="800" dirty="0">
                <a:solidFill>
                  <a:srgbClr val="767676"/>
                </a:solidFill>
                <a:latin typeface="Yu Gothic" pitchFamily="34" charset="0"/>
                <a:ea typeface="Yu Gothic" pitchFamily="34" charset="-122"/>
                <a:cs typeface="Yu Gothic" pitchFamily="34" charset="-120"/>
              </a:rPr>
              <a:t>90.8%　81社中66位。全部隊中央値104.6%</a:t>
            </a:r>
            <a:endParaRPr lang="en-US" sz="800" dirty="0"/>
          </a:p>
        </p:txBody>
      </p:sp>
      <p:sp>
        <p:nvSpPr>
          <p:cNvPr id="29" name="Shape 27"/>
          <p:cNvSpPr/>
          <p:nvPr/>
        </p:nvSpPr>
        <p:spPr>
          <a:xfrm>
            <a:off x="411480" y="3977640"/>
            <a:ext cx="3657600" cy="2212848"/>
          </a:xfrm>
          <a:prstGeom prst="rect">
            <a:avLst/>
          </a:prstGeom>
          <a:solidFill>
            <a:srgbClr val="FFFFFF"/>
          </a:solidFill>
          <a:ln w="9525">
            <a:solidFill>
              <a:srgbClr val="E0E0E0"/>
            </a:solidFill>
            <a:prstDash val="solid"/>
          </a:ln>
        </p:spPr>
        <p:txBody>
          <a:bodyPr/>
          <a:lstStyle/>
          <a:p>
            <a:endParaRPr lang="ja-JP" altLang="en-US"/>
          </a:p>
        </p:txBody>
      </p:sp>
      <p:sp>
        <p:nvSpPr>
          <p:cNvPr id="30" name="Shape 28"/>
          <p:cNvSpPr/>
          <p:nvPr/>
        </p:nvSpPr>
        <p:spPr>
          <a:xfrm>
            <a:off x="411480" y="3977640"/>
            <a:ext cx="41148" cy="2212848"/>
          </a:xfrm>
          <a:prstGeom prst="rect">
            <a:avLst/>
          </a:prstGeom>
          <a:solidFill>
            <a:srgbClr val="CC0000"/>
          </a:solidFill>
          <a:ln/>
        </p:spPr>
        <p:txBody>
          <a:bodyPr/>
          <a:lstStyle/>
          <a:p>
            <a:endParaRPr lang="ja-JP" altLang="en-US"/>
          </a:p>
        </p:txBody>
      </p:sp>
      <p:sp>
        <p:nvSpPr>
          <p:cNvPr id="31" name="Text 29"/>
          <p:cNvSpPr/>
          <p:nvPr/>
        </p:nvSpPr>
        <p:spPr>
          <a:xfrm>
            <a:off x="576072" y="4069080"/>
            <a:ext cx="3346704" cy="237744"/>
          </a:xfrm>
          <a:prstGeom prst="rect">
            <a:avLst/>
          </a:prstGeom>
          <a:noFill/>
          <a:ln/>
        </p:spPr>
        <p:txBody>
          <a:bodyPr wrap="square" lIns="0" tIns="0" rIns="0" bIns="0" rtlCol="0" anchor="ctr"/>
          <a:lstStyle/>
          <a:p>
            <a:pPr marL="0" indent="0">
              <a:buNone/>
            </a:pPr>
            <a:r>
              <a:rPr lang="en-US" sz="1000" b="1" dirty="0">
                <a:solidFill>
                  <a:srgbClr val="1A1A1A"/>
                </a:solidFill>
                <a:latin typeface="Yu Gothic" pitchFamily="34" charset="0"/>
                <a:ea typeface="Yu Gothic" pitchFamily="34" charset="-122"/>
                <a:cs typeface="Yu Gothic" pitchFamily="34" charset="-120"/>
              </a:rPr>
              <a:t>① 事前入店の本質は「振り数」ではない</a:t>
            </a:r>
            <a:endParaRPr lang="en-US" sz="1000" dirty="0"/>
          </a:p>
        </p:txBody>
      </p:sp>
      <p:sp>
        <p:nvSpPr>
          <p:cNvPr id="32" name="Text 30"/>
          <p:cNvSpPr/>
          <p:nvPr/>
        </p:nvSpPr>
        <p:spPr>
          <a:xfrm>
            <a:off x="576072" y="4325112"/>
            <a:ext cx="3346704" cy="1755648"/>
          </a:xfrm>
          <a:prstGeom prst="rect">
            <a:avLst/>
          </a:prstGeom>
          <a:noFill/>
          <a:ln/>
        </p:spPr>
        <p:txBody>
          <a:bodyPr wrap="square" lIns="0" tIns="0" rIns="0" bIns="0" rtlCol="0" anchor="t"/>
          <a:lstStyle/>
          <a:p>
            <a:pPr marL="0" indent="0">
              <a:lnSpc>
                <a:spcPts val="1300"/>
              </a:lnSpc>
              <a:buNone/>
            </a:pPr>
            <a:r>
              <a:rPr lang="en-US" sz="850" dirty="0">
                <a:solidFill>
                  <a:srgbClr val="3A3A3A"/>
                </a:solidFill>
                <a:latin typeface="Yu Gothic" pitchFamily="34" charset="0"/>
                <a:ea typeface="Yu Gothic" pitchFamily="34" charset="-122"/>
                <a:cs typeface="Yu Gothic" pitchFamily="34" charset="-120"/>
              </a:rPr>
              <a:t>事前入店週の社員様からの振り数は0〜3件で、実施有無にかかわらず差がない。</a:t>
            </a:r>
            <a:endParaRPr lang="en-US" sz="850" dirty="0"/>
          </a:p>
          <a:p>
            <a:pPr marL="0" indent="0">
              <a:lnSpc>
                <a:spcPts val="1300"/>
              </a:lnSpc>
              <a:buNone/>
            </a:pPr>
            <a:endParaRPr lang="en-US" sz="850" dirty="0"/>
          </a:p>
          <a:p>
            <a:pPr marL="0" indent="0">
              <a:lnSpc>
                <a:spcPts val="1300"/>
              </a:lnSpc>
              <a:buNone/>
            </a:pPr>
            <a:r>
              <a:rPr lang="en-US" sz="850" dirty="0">
                <a:solidFill>
                  <a:srgbClr val="3A3A3A"/>
                </a:solidFill>
                <a:latin typeface="Yu Gothic" pitchFamily="34" charset="0"/>
                <a:ea typeface="Yu Gothic" pitchFamily="34" charset="-122"/>
                <a:cs typeface="Yu Gothic" pitchFamily="34" charset="-120"/>
              </a:rPr>
              <a:t>協力値を分けたのは、事前入店で実際に成果（PI 2〜6件）を出し、店舗様にその効果を体感いただけたかどうか。</a:t>
            </a:r>
            <a:endParaRPr lang="en-US" sz="850" dirty="0"/>
          </a:p>
          <a:p>
            <a:pPr marL="0" indent="0">
              <a:lnSpc>
                <a:spcPts val="1300"/>
              </a:lnSpc>
              <a:buNone/>
            </a:pPr>
            <a:endParaRPr lang="en-US" sz="850" dirty="0"/>
          </a:p>
          <a:p>
            <a:pPr marL="0" indent="0">
              <a:lnSpc>
                <a:spcPts val="1300"/>
              </a:lnSpc>
              <a:buNone/>
            </a:pPr>
            <a:r>
              <a:rPr lang="en-US" sz="850" dirty="0">
                <a:solidFill>
                  <a:srgbClr val="3A3A3A"/>
                </a:solidFill>
                <a:latin typeface="Yu Gothic" pitchFamily="34" charset="0"/>
                <a:ea typeface="Yu Gothic" pitchFamily="34" charset="-122"/>
                <a:cs typeface="Yu Gothic" pitchFamily="34" charset="-120"/>
              </a:rPr>
              <a:t>成果を見せた店舗は、当週の振り・カットインが増える。</a:t>
            </a:r>
            <a:endParaRPr lang="en-US" sz="850" dirty="0"/>
          </a:p>
        </p:txBody>
      </p:sp>
      <p:sp>
        <p:nvSpPr>
          <p:cNvPr id="33" name="Shape 31"/>
          <p:cNvSpPr/>
          <p:nvPr/>
        </p:nvSpPr>
        <p:spPr>
          <a:xfrm>
            <a:off x="4233672" y="3977640"/>
            <a:ext cx="3657600" cy="2212848"/>
          </a:xfrm>
          <a:prstGeom prst="rect">
            <a:avLst/>
          </a:prstGeom>
          <a:solidFill>
            <a:srgbClr val="FFFFFF"/>
          </a:solidFill>
          <a:ln w="9525">
            <a:solidFill>
              <a:srgbClr val="E0E0E0"/>
            </a:solidFill>
            <a:prstDash val="solid"/>
          </a:ln>
        </p:spPr>
        <p:txBody>
          <a:bodyPr/>
          <a:lstStyle/>
          <a:p>
            <a:endParaRPr lang="ja-JP" altLang="en-US"/>
          </a:p>
        </p:txBody>
      </p:sp>
      <p:sp>
        <p:nvSpPr>
          <p:cNvPr id="34" name="Shape 32"/>
          <p:cNvSpPr/>
          <p:nvPr/>
        </p:nvSpPr>
        <p:spPr>
          <a:xfrm>
            <a:off x="4233672" y="3977640"/>
            <a:ext cx="41148" cy="2212848"/>
          </a:xfrm>
          <a:prstGeom prst="rect">
            <a:avLst/>
          </a:prstGeom>
          <a:solidFill>
            <a:srgbClr val="CC0000"/>
          </a:solidFill>
          <a:ln/>
        </p:spPr>
        <p:txBody>
          <a:bodyPr/>
          <a:lstStyle/>
          <a:p>
            <a:endParaRPr lang="ja-JP" altLang="en-US"/>
          </a:p>
        </p:txBody>
      </p:sp>
      <p:sp>
        <p:nvSpPr>
          <p:cNvPr id="35" name="Text 33"/>
          <p:cNvSpPr/>
          <p:nvPr/>
        </p:nvSpPr>
        <p:spPr>
          <a:xfrm>
            <a:off x="4398264" y="4069080"/>
            <a:ext cx="3346704" cy="237744"/>
          </a:xfrm>
          <a:prstGeom prst="rect">
            <a:avLst/>
          </a:prstGeom>
          <a:noFill/>
          <a:ln/>
        </p:spPr>
        <p:txBody>
          <a:bodyPr wrap="square" lIns="0" tIns="0" rIns="0" bIns="0" rtlCol="0" anchor="ctr"/>
          <a:lstStyle/>
          <a:p>
            <a:pPr marL="0" indent="0">
              <a:buNone/>
            </a:pPr>
            <a:r>
              <a:rPr lang="en-US" sz="1000" b="1" dirty="0">
                <a:solidFill>
                  <a:srgbClr val="1A1A1A"/>
                </a:solidFill>
                <a:latin typeface="Yu Gothic" pitchFamily="34" charset="0"/>
                <a:ea typeface="Yu Gothic" pitchFamily="34" charset="-122"/>
                <a:cs typeface="Yu Gothic" pitchFamily="34" charset="-120"/>
              </a:rPr>
              <a:t>② 量では、専門イベント部隊に及ばない</a:t>
            </a:r>
            <a:endParaRPr lang="en-US" sz="1000" dirty="0"/>
          </a:p>
        </p:txBody>
      </p:sp>
      <p:sp>
        <p:nvSpPr>
          <p:cNvPr id="36" name="Text 34"/>
          <p:cNvSpPr/>
          <p:nvPr/>
        </p:nvSpPr>
        <p:spPr>
          <a:xfrm>
            <a:off x="4398264" y="4325112"/>
            <a:ext cx="3346704" cy="1755648"/>
          </a:xfrm>
          <a:prstGeom prst="rect">
            <a:avLst/>
          </a:prstGeom>
          <a:noFill/>
          <a:ln/>
        </p:spPr>
        <p:txBody>
          <a:bodyPr wrap="square" lIns="0" tIns="0" rIns="0" bIns="0" rtlCol="0" anchor="t"/>
          <a:lstStyle/>
          <a:p>
            <a:pPr marL="0" indent="0">
              <a:lnSpc>
                <a:spcPts val="1300"/>
              </a:lnSpc>
              <a:buNone/>
            </a:pPr>
            <a:r>
              <a:rPr lang="en-US" sz="850" dirty="0">
                <a:solidFill>
                  <a:srgbClr val="3A3A3A"/>
                </a:solidFill>
                <a:latin typeface="Yu Gothic" pitchFamily="34" charset="0"/>
                <a:ea typeface="Yu Gothic" pitchFamily="34" charset="-122"/>
                <a:cs typeface="Yu Gothic" pitchFamily="34" charset="-120"/>
              </a:rPr>
              <a:t>4名体制でPI 11〜24件。全部隊の週次中央値は27.5〜40件。</a:t>
            </a:r>
            <a:endParaRPr lang="en-US" sz="850" dirty="0"/>
          </a:p>
          <a:p>
            <a:pPr marL="0" indent="0">
              <a:lnSpc>
                <a:spcPts val="1300"/>
              </a:lnSpc>
              <a:buNone/>
            </a:pPr>
            <a:endParaRPr lang="en-US" sz="850" dirty="0"/>
          </a:p>
          <a:p>
            <a:pPr marL="0" indent="0">
              <a:lnSpc>
                <a:spcPts val="1300"/>
              </a:lnSpc>
              <a:buNone/>
            </a:pPr>
            <a:r>
              <a:rPr lang="en-US" sz="850" dirty="0">
                <a:solidFill>
                  <a:srgbClr val="3A3A3A"/>
                </a:solidFill>
                <a:latin typeface="Yu Gothic" pitchFamily="34" charset="0"/>
                <a:ea typeface="Yu Gothic" pitchFamily="34" charset="-122"/>
                <a:cs typeface="Yu Gothic" pitchFamily="34" charset="-120"/>
              </a:rPr>
              <a:t>専門部隊は同じ週に最大106〜254件を出しており、絶対量での比較は成立しない。</a:t>
            </a:r>
            <a:endParaRPr lang="en-US" sz="850" dirty="0"/>
          </a:p>
          <a:p>
            <a:pPr marL="0" indent="0">
              <a:lnSpc>
                <a:spcPts val="1300"/>
              </a:lnSpc>
              <a:buNone/>
            </a:pPr>
            <a:endParaRPr lang="en-US" sz="850" dirty="0"/>
          </a:p>
          <a:p>
            <a:pPr marL="0" indent="0">
              <a:lnSpc>
                <a:spcPts val="1300"/>
              </a:lnSpc>
              <a:buNone/>
            </a:pPr>
            <a:r>
              <a:rPr lang="en-US" sz="850" dirty="0">
                <a:solidFill>
                  <a:srgbClr val="3A3A3A"/>
                </a:solidFill>
                <a:latin typeface="Yu Gothic" pitchFamily="34" charset="0"/>
                <a:ea typeface="Yu Gothic" pitchFamily="34" charset="-122"/>
                <a:cs typeface="Yu Gothic" pitchFamily="34" charset="-120"/>
              </a:rPr>
              <a:t>この差は体制と稼働日数の構造差である。</a:t>
            </a:r>
            <a:endParaRPr lang="en-US" sz="850" dirty="0"/>
          </a:p>
        </p:txBody>
      </p:sp>
      <p:sp>
        <p:nvSpPr>
          <p:cNvPr id="37" name="Shape 35"/>
          <p:cNvSpPr/>
          <p:nvPr/>
        </p:nvSpPr>
        <p:spPr>
          <a:xfrm>
            <a:off x="8055864" y="3977640"/>
            <a:ext cx="3739896" cy="2212848"/>
          </a:xfrm>
          <a:prstGeom prst="rect">
            <a:avLst/>
          </a:prstGeom>
          <a:solidFill>
            <a:srgbClr val="FFFFFF"/>
          </a:solidFill>
          <a:ln w="9525">
            <a:solidFill>
              <a:srgbClr val="E0E0E0"/>
            </a:solidFill>
            <a:prstDash val="solid"/>
          </a:ln>
        </p:spPr>
        <p:txBody>
          <a:bodyPr/>
          <a:lstStyle/>
          <a:p>
            <a:endParaRPr lang="ja-JP" altLang="en-US"/>
          </a:p>
        </p:txBody>
      </p:sp>
      <p:sp>
        <p:nvSpPr>
          <p:cNvPr id="38" name="Shape 36"/>
          <p:cNvSpPr/>
          <p:nvPr/>
        </p:nvSpPr>
        <p:spPr>
          <a:xfrm>
            <a:off x="8055864" y="3977640"/>
            <a:ext cx="41148" cy="2212848"/>
          </a:xfrm>
          <a:prstGeom prst="rect">
            <a:avLst/>
          </a:prstGeom>
          <a:solidFill>
            <a:srgbClr val="CC0000"/>
          </a:solidFill>
          <a:ln/>
        </p:spPr>
        <p:txBody>
          <a:bodyPr/>
          <a:lstStyle/>
          <a:p>
            <a:endParaRPr lang="ja-JP" altLang="en-US"/>
          </a:p>
        </p:txBody>
      </p:sp>
      <p:sp>
        <p:nvSpPr>
          <p:cNvPr id="39" name="Text 37"/>
          <p:cNvSpPr/>
          <p:nvPr/>
        </p:nvSpPr>
        <p:spPr>
          <a:xfrm>
            <a:off x="8220456" y="4069080"/>
            <a:ext cx="3429000" cy="237744"/>
          </a:xfrm>
          <a:prstGeom prst="rect">
            <a:avLst/>
          </a:prstGeom>
          <a:noFill/>
          <a:ln/>
        </p:spPr>
        <p:txBody>
          <a:bodyPr wrap="square" lIns="0" tIns="0" rIns="0" bIns="0" rtlCol="0" anchor="ctr"/>
          <a:lstStyle/>
          <a:p>
            <a:pPr marL="0" indent="0">
              <a:buNone/>
            </a:pPr>
            <a:r>
              <a:rPr lang="en-US" sz="1000" b="1" dirty="0">
                <a:solidFill>
                  <a:srgbClr val="1A1A1A"/>
                </a:solidFill>
                <a:latin typeface="Yu Gothic" pitchFamily="34" charset="0"/>
                <a:ea typeface="Yu Gothic" pitchFamily="34" charset="-122"/>
                <a:cs typeface="Yu Gothic" pitchFamily="34" charset="-120"/>
              </a:rPr>
              <a:t>③ 特販の強みは取替と純新規</a:t>
            </a:r>
            <a:endParaRPr lang="en-US" sz="1000" dirty="0"/>
          </a:p>
        </p:txBody>
      </p:sp>
      <p:sp>
        <p:nvSpPr>
          <p:cNvPr id="40" name="Text 38"/>
          <p:cNvSpPr/>
          <p:nvPr/>
        </p:nvSpPr>
        <p:spPr>
          <a:xfrm>
            <a:off x="8220456" y="4325112"/>
            <a:ext cx="3429000" cy="1755648"/>
          </a:xfrm>
          <a:prstGeom prst="rect">
            <a:avLst/>
          </a:prstGeom>
          <a:noFill/>
          <a:ln/>
        </p:spPr>
        <p:txBody>
          <a:bodyPr wrap="square" lIns="0" tIns="0" rIns="0" bIns="0" rtlCol="0" anchor="t"/>
          <a:lstStyle/>
          <a:p>
            <a:pPr marL="0" indent="0">
              <a:lnSpc>
                <a:spcPts val="1300"/>
              </a:lnSpc>
              <a:buNone/>
            </a:pPr>
            <a:r>
              <a:rPr lang="en-US" sz="850" dirty="0">
                <a:solidFill>
                  <a:srgbClr val="3A3A3A"/>
                </a:solidFill>
                <a:latin typeface="Yu Gothic" pitchFamily="34" charset="0"/>
                <a:ea typeface="Yu Gothic" pitchFamily="34" charset="-122"/>
                <a:cs typeface="Yu Gothic" pitchFamily="34" charset="-120"/>
              </a:rPr>
              <a:t>取替の月間達成率105.6%は、全部隊79社中23位。100%を超えたのは78社中24社のみ。</a:t>
            </a:r>
            <a:endParaRPr lang="en-US" sz="850" dirty="0"/>
          </a:p>
          <a:p>
            <a:pPr marL="0" indent="0">
              <a:lnSpc>
                <a:spcPts val="1300"/>
              </a:lnSpc>
              <a:buNone/>
            </a:pPr>
            <a:endParaRPr lang="en-US" sz="850" dirty="0"/>
          </a:p>
          <a:p>
            <a:pPr marL="0" indent="0">
              <a:lnSpc>
                <a:spcPts val="1300"/>
              </a:lnSpc>
              <a:buNone/>
            </a:pPr>
            <a:r>
              <a:rPr lang="en-US" sz="850" dirty="0">
                <a:solidFill>
                  <a:srgbClr val="3A3A3A"/>
                </a:solidFill>
                <a:latin typeface="Yu Gothic" pitchFamily="34" charset="0"/>
                <a:ea typeface="Yu Gothic" pitchFamily="34" charset="-122"/>
                <a:cs typeface="Yu Gothic" pitchFamily="34" charset="-120"/>
              </a:rPr>
              <a:t>純新規83.3%も71社中22位で中央値を13pt上回る。</a:t>
            </a:r>
            <a:endParaRPr lang="en-US" sz="850" dirty="0"/>
          </a:p>
          <a:p>
            <a:pPr marL="0" indent="0">
              <a:lnSpc>
                <a:spcPts val="1300"/>
              </a:lnSpc>
              <a:buNone/>
            </a:pPr>
            <a:endParaRPr lang="en-US" sz="850" dirty="0"/>
          </a:p>
          <a:p>
            <a:pPr marL="0" indent="0">
              <a:lnSpc>
                <a:spcPts val="1300"/>
              </a:lnSpc>
              <a:buNone/>
            </a:pPr>
            <a:r>
              <a:rPr lang="en-US" sz="850" dirty="0">
                <a:solidFill>
                  <a:srgbClr val="3A3A3A"/>
                </a:solidFill>
                <a:latin typeface="Yu Gothic" pitchFamily="34" charset="0"/>
                <a:ea typeface="Yu Gothic" pitchFamily="34" charset="-122"/>
                <a:cs typeface="Yu Gothic" pitchFamily="34" charset="-120"/>
              </a:rPr>
              <a:t>常駐だからこそ可能な顧客照会が、この差を生んでいる。</a:t>
            </a:r>
            <a:endParaRPr lang="en-US" sz="850" dirty="0"/>
          </a:p>
        </p:txBody>
      </p:sp>
      <p:sp>
        <p:nvSpPr>
          <p:cNvPr id="41" name="Shape 39"/>
          <p:cNvSpPr/>
          <p:nvPr/>
        </p:nvSpPr>
        <p:spPr>
          <a:xfrm>
            <a:off x="411480" y="6355080"/>
            <a:ext cx="11384280" cy="0"/>
          </a:xfrm>
          <a:prstGeom prst="line">
            <a:avLst/>
          </a:prstGeom>
          <a:noFill/>
          <a:ln w="9525">
            <a:solidFill>
              <a:srgbClr val="E0E0E0"/>
            </a:solidFill>
            <a:prstDash val="solid"/>
          </a:ln>
        </p:spPr>
        <p:txBody>
          <a:bodyPr/>
          <a:lstStyle/>
          <a:p>
            <a:endParaRPr lang="ja-JP" altLang="en-US"/>
          </a:p>
        </p:txBody>
      </p:sp>
      <p:sp>
        <p:nvSpPr>
          <p:cNvPr id="42" name="Text 40"/>
          <p:cNvSpPr/>
          <p:nvPr/>
        </p:nvSpPr>
        <p:spPr>
          <a:xfrm>
            <a:off x="411480" y="6400800"/>
            <a:ext cx="8778240" cy="274320"/>
          </a:xfrm>
          <a:prstGeom prst="rect">
            <a:avLst/>
          </a:prstGeom>
          <a:noFill/>
          <a:ln/>
        </p:spPr>
        <p:txBody>
          <a:bodyPr wrap="square" lIns="0" tIns="0" rIns="0" bIns="0" rtlCol="0" anchor="ctr"/>
          <a:lstStyle/>
          <a:p>
            <a:pPr marL="0" indent="0">
              <a:buNone/>
            </a:pPr>
            <a:r>
              <a:rPr lang="en-US" sz="750" dirty="0">
                <a:solidFill>
                  <a:srgbClr val="767676"/>
                </a:solidFill>
                <a:latin typeface="Yu Gothic" pitchFamily="34" charset="0"/>
                <a:ea typeface="Yu Gothic" pitchFamily="34" charset="-122"/>
                <a:cs typeface="Yu Gothic" pitchFamily="34" charset="-120"/>
              </a:rPr>
              <a:t>12 / 19　検証の前提 ── 対象：6月4w〜7月4wのDreamチーム稼働6週／比較対象：7月関西イベント全部隊（0731時点 スタッフ属性別データ）</a:t>
            </a:r>
            <a:endParaRPr lang="en-US" sz="750" dirty="0"/>
          </a:p>
        </p:txBody>
      </p:sp>
      <p:sp>
        <p:nvSpPr>
          <p:cNvPr id="43" name="Text 41"/>
          <p:cNvSpPr/>
          <p:nvPr/>
        </p:nvSpPr>
        <p:spPr>
          <a:xfrm>
            <a:off x="9235440" y="6400800"/>
            <a:ext cx="2560320" cy="274320"/>
          </a:xfrm>
          <a:prstGeom prst="rect">
            <a:avLst/>
          </a:prstGeom>
          <a:noFill/>
          <a:ln/>
        </p:spPr>
        <p:txBody>
          <a:bodyPr wrap="square" lIns="0" tIns="0" rIns="0" bIns="0" rtlCol="0" anchor="ctr"/>
          <a:lstStyle/>
          <a:p>
            <a:pPr marL="0" indent="0" algn="r">
              <a:buNone/>
            </a:pPr>
            <a:r>
              <a:rPr lang="en-US" sz="750" dirty="0">
                <a:solidFill>
                  <a:srgbClr val="767676"/>
                </a:solidFill>
                <a:latin typeface="Yu Gothic" pitchFamily="34" charset="0"/>
                <a:ea typeface="Yu Gothic" pitchFamily="34" charset="-122"/>
                <a:cs typeface="Yu Gothic" pitchFamily="34" charset="-120"/>
              </a:rPr>
              <a:t>DREAM TEAM · JULY 2026</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11480" y="292608"/>
            <a:ext cx="384048" cy="256032"/>
          </a:xfrm>
          <a:prstGeom prst="rect">
            <a:avLst/>
          </a:prstGeom>
          <a:solidFill>
            <a:srgbClr val="CC0000"/>
          </a:solidFill>
          <a:ln/>
        </p:spPr>
        <p:txBody>
          <a:bodyPr/>
          <a:lstStyle/>
          <a:p>
            <a:endParaRPr lang="ja-JP" altLang="en-US"/>
          </a:p>
        </p:txBody>
      </p:sp>
      <p:sp>
        <p:nvSpPr>
          <p:cNvPr id="3" name="Text 1"/>
          <p:cNvSpPr/>
          <p:nvPr/>
        </p:nvSpPr>
        <p:spPr>
          <a:xfrm>
            <a:off x="411480" y="292608"/>
            <a:ext cx="384048"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Yu Gothic" pitchFamily="34" charset="0"/>
                <a:ea typeface="Yu Gothic" pitchFamily="34" charset="-122"/>
                <a:cs typeface="Yu Gothic" pitchFamily="34" charset="-120"/>
              </a:rPr>
              <a:t>13</a:t>
            </a:r>
            <a:endParaRPr lang="en-US" sz="1200" dirty="0"/>
          </a:p>
        </p:txBody>
      </p:sp>
      <p:sp>
        <p:nvSpPr>
          <p:cNvPr id="4" name="Text 2"/>
          <p:cNvSpPr/>
          <p:nvPr/>
        </p:nvSpPr>
        <p:spPr>
          <a:xfrm>
            <a:off x="896112" y="274320"/>
            <a:ext cx="10881360" cy="292608"/>
          </a:xfrm>
          <a:prstGeom prst="rect">
            <a:avLst/>
          </a:prstGeom>
          <a:noFill/>
          <a:ln/>
        </p:spPr>
        <p:txBody>
          <a:bodyPr wrap="square" lIns="0" tIns="0" rIns="0" bIns="0" rtlCol="0" anchor="ctr"/>
          <a:lstStyle/>
          <a:p>
            <a:pPr marL="0" indent="0">
              <a:buNone/>
            </a:pPr>
            <a:r>
              <a:rPr lang="en-US" sz="1700" b="1" dirty="0">
                <a:solidFill>
                  <a:srgbClr val="1A1A1A"/>
                </a:solidFill>
                <a:latin typeface="Yu Gothic" pitchFamily="34" charset="0"/>
                <a:ea typeface="Yu Gothic" pitchFamily="34" charset="-122"/>
                <a:cs typeface="Yu Gothic" pitchFamily="34" charset="-120"/>
              </a:rPr>
              <a:t>論点1｜事前入店 × 店舗協力値 × 総販　全6週の検証</a:t>
            </a:r>
            <a:endParaRPr lang="en-US" sz="1700" dirty="0"/>
          </a:p>
        </p:txBody>
      </p:sp>
      <p:sp>
        <p:nvSpPr>
          <p:cNvPr id="5" name="Text 3"/>
          <p:cNvSpPr/>
          <p:nvPr/>
        </p:nvSpPr>
        <p:spPr>
          <a:xfrm>
            <a:off x="429768" y="621792"/>
            <a:ext cx="11338560" cy="384048"/>
          </a:xfrm>
          <a:prstGeom prst="rect">
            <a:avLst/>
          </a:prstGeom>
          <a:noFill/>
          <a:ln/>
        </p:spPr>
        <p:txBody>
          <a:bodyPr wrap="square" lIns="0" tIns="0" rIns="0" bIns="0" rtlCol="0" anchor="ctr"/>
          <a:lstStyle/>
          <a:p>
            <a:pPr marL="0" indent="0">
              <a:lnSpc>
                <a:spcPts val="1400"/>
              </a:lnSpc>
              <a:buNone/>
            </a:pPr>
            <a:r>
              <a:rPr lang="en-US" sz="950" dirty="0">
                <a:solidFill>
                  <a:srgbClr val="767676"/>
                </a:solidFill>
                <a:latin typeface="Yu Gothic" pitchFamily="34" charset="0"/>
                <a:ea typeface="Yu Gothic" pitchFamily="34" charset="-122"/>
                <a:cs typeface="Yu Gothic" pitchFamily="34" charset="-120"/>
              </a:rPr>
              <a:t>「事前入店で店舗様を巻き込めた週は、翌週のイベント週でも高い水準の総販が出ているのではないか」という仮説を、稼働6週すべてで検証しました。</a:t>
            </a:r>
            <a:endParaRPr lang="en-US" sz="950" dirty="0"/>
          </a:p>
        </p:txBody>
      </p:sp>
      <p:sp>
        <p:nvSpPr>
          <p:cNvPr id="6" name="Shape 4"/>
          <p:cNvSpPr/>
          <p:nvPr/>
        </p:nvSpPr>
        <p:spPr>
          <a:xfrm>
            <a:off x="411480" y="1060704"/>
            <a:ext cx="11384280" cy="0"/>
          </a:xfrm>
          <a:prstGeom prst="line">
            <a:avLst/>
          </a:prstGeom>
          <a:noFill/>
          <a:ln w="9525">
            <a:solidFill>
              <a:srgbClr val="E0E0E0"/>
            </a:solidFill>
            <a:prstDash val="solid"/>
          </a:ln>
        </p:spPr>
        <p:txBody>
          <a:bodyPr/>
          <a:lstStyle/>
          <a:p>
            <a:endParaRPr lang="ja-JP" altLang="en-US"/>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11480" y="1243584"/>
          <a:ext cx="11384280" cy="2215896"/>
        </p:xfrm>
        <a:graphic>
          <a:graphicData uri="http://schemas.openxmlformats.org/drawingml/2006/table">
            <a:tbl>
              <a:tblPr/>
              <a:tblGrid>
                <a:gridCol w="251460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gridCol w="86868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gridCol w="914400">
                  <a:extLst>
                    <a:ext uri="{9D8B030D-6E8A-4147-A177-3AD203B41FA5}">
                      <a16:colId xmlns:a16="http://schemas.microsoft.com/office/drawing/2014/main" val="20007"/>
                    </a:ext>
                  </a:extLst>
                </a:gridCol>
                <a:gridCol w="1188720">
                  <a:extLst>
                    <a:ext uri="{9D8B030D-6E8A-4147-A177-3AD203B41FA5}">
                      <a16:colId xmlns:a16="http://schemas.microsoft.com/office/drawing/2014/main" val="20008"/>
                    </a:ext>
                  </a:extLst>
                </a:gridCol>
                <a:gridCol w="1234440">
                  <a:extLst>
                    <a:ext uri="{9D8B030D-6E8A-4147-A177-3AD203B41FA5}">
                      <a16:colId xmlns:a16="http://schemas.microsoft.com/office/drawing/2014/main" val="20009"/>
                    </a:ext>
                  </a:extLst>
                </a:gridCol>
              </a:tblGrid>
              <a:tr h="310896">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週 ／ 店舗</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事前入店</a:t>
                      </a:r>
                      <a:endParaRPr lang="en-US" sz="850" dirty="0">
                        <a:latin typeface="Yu Gothic" charset="0"/>
                        <a:ea typeface="Yu Gothic" charset="0"/>
                        <a:cs typeface="Yu Gothic" charset="0"/>
                      </a:endParaRPr>
                    </a:p>
                    <a:p>
                      <a:pPr marL="0" indent="0" algn="ctr">
                        <a:buNone/>
                      </a:pPr>
                      <a:r>
                        <a:rPr lang="en-US" sz="850" b="1" dirty="0">
                          <a:solidFill>
                            <a:srgbClr val="FFFFFF"/>
                          </a:solidFill>
                          <a:latin typeface="Yu Gothic" pitchFamily="34" charset="0"/>
                          <a:ea typeface="Yu Gothic" pitchFamily="34" charset="-122"/>
                          <a:cs typeface="Yu Gothic" pitchFamily="34" charset="-120"/>
                        </a:rPr>
                        <a:t>イベント</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事前入店</a:t>
                      </a:r>
                      <a:endParaRPr lang="en-US" sz="850" dirty="0">
                        <a:latin typeface="Yu Gothic" charset="0"/>
                        <a:ea typeface="Yu Gothic" charset="0"/>
                        <a:cs typeface="Yu Gothic" charset="0"/>
                      </a:endParaRPr>
                    </a:p>
                    <a:p>
                      <a:pPr marL="0" indent="0" algn="ctr">
                        <a:buNone/>
                      </a:pPr>
                      <a:r>
                        <a:rPr lang="en-US" sz="850" b="1" dirty="0">
                          <a:solidFill>
                            <a:srgbClr val="FFFFFF"/>
                          </a:solidFill>
                          <a:latin typeface="Yu Gothic" pitchFamily="34" charset="0"/>
                          <a:ea typeface="Yu Gothic" pitchFamily="34" charset="-122"/>
                          <a:cs typeface="Yu Gothic" pitchFamily="34" charset="-120"/>
                        </a:rPr>
                        <a:t>PI実績</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事前入店</a:t>
                      </a:r>
                      <a:endParaRPr lang="en-US" sz="850" dirty="0">
                        <a:latin typeface="Yu Gothic" charset="0"/>
                        <a:ea typeface="Yu Gothic" charset="0"/>
                        <a:cs typeface="Yu Gothic" charset="0"/>
                      </a:endParaRPr>
                    </a:p>
                    <a:p>
                      <a:pPr marL="0" indent="0" algn="ctr">
                        <a:buNone/>
                      </a:pPr>
                      <a:r>
                        <a:rPr lang="en-US" sz="850" b="1" dirty="0">
                          <a:solidFill>
                            <a:srgbClr val="FFFFFF"/>
                          </a:solidFill>
                          <a:latin typeface="Yu Gothic" pitchFamily="34" charset="0"/>
                          <a:ea typeface="Yu Gothic" pitchFamily="34" charset="-122"/>
                          <a:cs typeface="Yu Gothic" pitchFamily="34" charset="-120"/>
                        </a:rPr>
                        <a:t>振り数</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店舗様</a:t>
                      </a:r>
                      <a:endParaRPr lang="en-US" sz="850" dirty="0">
                        <a:latin typeface="Yu Gothic" charset="0"/>
                        <a:ea typeface="Yu Gothic" charset="0"/>
                        <a:cs typeface="Yu Gothic" charset="0"/>
                      </a:endParaRPr>
                    </a:p>
                    <a:p>
                      <a:pPr marL="0" indent="0" algn="ctr">
                        <a:buNone/>
                      </a:pPr>
                      <a:r>
                        <a:rPr lang="en-US" sz="850" b="1" dirty="0">
                          <a:solidFill>
                            <a:srgbClr val="FFFFFF"/>
                          </a:solidFill>
                          <a:latin typeface="Yu Gothic" pitchFamily="34" charset="0"/>
                          <a:ea typeface="Yu Gothic" pitchFamily="34" charset="-122"/>
                          <a:cs typeface="Yu Gothic" pitchFamily="34" charset="-120"/>
                        </a:rPr>
                        <a:t>協力値</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当週</a:t>
                      </a:r>
                      <a:endParaRPr lang="en-US" sz="850" dirty="0">
                        <a:latin typeface="Yu Gothic" charset="0"/>
                        <a:ea typeface="Yu Gothic" charset="0"/>
                        <a:cs typeface="Yu Gothic" charset="0"/>
                      </a:endParaRPr>
                    </a:p>
                    <a:p>
                      <a:pPr marL="0" indent="0" algn="ctr">
                        <a:buNone/>
                      </a:pPr>
                      <a:r>
                        <a:rPr lang="en-US" sz="850" b="1" dirty="0">
                          <a:solidFill>
                            <a:srgbClr val="FFFFFF"/>
                          </a:solidFill>
                          <a:latin typeface="Yu Gothic" pitchFamily="34" charset="0"/>
                          <a:ea typeface="Yu Gothic" pitchFamily="34" charset="-122"/>
                          <a:cs typeface="Yu Gothic" pitchFamily="34" charset="-120"/>
                        </a:rPr>
                        <a:t>振り数</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PI</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取替</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総販</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PI</a:t>
                      </a:r>
                      <a:endParaRPr lang="en-US" sz="850" dirty="0">
                        <a:latin typeface="Yu Gothic" charset="0"/>
                        <a:ea typeface="Yu Gothic" charset="0"/>
                        <a:cs typeface="Yu Gothic" charset="0"/>
                      </a:endParaRPr>
                    </a:p>
                    <a:p>
                      <a:pPr marL="0" indent="0" algn="ctr">
                        <a:buNone/>
                      </a:pPr>
                      <a:r>
                        <a:rPr lang="en-US" sz="850" b="1" dirty="0">
                          <a:solidFill>
                            <a:srgbClr val="FFFFFF"/>
                          </a:solidFill>
                          <a:latin typeface="Yu Gothic" pitchFamily="34" charset="0"/>
                          <a:ea typeface="Yu Gothic" pitchFamily="34" charset="-122"/>
                          <a:cs typeface="Yu Gothic" pitchFamily="34" charset="-120"/>
                        </a:rPr>
                        <a:t>達成率</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extLst>
                  <a:ext uri="{0D108BD9-81ED-4DB2-BD59-A6C34878D82A}">
                    <a16:rowId xmlns:a16="http://schemas.microsoft.com/office/drawing/2014/main" val="10000"/>
                  </a:ext>
                </a:extLst>
              </a:tr>
              <a:tr h="310896">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6月4w　東大阪長田店</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実施 有</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2</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CC0000"/>
                          </a:solidFill>
                          <a:latin typeface="Yu Gothic" pitchFamily="34" charset="0"/>
                          <a:ea typeface="Yu Gothic" pitchFamily="34" charset="-122"/>
                          <a:cs typeface="Yu Gothic" pitchFamily="34" charset="-120"/>
                        </a:rPr>
                        <a:t>〇</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30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20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3</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24</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100%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1"/>
                  </a:ext>
                </a:extLst>
              </a:tr>
              <a:tr h="310896">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6月5w　イオン加古川店</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実施 有</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6</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CC0000"/>
                          </a:solidFill>
                          <a:latin typeface="Yu Gothic" pitchFamily="34" charset="0"/>
                          <a:ea typeface="Yu Gothic" pitchFamily="34" charset="-122"/>
                          <a:cs typeface="Yu Gothic" pitchFamily="34" charset="-120"/>
                        </a:rPr>
                        <a:t>〇</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27</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27</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135%</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2"/>
                  </a:ext>
                </a:extLst>
              </a:tr>
              <a:tr h="310896">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7月1w　平野うりわり店</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7F7"/>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実施 無</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7F7"/>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3</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7F7"/>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3</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7F7"/>
                    </a:solidFill>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7F7"/>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13</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7F7"/>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17</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7F7"/>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1</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7F7"/>
                    </a:solidFill>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19</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7F7"/>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85%</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7F7"/>
                    </a:solidFill>
                  </a:tcPr>
                </a:tc>
                <a:extLst>
                  <a:ext uri="{0D108BD9-81ED-4DB2-BD59-A6C34878D82A}">
                    <a16:rowId xmlns:a16="http://schemas.microsoft.com/office/drawing/2014/main" val="10003"/>
                  </a:ext>
                </a:extLst>
              </a:tr>
              <a:tr h="310896">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7月2w　三田ウッディータウン店</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7F7"/>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実施 無</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7F7"/>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3</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7F7"/>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7F7"/>
                    </a:solidFill>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7F7"/>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16</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7F7"/>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11</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7F7"/>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3</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7F7"/>
                    </a:solidFill>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14</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7F7"/>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55%</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7F7"/>
                    </a:solidFill>
                  </a:tcPr>
                </a:tc>
                <a:extLst>
                  <a:ext uri="{0D108BD9-81ED-4DB2-BD59-A6C34878D82A}">
                    <a16:rowId xmlns:a16="http://schemas.microsoft.com/office/drawing/2014/main" val="10004"/>
                  </a:ext>
                </a:extLst>
              </a:tr>
              <a:tr h="310896">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7月3w　宝塚店</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実施 有</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3</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CC0000"/>
                          </a:solidFill>
                          <a:latin typeface="Yu Gothic" pitchFamily="34" charset="0"/>
                          <a:ea typeface="Yu Gothic" pitchFamily="34" charset="-122"/>
                          <a:cs typeface="Yu Gothic" pitchFamily="34" charset="-120"/>
                        </a:rPr>
                        <a:t>〇</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39</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24</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5</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29</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109%</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5"/>
                  </a:ext>
                </a:extLst>
              </a:tr>
              <a:tr h="310896">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7月4w　堺中央環状店</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実施 有</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4</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2</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CC0000"/>
                          </a:solidFill>
                          <a:latin typeface="Yu Gothic" pitchFamily="34" charset="0"/>
                          <a:ea typeface="Yu Gothic" pitchFamily="34" charset="-122"/>
                          <a:cs typeface="Yu Gothic" pitchFamily="34" charset="-120"/>
                        </a:rPr>
                        <a:t>〇</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9</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17</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11</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29</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8" name="Shape 5"/>
          <p:cNvSpPr/>
          <p:nvPr/>
        </p:nvSpPr>
        <p:spPr>
          <a:xfrm>
            <a:off x="411480" y="3703320"/>
            <a:ext cx="11384280" cy="566928"/>
          </a:xfrm>
          <a:prstGeom prst="rect">
            <a:avLst/>
          </a:prstGeom>
          <a:solidFill>
            <a:srgbClr val="FDF0F0"/>
          </a:solidFill>
          <a:ln w="9525">
            <a:solidFill>
              <a:srgbClr val="F4CFCF"/>
            </a:solidFill>
            <a:prstDash val="solid"/>
          </a:ln>
        </p:spPr>
        <p:txBody>
          <a:bodyPr/>
          <a:lstStyle/>
          <a:p>
            <a:endParaRPr lang="ja-JP" altLang="en-US"/>
          </a:p>
        </p:txBody>
      </p:sp>
      <p:sp>
        <p:nvSpPr>
          <p:cNvPr id="9" name="Text 6"/>
          <p:cNvSpPr/>
          <p:nvPr/>
        </p:nvSpPr>
        <p:spPr>
          <a:xfrm>
            <a:off x="621792" y="3703320"/>
            <a:ext cx="10972800" cy="566928"/>
          </a:xfrm>
          <a:prstGeom prst="rect">
            <a:avLst/>
          </a:prstGeom>
          <a:noFill/>
          <a:ln/>
        </p:spPr>
        <p:txBody>
          <a:bodyPr wrap="square" lIns="0" tIns="0" rIns="0" bIns="0" rtlCol="0" anchor="ctr"/>
          <a:lstStyle/>
          <a:p>
            <a:pPr marL="0" indent="0">
              <a:buNone/>
            </a:pPr>
            <a:r>
              <a:rPr lang="en-US" sz="1050" b="1" dirty="0">
                <a:solidFill>
                  <a:srgbClr val="1A1A1A"/>
                </a:solidFill>
                <a:latin typeface="Yu Gothic" pitchFamily="34" charset="0"/>
                <a:ea typeface="Yu Gothic" pitchFamily="34" charset="-122"/>
                <a:cs typeface="Yu Gothic" pitchFamily="34" charset="-120"/>
              </a:rPr>
              <a:t>検証結果 ── 事前入店でイベントを実施した4週は、すべて店舗様協力値〇。未実施の2週は、すべて△。6週すべてで例外なく一致しました。</a:t>
            </a:r>
            <a:endParaRPr lang="en-US" sz="1050" dirty="0"/>
          </a:p>
        </p:txBody>
      </p:sp>
      <p:sp>
        <p:nvSpPr>
          <p:cNvPr id="10" name="Shape 7"/>
          <p:cNvSpPr/>
          <p:nvPr/>
        </p:nvSpPr>
        <p:spPr>
          <a:xfrm>
            <a:off x="411480" y="4462272"/>
            <a:ext cx="3657600" cy="1737360"/>
          </a:xfrm>
          <a:prstGeom prst="rect">
            <a:avLst/>
          </a:prstGeom>
          <a:solidFill>
            <a:srgbClr val="FFFFFF"/>
          </a:solidFill>
          <a:ln w="9525">
            <a:solidFill>
              <a:srgbClr val="E0E0E0"/>
            </a:solidFill>
            <a:prstDash val="solid"/>
          </a:ln>
        </p:spPr>
        <p:txBody>
          <a:bodyPr/>
          <a:lstStyle/>
          <a:p>
            <a:endParaRPr lang="ja-JP" altLang="en-US"/>
          </a:p>
        </p:txBody>
      </p:sp>
      <p:sp>
        <p:nvSpPr>
          <p:cNvPr id="11" name="Shape 8"/>
          <p:cNvSpPr/>
          <p:nvPr/>
        </p:nvSpPr>
        <p:spPr>
          <a:xfrm>
            <a:off x="411480" y="4462272"/>
            <a:ext cx="41148" cy="1737360"/>
          </a:xfrm>
          <a:prstGeom prst="rect">
            <a:avLst/>
          </a:prstGeom>
          <a:solidFill>
            <a:srgbClr val="CC0000"/>
          </a:solidFill>
          <a:ln/>
        </p:spPr>
        <p:txBody>
          <a:bodyPr/>
          <a:lstStyle/>
          <a:p>
            <a:endParaRPr lang="ja-JP" altLang="en-US"/>
          </a:p>
        </p:txBody>
      </p:sp>
      <p:sp>
        <p:nvSpPr>
          <p:cNvPr id="12" name="Text 9"/>
          <p:cNvSpPr/>
          <p:nvPr/>
        </p:nvSpPr>
        <p:spPr>
          <a:xfrm>
            <a:off x="576072" y="4553712"/>
            <a:ext cx="3346704" cy="237744"/>
          </a:xfrm>
          <a:prstGeom prst="rect">
            <a:avLst/>
          </a:prstGeom>
          <a:noFill/>
          <a:ln/>
        </p:spPr>
        <p:txBody>
          <a:bodyPr wrap="square" lIns="0" tIns="0" rIns="0" bIns="0" rtlCol="0" anchor="ctr"/>
          <a:lstStyle/>
          <a:p>
            <a:pPr marL="0" indent="0">
              <a:buNone/>
            </a:pPr>
            <a:r>
              <a:rPr lang="en-US" sz="1000" b="1" dirty="0">
                <a:solidFill>
                  <a:srgbClr val="1A1A1A"/>
                </a:solidFill>
                <a:latin typeface="Yu Gothic" pitchFamily="34" charset="0"/>
                <a:ea typeface="Yu Gothic" pitchFamily="34" charset="-122"/>
                <a:cs typeface="Yu Gothic" pitchFamily="34" charset="-120"/>
              </a:rPr>
              <a:t>協力値〇 の4週　平均総販 27.3件</a:t>
            </a:r>
            <a:endParaRPr lang="en-US" sz="1000" dirty="0"/>
          </a:p>
        </p:txBody>
      </p:sp>
      <p:sp>
        <p:nvSpPr>
          <p:cNvPr id="13" name="Text 10"/>
          <p:cNvSpPr/>
          <p:nvPr/>
        </p:nvSpPr>
        <p:spPr>
          <a:xfrm>
            <a:off x="576072" y="4809744"/>
            <a:ext cx="3346704" cy="1280160"/>
          </a:xfrm>
          <a:prstGeom prst="rect">
            <a:avLst/>
          </a:prstGeom>
          <a:noFill/>
          <a:ln/>
        </p:spPr>
        <p:txBody>
          <a:bodyPr wrap="square" lIns="0" tIns="0" rIns="0" bIns="0" rtlCol="0" anchor="t"/>
          <a:lstStyle/>
          <a:p>
            <a:pPr marL="0" indent="0">
              <a:lnSpc>
                <a:spcPts val="1300"/>
              </a:lnSpc>
              <a:buNone/>
            </a:pPr>
            <a:r>
              <a:rPr lang="en-US" sz="850" dirty="0">
                <a:solidFill>
                  <a:srgbClr val="3A3A3A"/>
                </a:solidFill>
                <a:latin typeface="Yu Gothic" pitchFamily="34" charset="0"/>
                <a:ea typeface="Yu Gothic" pitchFamily="34" charset="-122"/>
                <a:cs typeface="Yu Gothic" pitchFamily="34" charset="-120"/>
              </a:rPr>
              <a:t>東大阪24／加古川27／宝塚29／堺29。</a:t>
            </a:r>
            <a:endParaRPr lang="en-US" sz="850" dirty="0"/>
          </a:p>
          <a:p>
            <a:pPr marL="0" indent="0">
              <a:lnSpc>
                <a:spcPts val="1300"/>
              </a:lnSpc>
              <a:buNone/>
            </a:pPr>
            <a:r>
              <a:rPr lang="en-US" sz="850" dirty="0">
                <a:solidFill>
                  <a:srgbClr val="3A3A3A"/>
                </a:solidFill>
                <a:latin typeface="Yu Gothic" pitchFamily="34" charset="0"/>
                <a:ea typeface="Yu Gothic" pitchFamily="34" charset="-122"/>
                <a:cs typeface="Yu Gothic" pitchFamily="34" charset="-120"/>
              </a:rPr>
              <a:t>事前入店で店舗様に成果をお見せできた週は、総販が安定して24件以上に乗っています。</a:t>
            </a:r>
            <a:endParaRPr lang="en-US" sz="850" dirty="0"/>
          </a:p>
        </p:txBody>
      </p:sp>
      <p:sp>
        <p:nvSpPr>
          <p:cNvPr id="14" name="Shape 11"/>
          <p:cNvSpPr/>
          <p:nvPr/>
        </p:nvSpPr>
        <p:spPr>
          <a:xfrm>
            <a:off x="4233672" y="4462272"/>
            <a:ext cx="3657600" cy="1737360"/>
          </a:xfrm>
          <a:prstGeom prst="rect">
            <a:avLst/>
          </a:prstGeom>
          <a:solidFill>
            <a:srgbClr val="FFFFFF"/>
          </a:solidFill>
          <a:ln w="9525">
            <a:solidFill>
              <a:srgbClr val="E0E0E0"/>
            </a:solidFill>
            <a:prstDash val="solid"/>
          </a:ln>
        </p:spPr>
        <p:txBody>
          <a:bodyPr/>
          <a:lstStyle/>
          <a:p>
            <a:endParaRPr lang="ja-JP" altLang="en-US"/>
          </a:p>
        </p:txBody>
      </p:sp>
      <p:sp>
        <p:nvSpPr>
          <p:cNvPr id="15" name="Shape 12"/>
          <p:cNvSpPr/>
          <p:nvPr/>
        </p:nvSpPr>
        <p:spPr>
          <a:xfrm>
            <a:off x="4233672" y="4462272"/>
            <a:ext cx="41148" cy="1737360"/>
          </a:xfrm>
          <a:prstGeom prst="rect">
            <a:avLst/>
          </a:prstGeom>
          <a:solidFill>
            <a:srgbClr val="CC0000"/>
          </a:solidFill>
          <a:ln/>
        </p:spPr>
        <p:txBody>
          <a:bodyPr/>
          <a:lstStyle/>
          <a:p>
            <a:endParaRPr lang="ja-JP" altLang="en-US"/>
          </a:p>
        </p:txBody>
      </p:sp>
      <p:sp>
        <p:nvSpPr>
          <p:cNvPr id="16" name="Text 13"/>
          <p:cNvSpPr/>
          <p:nvPr/>
        </p:nvSpPr>
        <p:spPr>
          <a:xfrm>
            <a:off x="4398264" y="4553712"/>
            <a:ext cx="3346704" cy="237744"/>
          </a:xfrm>
          <a:prstGeom prst="rect">
            <a:avLst/>
          </a:prstGeom>
          <a:noFill/>
          <a:ln/>
        </p:spPr>
        <p:txBody>
          <a:bodyPr wrap="square" lIns="0" tIns="0" rIns="0" bIns="0" rtlCol="0" anchor="ctr"/>
          <a:lstStyle/>
          <a:p>
            <a:pPr marL="0" indent="0">
              <a:buNone/>
            </a:pPr>
            <a:r>
              <a:rPr lang="en-US" sz="1000" b="1" dirty="0">
                <a:solidFill>
                  <a:srgbClr val="1A1A1A"/>
                </a:solidFill>
                <a:latin typeface="Yu Gothic" pitchFamily="34" charset="0"/>
                <a:ea typeface="Yu Gothic" pitchFamily="34" charset="-122"/>
                <a:cs typeface="Yu Gothic" pitchFamily="34" charset="-120"/>
              </a:rPr>
              <a:t>協力値△ の2週　平均総販 16.5件</a:t>
            </a:r>
            <a:endParaRPr lang="en-US" sz="1000" dirty="0"/>
          </a:p>
        </p:txBody>
      </p:sp>
      <p:sp>
        <p:nvSpPr>
          <p:cNvPr id="17" name="Text 14"/>
          <p:cNvSpPr/>
          <p:nvPr/>
        </p:nvSpPr>
        <p:spPr>
          <a:xfrm>
            <a:off x="4398264" y="4809744"/>
            <a:ext cx="3346704" cy="1280160"/>
          </a:xfrm>
          <a:prstGeom prst="rect">
            <a:avLst/>
          </a:prstGeom>
          <a:noFill/>
          <a:ln/>
        </p:spPr>
        <p:txBody>
          <a:bodyPr wrap="square" lIns="0" tIns="0" rIns="0" bIns="0" rtlCol="0" anchor="t"/>
          <a:lstStyle/>
          <a:p>
            <a:pPr marL="0" indent="0">
              <a:lnSpc>
                <a:spcPts val="1300"/>
              </a:lnSpc>
              <a:buNone/>
            </a:pPr>
            <a:r>
              <a:rPr lang="en-US" sz="850" dirty="0">
                <a:solidFill>
                  <a:srgbClr val="3A3A3A"/>
                </a:solidFill>
                <a:latin typeface="Yu Gothic" pitchFamily="34" charset="0"/>
                <a:ea typeface="Yu Gothic" pitchFamily="34" charset="-122"/>
                <a:cs typeface="Yu Gothic" pitchFamily="34" charset="-120"/>
              </a:rPr>
              <a:t>平野19／三田14。</a:t>
            </a:r>
            <a:endParaRPr lang="en-US" sz="850" dirty="0"/>
          </a:p>
          <a:p>
            <a:pPr marL="0" indent="0">
              <a:lnSpc>
                <a:spcPts val="1300"/>
              </a:lnSpc>
              <a:buNone/>
            </a:pPr>
            <a:r>
              <a:rPr lang="en-US" sz="850" dirty="0">
                <a:solidFill>
                  <a:srgbClr val="3A3A3A"/>
                </a:solidFill>
                <a:latin typeface="Yu Gothic" pitchFamily="34" charset="0"/>
                <a:ea typeface="Yu Gothic" pitchFamily="34" charset="-122"/>
                <a:cs typeface="Yu Gothic" pitchFamily="34" charset="-120"/>
              </a:rPr>
              <a:t>同じ4名体制・同じLv5店舗でありながら、協力値〇の週と比べて総販で約11件の差が生じました。</a:t>
            </a:r>
            <a:endParaRPr lang="en-US" sz="850" dirty="0"/>
          </a:p>
        </p:txBody>
      </p:sp>
      <p:sp>
        <p:nvSpPr>
          <p:cNvPr id="18" name="Shape 15"/>
          <p:cNvSpPr/>
          <p:nvPr/>
        </p:nvSpPr>
        <p:spPr>
          <a:xfrm>
            <a:off x="8055864" y="4462272"/>
            <a:ext cx="3739896" cy="1737360"/>
          </a:xfrm>
          <a:prstGeom prst="rect">
            <a:avLst/>
          </a:prstGeom>
          <a:solidFill>
            <a:srgbClr val="FFFFFF"/>
          </a:solidFill>
          <a:ln w="9525">
            <a:solidFill>
              <a:srgbClr val="E0E0E0"/>
            </a:solidFill>
            <a:prstDash val="solid"/>
          </a:ln>
        </p:spPr>
        <p:txBody>
          <a:bodyPr/>
          <a:lstStyle/>
          <a:p>
            <a:endParaRPr lang="ja-JP" altLang="en-US"/>
          </a:p>
        </p:txBody>
      </p:sp>
      <p:sp>
        <p:nvSpPr>
          <p:cNvPr id="19" name="Shape 16"/>
          <p:cNvSpPr/>
          <p:nvPr/>
        </p:nvSpPr>
        <p:spPr>
          <a:xfrm>
            <a:off x="8055864" y="4462272"/>
            <a:ext cx="41148" cy="1737360"/>
          </a:xfrm>
          <a:prstGeom prst="rect">
            <a:avLst/>
          </a:prstGeom>
          <a:solidFill>
            <a:srgbClr val="CC0000"/>
          </a:solidFill>
          <a:ln/>
        </p:spPr>
        <p:txBody>
          <a:bodyPr/>
          <a:lstStyle/>
          <a:p>
            <a:endParaRPr lang="ja-JP" altLang="en-US"/>
          </a:p>
        </p:txBody>
      </p:sp>
      <p:sp>
        <p:nvSpPr>
          <p:cNvPr id="20" name="Text 17"/>
          <p:cNvSpPr/>
          <p:nvPr/>
        </p:nvSpPr>
        <p:spPr>
          <a:xfrm>
            <a:off x="8220456" y="4553712"/>
            <a:ext cx="3429000" cy="237744"/>
          </a:xfrm>
          <a:prstGeom prst="rect">
            <a:avLst/>
          </a:prstGeom>
          <a:noFill/>
          <a:ln/>
        </p:spPr>
        <p:txBody>
          <a:bodyPr wrap="square" lIns="0" tIns="0" rIns="0" bIns="0" rtlCol="0" anchor="ctr"/>
          <a:lstStyle/>
          <a:p>
            <a:pPr marL="0" indent="0">
              <a:buNone/>
            </a:pPr>
            <a:r>
              <a:rPr lang="en-US" sz="1000" b="1" dirty="0">
                <a:solidFill>
                  <a:srgbClr val="1A1A1A"/>
                </a:solidFill>
                <a:latin typeface="Yu Gothic" pitchFamily="34" charset="0"/>
                <a:ea typeface="Yu Gothic" pitchFamily="34" charset="-122"/>
                <a:cs typeface="Yu Gothic" pitchFamily="34" charset="-120"/>
              </a:rPr>
              <a:t>差分 ── 総販 +10.8件／週</a:t>
            </a:r>
            <a:endParaRPr lang="en-US" sz="1000" dirty="0"/>
          </a:p>
        </p:txBody>
      </p:sp>
      <p:sp>
        <p:nvSpPr>
          <p:cNvPr id="21" name="Text 18"/>
          <p:cNvSpPr/>
          <p:nvPr/>
        </p:nvSpPr>
        <p:spPr>
          <a:xfrm>
            <a:off x="8220456" y="4809744"/>
            <a:ext cx="3429000" cy="1280160"/>
          </a:xfrm>
          <a:prstGeom prst="rect">
            <a:avLst/>
          </a:prstGeom>
          <a:noFill/>
          <a:ln/>
        </p:spPr>
        <p:txBody>
          <a:bodyPr wrap="square" lIns="0" tIns="0" rIns="0" bIns="0" rtlCol="0" anchor="t"/>
          <a:lstStyle/>
          <a:p>
            <a:pPr marL="0" indent="0">
              <a:lnSpc>
                <a:spcPts val="1300"/>
              </a:lnSpc>
              <a:buNone/>
            </a:pPr>
            <a:r>
              <a:rPr lang="en-US" sz="850" dirty="0">
                <a:solidFill>
                  <a:srgbClr val="3A3A3A"/>
                </a:solidFill>
                <a:latin typeface="Yu Gothic" pitchFamily="34" charset="0"/>
                <a:ea typeface="Yu Gothic" pitchFamily="34" charset="-122"/>
                <a:cs typeface="Yu Gothic" pitchFamily="34" charset="-120"/>
              </a:rPr>
              <a:t>協力値〇と△の差は、PI達成率で+45pt、総販で+10.8件。</a:t>
            </a:r>
            <a:endParaRPr lang="en-US" sz="850" dirty="0"/>
          </a:p>
          <a:p>
            <a:pPr marL="0" indent="0">
              <a:lnSpc>
                <a:spcPts val="1300"/>
              </a:lnSpc>
              <a:buNone/>
            </a:pPr>
            <a:r>
              <a:rPr lang="en-US" sz="850" dirty="0">
                <a:solidFill>
                  <a:srgbClr val="3A3A3A"/>
                </a:solidFill>
                <a:latin typeface="Yu Gothic" pitchFamily="34" charset="0"/>
                <a:ea typeface="Yu Gothic" pitchFamily="34" charset="-122"/>
                <a:cs typeface="Yu Gothic" pitchFamily="34" charset="-120"/>
              </a:rPr>
              <a:t>事前入店イベントの実施有無が、週間実績を最も強く左右する変数でした。</a:t>
            </a:r>
            <a:endParaRPr lang="en-US" sz="850" dirty="0"/>
          </a:p>
        </p:txBody>
      </p:sp>
      <p:sp>
        <p:nvSpPr>
          <p:cNvPr id="22" name="Shape 19"/>
          <p:cNvSpPr/>
          <p:nvPr/>
        </p:nvSpPr>
        <p:spPr>
          <a:xfrm>
            <a:off x="411480" y="6355080"/>
            <a:ext cx="11384280" cy="0"/>
          </a:xfrm>
          <a:prstGeom prst="line">
            <a:avLst/>
          </a:prstGeom>
          <a:noFill/>
          <a:ln w="9525">
            <a:solidFill>
              <a:srgbClr val="E0E0E0"/>
            </a:solidFill>
            <a:prstDash val="solid"/>
          </a:ln>
        </p:spPr>
        <p:txBody>
          <a:bodyPr/>
          <a:lstStyle/>
          <a:p>
            <a:endParaRPr lang="ja-JP" altLang="en-US"/>
          </a:p>
        </p:txBody>
      </p:sp>
      <p:sp>
        <p:nvSpPr>
          <p:cNvPr id="23" name="Text 20"/>
          <p:cNvSpPr/>
          <p:nvPr/>
        </p:nvSpPr>
        <p:spPr>
          <a:xfrm>
            <a:off x="411480" y="6400800"/>
            <a:ext cx="8778240" cy="274320"/>
          </a:xfrm>
          <a:prstGeom prst="rect">
            <a:avLst/>
          </a:prstGeom>
          <a:noFill/>
          <a:ln/>
        </p:spPr>
        <p:txBody>
          <a:bodyPr wrap="square" lIns="0" tIns="0" rIns="0" bIns="0" rtlCol="0" anchor="ctr"/>
          <a:lstStyle/>
          <a:p>
            <a:pPr marL="0" indent="0">
              <a:buNone/>
            </a:pPr>
            <a:r>
              <a:rPr lang="en-US" sz="750" dirty="0">
                <a:solidFill>
                  <a:srgbClr val="767676"/>
                </a:solidFill>
                <a:latin typeface="Yu Gothic" pitchFamily="34" charset="0"/>
                <a:ea typeface="Yu Gothic" pitchFamily="34" charset="-122"/>
                <a:cs typeface="Yu Gothic" pitchFamily="34" charset="-120"/>
              </a:rPr>
              <a:t>13 / 19　「事前入店PI実績」は事前入店期間中の成約件数。「振り数」は店舗社員様からのトスアップ件数。総販＝PI＋取替＋純新規。</a:t>
            </a:r>
            <a:endParaRPr lang="en-US" sz="750" dirty="0"/>
          </a:p>
        </p:txBody>
      </p:sp>
      <p:sp>
        <p:nvSpPr>
          <p:cNvPr id="24" name="Text 21"/>
          <p:cNvSpPr/>
          <p:nvPr/>
        </p:nvSpPr>
        <p:spPr>
          <a:xfrm>
            <a:off x="9235440" y="6400800"/>
            <a:ext cx="2560320" cy="274320"/>
          </a:xfrm>
          <a:prstGeom prst="rect">
            <a:avLst/>
          </a:prstGeom>
          <a:noFill/>
          <a:ln/>
        </p:spPr>
        <p:txBody>
          <a:bodyPr wrap="square" lIns="0" tIns="0" rIns="0" bIns="0" rtlCol="0" anchor="ctr"/>
          <a:lstStyle/>
          <a:p>
            <a:pPr marL="0" indent="0" algn="r">
              <a:buNone/>
            </a:pPr>
            <a:r>
              <a:rPr lang="en-US" sz="750" dirty="0">
                <a:solidFill>
                  <a:srgbClr val="767676"/>
                </a:solidFill>
                <a:latin typeface="Yu Gothic" pitchFamily="34" charset="0"/>
                <a:ea typeface="Yu Gothic" pitchFamily="34" charset="-122"/>
                <a:cs typeface="Yu Gothic" pitchFamily="34" charset="-120"/>
              </a:rPr>
              <a:t>DREAM TEAM · JULY 2026</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11480" y="292608"/>
            <a:ext cx="384048" cy="256032"/>
          </a:xfrm>
          <a:prstGeom prst="rect">
            <a:avLst/>
          </a:prstGeom>
          <a:solidFill>
            <a:srgbClr val="CC0000"/>
          </a:solidFill>
          <a:ln/>
        </p:spPr>
        <p:txBody>
          <a:bodyPr/>
          <a:lstStyle/>
          <a:p>
            <a:endParaRPr lang="ja-JP" altLang="en-US"/>
          </a:p>
        </p:txBody>
      </p:sp>
      <p:sp>
        <p:nvSpPr>
          <p:cNvPr id="3" name="Text 1"/>
          <p:cNvSpPr/>
          <p:nvPr/>
        </p:nvSpPr>
        <p:spPr>
          <a:xfrm>
            <a:off x="411480" y="292608"/>
            <a:ext cx="384048"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Yu Gothic" pitchFamily="34" charset="0"/>
                <a:ea typeface="Yu Gothic" pitchFamily="34" charset="-122"/>
                <a:cs typeface="Yu Gothic" pitchFamily="34" charset="-120"/>
              </a:rPr>
              <a:t>14</a:t>
            </a:r>
            <a:endParaRPr lang="en-US" sz="1200" dirty="0"/>
          </a:p>
        </p:txBody>
      </p:sp>
      <p:sp>
        <p:nvSpPr>
          <p:cNvPr id="4" name="Text 2"/>
          <p:cNvSpPr/>
          <p:nvPr/>
        </p:nvSpPr>
        <p:spPr>
          <a:xfrm>
            <a:off x="896112" y="274320"/>
            <a:ext cx="10881360" cy="292608"/>
          </a:xfrm>
          <a:prstGeom prst="rect">
            <a:avLst/>
          </a:prstGeom>
          <a:noFill/>
          <a:ln/>
        </p:spPr>
        <p:txBody>
          <a:bodyPr wrap="square" lIns="0" tIns="0" rIns="0" bIns="0" rtlCol="0" anchor="ctr"/>
          <a:lstStyle/>
          <a:p>
            <a:pPr marL="0" indent="0">
              <a:buNone/>
            </a:pPr>
            <a:r>
              <a:rPr lang="en-US" sz="1700" b="1" dirty="0">
                <a:solidFill>
                  <a:srgbClr val="1A1A1A"/>
                </a:solidFill>
                <a:latin typeface="Yu Gothic" pitchFamily="34" charset="0"/>
                <a:ea typeface="Yu Gothic" pitchFamily="34" charset="-122"/>
                <a:cs typeface="Yu Gothic" pitchFamily="34" charset="-120"/>
              </a:rPr>
              <a:t>論点1｜何が「店舗様協力値」を作ったのか</a:t>
            </a:r>
            <a:endParaRPr lang="en-US" sz="1700" dirty="0"/>
          </a:p>
        </p:txBody>
      </p:sp>
      <p:sp>
        <p:nvSpPr>
          <p:cNvPr id="5" name="Text 3"/>
          <p:cNvSpPr/>
          <p:nvPr/>
        </p:nvSpPr>
        <p:spPr>
          <a:xfrm>
            <a:off x="429768" y="621792"/>
            <a:ext cx="11338560" cy="384048"/>
          </a:xfrm>
          <a:prstGeom prst="rect">
            <a:avLst/>
          </a:prstGeom>
          <a:noFill/>
          <a:ln/>
        </p:spPr>
        <p:txBody>
          <a:bodyPr wrap="square" lIns="0" tIns="0" rIns="0" bIns="0" rtlCol="0" anchor="ctr"/>
          <a:lstStyle/>
          <a:p>
            <a:pPr marL="0" indent="0">
              <a:lnSpc>
                <a:spcPts val="1400"/>
              </a:lnSpc>
              <a:buNone/>
            </a:pPr>
            <a:r>
              <a:rPr lang="en-US" sz="950" dirty="0">
                <a:solidFill>
                  <a:srgbClr val="767676"/>
                </a:solidFill>
                <a:latin typeface="Yu Gothic" pitchFamily="34" charset="0"/>
                <a:ea typeface="Yu Gothic" pitchFamily="34" charset="-122"/>
                <a:cs typeface="Yu Gothic" pitchFamily="34" charset="-120"/>
              </a:rPr>
              <a:t>協力値を分けた要因を特定するため、事前入店段階の各変数と当週実績の関係を個別に検証しました。仮説の一部は支持されず、より本質的な要因が特定できました。</a:t>
            </a:r>
            <a:endParaRPr lang="en-US" sz="950" dirty="0"/>
          </a:p>
        </p:txBody>
      </p:sp>
      <p:sp>
        <p:nvSpPr>
          <p:cNvPr id="6" name="Shape 4"/>
          <p:cNvSpPr/>
          <p:nvPr/>
        </p:nvSpPr>
        <p:spPr>
          <a:xfrm>
            <a:off x="411480" y="1060704"/>
            <a:ext cx="11384280" cy="0"/>
          </a:xfrm>
          <a:prstGeom prst="line">
            <a:avLst/>
          </a:prstGeom>
          <a:noFill/>
          <a:ln w="9525">
            <a:solidFill>
              <a:srgbClr val="E0E0E0"/>
            </a:solidFill>
            <a:prstDash val="solid"/>
          </a:ln>
        </p:spPr>
        <p:txBody>
          <a:bodyPr/>
          <a:lstStyle/>
          <a:p>
            <a:endParaRPr lang="ja-JP" altLang="en-US"/>
          </a:p>
        </p:txBody>
      </p:sp>
      <p:sp>
        <p:nvSpPr>
          <p:cNvPr id="7" name="Shape 5"/>
          <p:cNvSpPr/>
          <p:nvPr/>
        </p:nvSpPr>
        <p:spPr>
          <a:xfrm>
            <a:off x="411480" y="1243584"/>
            <a:ext cx="3657600" cy="1874520"/>
          </a:xfrm>
          <a:prstGeom prst="rect">
            <a:avLst/>
          </a:prstGeom>
          <a:solidFill>
            <a:srgbClr val="FFFFFF"/>
          </a:solidFill>
          <a:ln w="9525">
            <a:solidFill>
              <a:srgbClr val="E0E0E0"/>
            </a:solidFill>
            <a:prstDash val="solid"/>
          </a:ln>
        </p:spPr>
        <p:txBody>
          <a:bodyPr/>
          <a:lstStyle/>
          <a:p>
            <a:endParaRPr lang="ja-JP" altLang="en-US"/>
          </a:p>
        </p:txBody>
      </p:sp>
      <p:sp>
        <p:nvSpPr>
          <p:cNvPr id="8" name="Shape 6"/>
          <p:cNvSpPr/>
          <p:nvPr/>
        </p:nvSpPr>
        <p:spPr>
          <a:xfrm>
            <a:off x="411480" y="1243584"/>
            <a:ext cx="41148" cy="1874520"/>
          </a:xfrm>
          <a:prstGeom prst="rect">
            <a:avLst/>
          </a:prstGeom>
          <a:solidFill>
            <a:srgbClr val="767676"/>
          </a:solidFill>
          <a:ln/>
        </p:spPr>
        <p:txBody>
          <a:bodyPr/>
          <a:lstStyle/>
          <a:p>
            <a:endParaRPr lang="ja-JP" altLang="en-US"/>
          </a:p>
        </p:txBody>
      </p:sp>
      <p:sp>
        <p:nvSpPr>
          <p:cNvPr id="9" name="Text 7"/>
          <p:cNvSpPr/>
          <p:nvPr/>
        </p:nvSpPr>
        <p:spPr>
          <a:xfrm>
            <a:off x="576072" y="1335024"/>
            <a:ext cx="3346704" cy="237744"/>
          </a:xfrm>
          <a:prstGeom prst="rect">
            <a:avLst/>
          </a:prstGeom>
          <a:noFill/>
          <a:ln/>
        </p:spPr>
        <p:txBody>
          <a:bodyPr wrap="square" lIns="0" tIns="0" rIns="0" bIns="0" rtlCol="0" anchor="ctr"/>
          <a:lstStyle/>
          <a:p>
            <a:pPr marL="0" indent="0">
              <a:buNone/>
            </a:pPr>
            <a:r>
              <a:rPr lang="en-US" sz="1000" b="1" dirty="0">
                <a:solidFill>
                  <a:srgbClr val="1A1A1A"/>
                </a:solidFill>
                <a:latin typeface="Yu Gothic" pitchFamily="34" charset="0"/>
                <a:ea typeface="Yu Gothic" pitchFamily="34" charset="-122"/>
                <a:cs typeface="Yu Gothic" pitchFamily="34" charset="-120"/>
              </a:rPr>
              <a:t>検証A｜事前入店週の「振り数」ではない</a:t>
            </a:r>
            <a:endParaRPr lang="en-US" sz="1000" dirty="0"/>
          </a:p>
        </p:txBody>
      </p:sp>
      <p:sp>
        <p:nvSpPr>
          <p:cNvPr id="10" name="Text 8"/>
          <p:cNvSpPr/>
          <p:nvPr/>
        </p:nvSpPr>
        <p:spPr>
          <a:xfrm>
            <a:off x="576072" y="1591056"/>
            <a:ext cx="3346704" cy="1417320"/>
          </a:xfrm>
          <a:prstGeom prst="rect">
            <a:avLst/>
          </a:prstGeom>
          <a:noFill/>
          <a:ln/>
        </p:spPr>
        <p:txBody>
          <a:bodyPr wrap="square" lIns="0" tIns="0" rIns="0" bIns="0" rtlCol="0" anchor="t"/>
          <a:lstStyle/>
          <a:p>
            <a:pPr marL="0" indent="0">
              <a:lnSpc>
                <a:spcPts val="1300"/>
              </a:lnSpc>
              <a:buNone/>
            </a:pPr>
            <a:r>
              <a:rPr lang="en-US" sz="850" dirty="0">
                <a:solidFill>
                  <a:srgbClr val="3A3A3A"/>
                </a:solidFill>
                <a:latin typeface="Yu Gothic" pitchFamily="34" charset="0"/>
                <a:ea typeface="Yu Gothic" pitchFamily="34" charset="-122"/>
                <a:cs typeface="Yu Gothic" pitchFamily="34" charset="-120"/>
              </a:rPr>
              <a:t>事前入店週の振り数は、平野3件・三田0件・宝塚0件・堺2件。</a:t>
            </a:r>
            <a:endParaRPr lang="en-US" sz="850" dirty="0"/>
          </a:p>
          <a:p>
            <a:pPr marL="0" indent="0">
              <a:lnSpc>
                <a:spcPts val="1300"/>
              </a:lnSpc>
              <a:buNone/>
            </a:pPr>
            <a:endParaRPr lang="en-US" sz="850" dirty="0"/>
          </a:p>
          <a:p>
            <a:pPr marL="0" indent="0">
              <a:lnSpc>
                <a:spcPts val="1300"/>
              </a:lnSpc>
              <a:buNone/>
            </a:pPr>
            <a:r>
              <a:rPr lang="en-US" sz="850" dirty="0">
                <a:solidFill>
                  <a:srgbClr val="3A3A3A"/>
                </a:solidFill>
                <a:latin typeface="Yu Gothic" pitchFamily="34" charset="0"/>
                <a:ea typeface="Yu Gothic" pitchFamily="34" charset="-122"/>
                <a:cs typeface="Yu Gothic" pitchFamily="34" charset="-120"/>
              </a:rPr>
              <a:t>協力値〇の宝塚は0件、△の平野は3件であり、事前入店段階の振り数と協力値の間に関係は見られませんでした。</a:t>
            </a:r>
            <a:endParaRPr lang="en-US" sz="850" dirty="0"/>
          </a:p>
        </p:txBody>
      </p:sp>
      <p:sp>
        <p:nvSpPr>
          <p:cNvPr id="11" name="Shape 9"/>
          <p:cNvSpPr/>
          <p:nvPr/>
        </p:nvSpPr>
        <p:spPr>
          <a:xfrm>
            <a:off x="4233672" y="1243584"/>
            <a:ext cx="3657600" cy="1874520"/>
          </a:xfrm>
          <a:prstGeom prst="rect">
            <a:avLst/>
          </a:prstGeom>
          <a:solidFill>
            <a:srgbClr val="FFFFFF"/>
          </a:solidFill>
          <a:ln w="9525">
            <a:solidFill>
              <a:srgbClr val="E0E0E0"/>
            </a:solidFill>
            <a:prstDash val="solid"/>
          </a:ln>
        </p:spPr>
        <p:txBody>
          <a:bodyPr/>
          <a:lstStyle/>
          <a:p>
            <a:endParaRPr lang="ja-JP" altLang="en-US"/>
          </a:p>
        </p:txBody>
      </p:sp>
      <p:sp>
        <p:nvSpPr>
          <p:cNvPr id="12" name="Shape 10"/>
          <p:cNvSpPr/>
          <p:nvPr/>
        </p:nvSpPr>
        <p:spPr>
          <a:xfrm>
            <a:off x="4233672" y="1243584"/>
            <a:ext cx="41148" cy="1874520"/>
          </a:xfrm>
          <a:prstGeom prst="rect">
            <a:avLst/>
          </a:prstGeom>
          <a:solidFill>
            <a:srgbClr val="CC0000"/>
          </a:solidFill>
          <a:ln/>
        </p:spPr>
        <p:txBody>
          <a:bodyPr/>
          <a:lstStyle/>
          <a:p>
            <a:endParaRPr lang="ja-JP" altLang="en-US"/>
          </a:p>
        </p:txBody>
      </p:sp>
      <p:sp>
        <p:nvSpPr>
          <p:cNvPr id="13" name="Text 11"/>
          <p:cNvSpPr/>
          <p:nvPr/>
        </p:nvSpPr>
        <p:spPr>
          <a:xfrm>
            <a:off x="4398264" y="1335024"/>
            <a:ext cx="3346704" cy="237744"/>
          </a:xfrm>
          <a:prstGeom prst="rect">
            <a:avLst/>
          </a:prstGeom>
          <a:noFill/>
          <a:ln/>
        </p:spPr>
        <p:txBody>
          <a:bodyPr wrap="square" lIns="0" tIns="0" rIns="0" bIns="0" rtlCol="0" anchor="ctr"/>
          <a:lstStyle/>
          <a:p>
            <a:pPr marL="0" indent="0">
              <a:buNone/>
            </a:pPr>
            <a:r>
              <a:rPr lang="en-US" sz="1000" b="1" dirty="0">
                <a:solidFill>
                  <a:srgbClr val="1A1A1A"/>
                </a:solidFill>
                <a:latin typeface="Yu Gothic" pitchFamily="34" charset="0"/>
                <a:ea typeface="Yu Gothic" pitchFamily="34" charset="-122"/>
                <a:cs typeface="Yu Gothic" pitchFamily="34" charset="-120"/>
              </a:rPr>
              <a:t>検証B｜起点は「成果の可視化」</a:t>
            </a:r>
            <a:endParaRPr lang="en-US" sz="1000" dirty="0"/>
          </a:p>
        </p:txBody>
      </p:sp>
      <p:sp>
        <p:nvSpPr>
          <p:cNvPr id="14" name="Text 12"/>
          <p:cNvSpPr/>
          <p:nvPr/>
        </p:nvSpPr>
        <p:spPr>
          <a:xfrm>
            <a:off x="4398264" y="1591056"/>
            <a:ext cx="3346704" cy="1417320"/>
          </a:xfrm>
          <a:prstGeom prst="rect">
            <a:avLst/>
          </a:prstGeom>
          <a:noFill/>
          <a:ln/>
        </p:spPr>
        <p:txBody>
          <a:bodyPr wrap="square" lIns="0" tIns="0" rIns="0" bIns="0" rtlCol="0" anchor="t"/>
          <a:lstStyle/>
          <a:p>
            <a:pPr marL="0" indent="0">
              <a:lnSpc>
                <a:spcPts val="1300"/>
              </a:lnSpc>
              <a:buNone/>
            </a:pPr>
            <a:r>
              <a:rPr lang="en-US" sz="850" dirty="0">
                <a:solidFill>
                  <a:srgbClr val="3A3A3A"/>
                </a:solidFill>
                <a:latin typeface="Yu Gothic" pitchFamily="34" charset="0"/>
                <a:ea typeface="Yu Gothic" pitchFamily="34" charset="-122"/>
                <a:cs typeface="Yu Gothic" pitchFamily="34" charset="-120"/>
              </a:rPr>
              <a:t>事前入店でイベントを実施した4週は、いずれも事前入店段階でPI 2〜6件を獲得。</a:t>
            </a:r>
            <a:endParaRPr lang="en-US" sz="850" dirty="0"/>
          </a:p>
          <a:p>
            <a:pPr marL="0" indent="0">
              <a:lnSpc>
                <a:spcPts val="1300"/>
              </a:lnSpc>
              <a:buNone/>
            </a:pPr>
            <a:endParaRPr lang="en-US" sz="850" dirty="0"/>
          </a:p>
          <a:p>
            <a:pPr marL="0" indent="0">
              <a:lnSpc>
                <a:spcPts val="1300"/>
              </a:lnSpc>
              <a:buNone/>
            </a:pPr>
            <a:r>
              <a:rPr lang="en-US" sz="850" dirty="0">
                <a:solidFill>
                  <a:srgbClr val="3A3A3A"/>
                </a:solidFill>
                <a:latin typeface="Yu Gothic" pitchFamily="34" charset="0"/>
                <a:ea typeface="Yu Gothic" pitchFamily="34" charset="-122"/>
                <a:cs typeface="Yu Gothic" pitchFamily="34" charset="-120"/>
              </a:rPr>
              <a:t>店舗様に成果を体感いただけたことが、当週の巻き込みにつながっています。</a:t>
            </a:r>
            <a:endParaRPr lang="en-US" sz="850" dirty="0"/>
          </a:p>
        </p:txBody>
      </p:sp>
      <p:sp>
        <p:nvSpPr>
          <p:cNvPr id="15" name="Shape 13"/>
          <p:cNvSpPr/>
          <p:nvPr/>
        </p:nvSpPr>
        <p:spPr>
          <a:xfrm>
            <a:off x="8055864" y="1243584"/>
            <a:ext cx="3739896" cy="1874520"/>
          </a:xfrm>
          <a:prstGeom prst="rect">
            <a:avLst/>
          </a:prstGeom>
          <a:solidFill>
            <a:srgbClr val="FFFFFF"/>
          </a:solidFill>
          <a:ln w="9525">
            <a:solidFill>
              <a:srgbClr val="E0E0E0"/>
            </a:solidFill>
            <a:prstDash val="solid"/>
          </a:ln>
        </p:spPr>
        <p:txBody>
          <a:bodyPr/>
          <a:lstStyle/>
          <a:p>
            <a:endParaRPr lang="ja-JP" altLang="en-US"/>
          </a:p>
        </p:txBody>
      </p:sp>
      <p:sp>
        <p:nvSpPr>
          <p:cNvPr id="16" name="Shape 14"/>
          <p:cNvSpPr/>
          <p:nvPr/>
        </p:nvSpPr>
        <p:spPr>
          <a:xfrm>
            <a:off x="8055864" y="1243584"/>
            <a:ext cx="41148" cy="1874520"/>
          </a:xfrm>
          <a:prstGeom prst="rect">
            <a:avLst/>
          </a:prstGeom>
          <a:solidFill>
            <a:srgbClr val="CC0000"/>
          </a:solidFill>
          <a:ln/>
        </p:spPr>
        <p:txBody>
          <a:bodyPr/>
          <a:lstStyle/>
          <a:p>
            <a:endParaRPr lang="ja-JP" altLang="en-US"/>
          </a:p>
        </p:txBody>
      </p:sp>
      <p:sp>
        <p:nvSpPr>
          <p:cNvPr id="17" name="Text 15"/>
          <p:cNvSpPr/>
          <p:nvPr/>
        </p:nvSpPr>
        <p:spPr>
          <a:xfrm>
            <a:off x="8220456" y="1335024"/>
            <a:ext cx="3429000" cy="237744"/>
          </a:xfrm>
          <a:prstGeom prst="rect">
            <a:avLst/>
          </a:prstGeom>
          <a:noFill/>
          <a:ln/>
        </p:spPr>
        <p:txBody>
          <a:bodyPr wrap="square" lIns="0" tIns="0" rIns="0" bIns="0" rtlCol="0" anchor="ctr"/>
          <a:lstStyle/>
          <a:p>
            <a:pPr marL="0" indent="0">
              <a:buNone/>
            </a:pPr>
            <a:r>
              <a:rPr lang="en-US" sz="1000" b="1" dirty="0">
                <a:solidFill>
                  <a:srgbClr val="1A1A1A"/>
                </a:solidFill>
                <a:latin typeface="Yu Gothic" pitchFamily="34" charset="0"/>
                <a:ea typeface="Yu Gothic" pitchFamily="34" charset="-122"/>
                <a:cs typeface="Yu Gothic" pitchFamily="34" charset="-120"/>
              </a:rPr>
              <a:t>検証C｜結果は「当週の振り数」に表れる</a:t>
            </a:r>
            <a:endParaRPr lang="en-US" sz="1000" dirty="0"/>
          </a:p>
        </p:txBody>
      </p:sp>
      <p:sp>
        <p:nvSpPr>
          <p:cNvPr id="18" name="Text 16"/>
          <p:cNvSpPr/>
          <p:nvPr/>
        </p:nvSpPr>
        <p:spPr>
          <a:xfrm>
            <a:off x="8220456" y="1591056"/>
            <a:ext cx="3429000" cy="1417320"/>
          </a:xfrm>
          <a:prstGeom prst="rect">
            <a:avLst/>
          </a:prstGeom>
          <a:noFill/>
          <a:ln/>
        </p:spPr>
        <p:txBody>
          <a:bodyPr wrap="square" lIns="0" tIns="0" rIns="0" bIns="0" rtlCol="0" anchor="t"/>
          <a:lstStyle/>
          <a:p>
            <a:pPr marL="0" indent="0">
              <a:lnSpc>
                <a:spcPts val="1300"/>
              </a:lnSpc>
              <a:buNone/>
            </a:pPr>
            <a:r>
              <a:rPr lang="en-US" sz="850" dirty="0">
                <a:solidFill>
                  <a:srgbClr val="3A3A3A"/>
                </a:solidFill>
                <a:latin typeface="Yu Gothic" pitchFamily="34" charset="0"/>
                <a:ea typeface="Yu Gothic" pitchFamily="34" charset="-122"/>
                <a:cs typeface="Yu Gothic" pitchFamily="34" charset="-120"/>
              </a:rPr>
              <a:t>協力値〇：宝塚39件・東大阪30件。</a:t>
            </a:r>
            <a:endParaRPr lang="en-US" sz="850" dirty="0"/>
          </a:p>
          <a:p>
            <a:pPr marL="0" indent="0">
              <a:lnSpc>
                <a:spcPts val="1300"/>
              </a:lnSpc>
              <a:buNone/>
            </a:pPr>
            <a:r>
              <a:rPr lang="en-US" sz="850" dirty="0">
                <a:solidFill>
                  <a:srgbClr val="3A3A3A"/>
                </a:solidFill>
                <a:latin typeface="Yu Gothic" pitchFamily="34" charset="0"/>
                <a:ea typeface="Yu Gothic" pitchFamily="34" charset="-122"/>
                <a:cs typeface="Yu Gothic" pitchFamily="34" charset="-120"/>
              </a:rPr>
              <a:t>協力値△：三田16件・平野13件。</a:t>
            </a:r>
            <a:endParaRPr lang="en-US" sz="850" dirty="0"/>
          </a:p>
          <a:p>
            <a:pPr marL="0" indent="0">
              <a:lnSpc>
                <a:spcPts val="1300"/>
              </a:lnSpc>
              <a:buNone/>
            </a:pPr>
            <a:endParaRPr lang="en-US" sz="850" dirty="0"/>
          </a:p>
          <a:p>
            <a:pPr marL="0" indent="0">
              <a:lnSpc>
                <a:spcPts val="1300"/>
              </a:lnSpc>
              <a:buNone/>
            </a:pPr>
            <a:r>
              <a:rPr lang="en-US" sz="850" dirty="0">
                <a:solidFill>
                  <a:srgbClr val="3A3A3A"/>
                </a:solidFill>
                <a:latin typeface="Yu Gothic" pitchFamily="34" charset="0"/>
                <a:ea typeface="Yu Gothic" pitchFamily="34" charset="-122"/>
                <a:cs typeface="Yu Gothic" pitchFamily="34" charset="-120"/>
              </a:rPr>
              <a:t>事前入店での関係構築が、イベント週のトスアップ量として回収されています。</a:t>
            </a:r>
            <a:endParaRPr lang="en-US" sz="850" dirty="0"/>
          </a:p>
        </p:txBody>
      </p:sp>
      <p:sp>
        <p:nvSpPr>
          <p:cNvPr id="19" name="Text 17"/>
          <p:cNvSpPr/>
          <p:nvPr/>
        </p:nvSpPr>
        <p:spPr>
          <a:xfrm>
            <a:off x="411480" y="3273552"/>
            <a:ext cx="11384280" cy="310896"/>
          </a:xfrm>
          <a:prstGeom prst="rect">
            <a:avLst/>
          </a:prstGeom>
          <a:noFill/>
          <a:ln/>
        </p:spPr>
        <p:txBody>
          <a:bodyPr wrap="square" lIns="0" tIns="0" rIns="0" bIns="0" rtlCol="0" anchor="ctr"/>
          <a:lstStyle/>
          <a:p>
            <a:pPr marL="0" indent="0">
              <a:buNone/>
            </a:pPr>
            <a:r>
              <a:rPr lang="en-US" sz="1050" b="1" dirty="0">
                <a:solidFill>
                  <a:srgbClr val="CC0000"/>
                </a:solidFill>
                <a:latin typeface="Yu Gothic" pitchFamily="34" charset="0"/>
                <a:ea typeface="Yu Gothic" pitchFamily="34" charset="-122"/>
                <a:cs typeface="Yu Gothic" pitchFamily="34" charset="-120"/>
              </a:rPr>
              <a:t>メカニズム ── 事前入店イベントの実施 → 事前入店段階での成果（PI 2〜6件）→ 店舗様の協力値〇 → 当週の振り数増加 → 総販の上振れ</a:t>
            </a:r>
            <a:endParaRPr lang="en-US" sz="1050" dirty="0"/>
          </a:p>
        </p:txBody>
      </p:sp>
      <p:sp>
        <p:nvSpPr>
          <p:cNvPr id="20" name="Shape 18"/>
          <p:cNvSpPr/>
          <p:nvPr/>
        </p:nvSpPr>
        <p:spPr>
          <a:xfrm>
            <a:off x="411480" y="3675888"/>
            <a:ext cx="11384280" cy="1207008"/>
          </a:xfrm>
          <a:prstGeom prst="rect">
            <a:avLst/>
          </a:prstGeom>
          <a:solidFill>
            <a:srgbClr val="FFFFFF"/>
          </a:solidFill>
          <a:ln w="12700">
            <a:solidFill>
              <a:srgbClr val="CC0000"/>
            </a:solidFill>
            <a:prstDash val="solid"/>
          </a:ln>
        </p:spPr>
        <p:txBody>
          <a:bodyPr/>
          <a:lstStyle/>
          <a:p>
            <a:endParaRPr lang="ja-JP" altLang="en-US"/>
          </a:p>
        </p:txBody>
      </p:sp>
      <p:sp>
        <p:nvSpPr>
          <p:cNvPr id="21" name="Text 19"/>
          <p:cNvSpPr/>
          <p:nvPr/>
        </p:nvSpPr>
        <p:spPr>
          <a:xfrm>
            <a:off x="621792" y="3767328"/>
            <a:ext cx="5486400" cy="256032"/>
          </a:xfrm>
          <a:prstGeom prst="rect">
            <a:avLst/>
          </a:prstGeom>
          <a:noFill/>
          <a:ln/>
        </p:spPr>
        <p:txBody>
          <a:bodyPr wrap="square" lIns="0" tIns="0" rIns="0" bIns="0" rtlCol="0" anchor="ctr"/>
          <a:lstStyle/>
          <a:p>
            <a:pPr marL="0" indent="0">
              <a:buNone/>
            </a:pPr>
            <a:r>
              <a:rPr lang="en-US" sz="1000" b="1" dirty="0">
                <a:solidFill>
                  <a:srgbClr val="CC0000"/>
                </a:solidFill>
                <a:latin typeface="Yu Gothic" pitchFamily="34" charset="0"/>
                <a:ea typeface="Yu Gothic" pitchFamily="34" charset="-122"/>
                <a:cs typeface="Yu Gothic" pitchFamily="34" charset="-120"/>
              </a:rPr>
              <a:t>⚠ 例外事例 ── 7月4w 堺中央環状店</a:t>
            </a:r>
            <a:endParaRPr lang="en-US" sz="1000" dirty="0"/>
          </a:p>
        </p:txBody>
      </p:sp>
      <p:sp>
        <p:nvSpPr>
          <p:cNvPr id="22" name="Text 20"/>
          <p:cNvSpPr/>
          <p:nvPr/>
        </p:nvSpPr>
        <p:spPr>
          <a:xfrm>
            <a:off x="621792" y="4041648"/>
            <a:ext cx="10954512" cy="768096"/>
          </a:xfrm>
          <a:prstGeom prst="rect">
            <a:avLst/>
          </a:prstGeom>
          <a:noFill/>
          <a:ln/>
        </p:spPr>
        <p:txBody>
          <a:bodyPr wrap="square" lIns="0" tIns="0" rIns="0" bIns="0" rtlCol="0" anchor="t"/>
          <a:lstStyle/>
          <a:p>
            <a:pPr marL="0" indent="0">
              <a:lnSpc>
                <a:spcPts val="1300"/>
              </a:lnSpc>
              <a:buNone/>
            </a:pPr>
            <a:r>
              <a:rPr lang="en-US" sz="900" dirty="0">
                <a:solidFill>
                  <a:srgbClr val="3A3A3A"/>
                </a:solidFill>
                <a:latin typeface="Yu Gothic" pitchFamily="34" charset="0"/>
                <a:ea typeface="Yu Gothic" pitchFamily="34" charset="-122"/>
                <a:cs typeface="Yu Gothic" pitchFamily="34" charset="-120"/>
              </a:rPr>
              <a:t>堺中央環状店は協力値〇でありながら、当週の振り数は9件と最も少ない結果でした。にもかかわらず総販29件（宝塚と同水準）を確保しています。内訳を見ると取替11件で、これは全82部隊中3位・中央値の3.4倍にあたります。</a:t>
            </a:r>
            <a:endParaRPr lang="en-US" sz="900" dirty="0"/>
          </a:p>
          <a:p>
            <a:pPr marL="0" indent="0">
              <a:lnSpc>
                <a:spcPts val="1300"/>
              </a:lnSpc>
              <a:buNone/>
            </a:pPr>
            <a:r>
              <a:rPr lang="en-US" sz="900" dirty="0">
                <a:solidFill>
                  <a:srgbClr val="3A3A3A"/>
                </a:solidFill>
                <a:latin typeface="Yu Gothic" pitchFamily="34" charset="0"/>
                <a:ea typeface="Yu Gothic" pitchFamily="34" charset="-122"/>
                <a:cs typeface="Yu Gothic" pitchFamily="34" charset="-120"/>
              </a:rPr>
              <a:t>振り数が少ない中でこの実績を出せたのは、顧客照会を徹底した自力の掘り起こしによるものです。つまり、振り数はPIの量を左右する一方で、取替は自力活動で創出できる商材である、という示唆が得られました。</a:t>
            </a:r>
            <a:endParaRPr lang="en-US" sz="900" dirty="0"/>
          </a:p>
        </p:txBody>
      </p:sp>
      <p:sp>
        <p:nvSpPr>
          <p:cNvPr id="23" name="Text 21"/>
          <p:cNvSpPr/>
          <p:nvPr/>
        </p:nvSpPr>
        <p:spPr>
          <a:xfrm>
            <a:off x="411480" y="5047488"/>
            <a:ext cx="2743200" cy="237744"/>
          </a:xfrm>
          <a:prstGeom prst="rect">
            <a:avLst/>
          </a:prstGeom>
          <a:noFill/>
          <a:ln/>
        </p:spPr>
        <p:txBody>
          <a:bodyPr wrap="square" lIns="0" tIns="0" rIns="0" bIns="0" rtlCol="0" anchor="ctr"/>
          <a:lstStyle/>
          <a:p>
            <a:pPr marL="0" indent="0">
              <a:buNone/>
            </a:pPr>
            <a:r>
              <a:rPr lang="en-US" sz="1000" b="1" dirty="0">
                <a:solidFill>
                  <a:srgbClr val="1A1A1A"/>
                </a:solidFill>
                <a:latin typeface="Yu Gothic" pitchFamily="34" charset="0"/>
                <a:ea typeface="Yu Gothic" pitchFamily="34" charset="-122"/>
                <a:cs typeface="Yu Gothic" pitchFamily="34" charset="-120"/>
              </a:rPr>
              <a:t>次月アクション</a:t>
            </a:r>
            <a:endParaRPr lang="en-US" sz="1000" dirty="0"/>
          </a:p>
        </p:txBody>
      </p:sp>
      <p:sp>
        <p:nvSpPr>
          <p:cNvPr id="24" name="Shape 22"/>
          <p:cNvSpPr/>
          <p:nvPr/>
        </p:nvSpPr>
        <p:spPr>
          <a:xfrm>
            <a:off x="411480" y="5340096"/>
            <a:ext cx="3657600" cy="868680"/>
          </a:xfrm>
          <a:prstGeom prst="rect">
            <a:avLst/>
          </a:prstGeom>
          <a:solidFill>
            <a:srgbClr val="FFFFFF"/>
          </a:solidFill>
          <a:ln w="9525">
            <a:solidFill>
              <a:srgbClr val="E0E0E0"/>
            </a:solidFill>
            <a:prstDash val="solid"/>
          </a:ln>
        </p:spPr>
        <p:txBody>
          <a:bodyPr/>
          <a:lstStyle/>
          <a:p>
            <a:endParaRPr lang="ja-JP" altLang="en-US"/>
          </a:p>
        </p:txBody>
      </p:sp>
      <p:sp>
        <p:nvSpPr>
          <p:cNvPr id="25" name="Shape 23"/>
          <p:cNvSpPr/>
          <p:nvPr/>
        </p:nvSpPr>
        <p:spPr>
          <a:xfrm>
            <a:off x="411480" y="5340096"/>
            <a:ext cx="41148" cy="868680"/>
          </a:xfrm>
          <a:prstGeom prst="rect">
            <a:avLst/>
          </a:prstGeom>
          <a:solidFill>
            <a:srgbClr val="CC0000"/>
          </a:solidFill>
          <a:ln/>
        </p:spPr>
        <p:txBody>
          <a:bodyPr/>
          <a:lstStyle/>
          <a:p>
            <a:endParaRPr lang="ja-JP" altLang="en-US"/>
          </a:p>
        </p:txBody>
      </p:sp>
      <p:sp>
        <p:nvSpPr>
          <p:cNvPr id="26" name="Text 24"/>
          <p:cNvSpPr/>
          <p:nvPr/>
        </p:nvSpPr>
        <p:spPr>
          <a:xfrm>
            <a:off x="576072" y="5431536"/>
            <a:ext cx="3346704" cy="237744"/>
          </a:xfrm>
          <a:prstGeom prst="rect">
            <a:avLst/>
          </a:prstGeom>
          <a:noFill/>
          <a:ln/>
        </p:spPr>
        <p:txBody>
          <a:bodyPr wrap="square" lIns="0" tIns="0" rIns="0" bIns="0" rtlCol="0" anchor="ctr"/>
          <a:lstStyle/>
          <a:p>
            <a:pPr marL="0" indent="0">
              <a:buNone/>
            </a:pPr>
            <a:r>
              <a:rPr lang="en-US" sz="1000" b="1" dirty="0">
                <a:solidFill>
                  <a:srgbClr val="1A1A1A"/>
                </a:solidFill>
                <a:latin typeface="Yu Gothic" pitchFamily="34" charset="0"/>
                <a:ea typeface="Yu Gothic" pitchFamily="34" charset="-122"/>
                <a:cs typeface="Yu Gothic" pitchFamily="34" charset="-120"/>
              </a:rPr>
              <a:t>① 事前入店ミニイベントの標準化</a:t>
            </a:r>
            <a:endParaRPr lang="en-US" sz="1000" dirty="0"/>
          </a:p>
        </p:txBody>
      </p:sp>
      <p:sp>
        <p:nvSpPr>
          <p:cNvPr id="27" name="Text 25"/>
          <p:cNvSpPr/>
          <p:nvPr/>
        </p:nvSpPr>
        <p:spPr>
          <a:xfrm>
            <a:off x="576072" y="5687568"/>
            <a:ext cx="3346704" cy="411480"/>
          </a:xfrm>
          <a:prstGeom prst="rect">
            <a:avLst/>
          </a:prstGeom>
          <a:noFill/>
          <a:ln/>
        </p:spPr>
        <p:txBody>
          <a:bodyPr wrap="square" lIns="0" tIns="0" rIns="0" bIns="0" rtlCol="0" anchor="t"/>
          <a:lstStyle/>
          <a:p>
            <a:pPr marL="0" indent="0">
              <a:lnSpc>
                <a:spcPts val="1300"/>
              </a:lnSpc>
              <a:buNone/>
            </a:pPr>
            <a:r>
              <a:rPr lang="en-US" sz="850" dirty="0">
                <a:solidFill>
                  <a:srgbClr val="3A3A3A"/>
                </a:solidFill>
                <a:latin typeface="Yu Gothic" pitchFamily="34" charset="0"/>
                <a:ea typeface="Yu Gothic" pitchFamily="34" charset="-122"/>
                <a:cs typeface="Yu Gothic" pitchFamily="34" charset="-120"/>
              </a:rPr>
              <a:t>ロケハンで終わらせず、レジチケ・レシートクジ等の軽装コンテンツで事前入店段階のPI 2件以上を必達とする。</a:t>
            </a:r>
            <a:endParaRPr lang="en-US" sz="850" dirty="0"/>
          </a:p>
        </p:txBody>
      </p:sp>
      <p:sp>
        <p:nvSpPr>
          <p:cNvPr id="28" name="Shape 26"/>
          <p:cNvSpPr/>
          <p:nvPr/>
        </p:nvSpPr>
        <p:spPr>
          <a:xfrm>
            <a:off x="4233672" y="5340096"/>
            <a:ext cx="3657600" cy="868680"/>
          </a:xfrm>
          <a:prstGeom prst="rect">
            <a:avLst/>
          </a:prstGeom>
          <a:solidFill>
            <a:srgbClr val="FFFFFF"/>
          </a:solidFill>
          <a:ln w="9525">
            <a:solidFill>
              <a:srgbClr val="E0E0E0"/>
            </a:solidFill>
            <a:prstDash val="solid"/>
          </a:ln>
        </p:spPr>
        <p:txBody>
          <a:bodyPr/>
          <a:lstStyle/>
          <a:p>
            <a:endParaRPr lang="ja-JP" altLang="en-US"/>
          </a:p>
        </p:txBody>
      </p:sp>
      <p:sp>
        <p:nvSpPr>
          <p:cNvPr id="29" name="Shape 27"/>
          <p:cNvSpPr/>
          <p:nvPr/>
        </p:nvSpPr>
        <p:spPr>
          <a:xfrm>
            <a:off x="4233672" y="5340096"/>
            <a:ext cx="41148" cy="868680"/>
          </a:xfrm>
          <a:prstGeom prst="rect">
            <a:avLst/>
          </a:prstGeom>
          <a:solidFill>
            <a:srgbClr val="CC0000"/>
          </a:solidFill>
          <a:ln/>
        </p:spPr>
        <p:txBody>
          <a:bodyPr/>
          <a:lstStyle/>
          <a:p>
            <a:endParaRPr lang="ja-JP" altLang="en-US"/>
          </a:p>
        </p:txBody>
      </p:sp>
      <p:sp>
        <p:nvSpPr>
          <p:cNvPr id="30" name="Text 28"/>
          <p:cNvSpPr/>
          <p:nvPr/>
        </p:nvSpPr>
        <p:spPr>
          <a:xfrm>
            <a:off x="4398264" y="5431536"/>
            <a:ext cx="3346704" cy="237744"/>
          </a:xfrm>
          <a:prstGeom prst="rect">
            <a:avLst/>
          </a:prstGeom>
          <a:noFill/>
          <a:ln/>
        </p:spPr>
        <p:txBody>
          <a:bodyPr wrap="square" lIns="0" tIns="0" rIns="0" bIns="0" rtlCol="0" anchor="ctr"/>
          <a:lstStyle/>
          <a:p>
            <a:pPr marL="0" indent="0">
              <a:buNone/>
            </a:pPr>
            <a:r>
              <a:rPr lang="en-US" sz="1000" b="1" dirty="0">
                <a:solidFill>
                  <a:srgbClr val="1A1A1A"/>
                </a:solidFill>
                <a:latin typeface="Yu Gothic" pitchFamily="34" charset="0"/>
                <a:ea typeface="Yu Gothic" pitchFamily="34" charset="-122"/>
                <a:cs typeface="Yu Gothic" pitchFamily="34" charset="-120"/>
              </a:rPr>
              <a:t>② 事前入店での成果報告を仕組み化</a:t>
            </a:r>
            <a:endParaRPr lang="en-US" sz="1000" dirty="0"/>
          </a:p>
        </p:txBody>
      </p:sp>
      <p:sp>
        <p:nvSpPr>
          <p:cNvPr id="31" name="Text 29"/>
          <p:cNvSpPr/>
          <p:nvPr/>
        </p:nvSpPr>
        <p:spPr>
          <a:xfrm>
            <a:off x="4398264" y="5687568"/>
            <a:ext cx="3346704" cy="411480"/>
          </a:xfrm>
          <a:prstGeom prst="rect">
            <a:avLst/>
          </a:prstGeom>
          <a:noFill/>
          <a:ln/>
        </p:spPr>
        <p:txBody>
          <a:bodyPr wrap="square" lIns="0" tIns="0" rIns="0" bIns="0" rtlCol="0" anchor="t"/>
          <a:lstStyle/>
          <a:p>
            <a:pPr marL="0" indent="0">
              <a:lnSpc>
                <a:spcPts val="1300"/>
              </a:lnSpc>
              <a:buNone/>
            </a:pPr>
            <a:r>
              <a:rPr lang="en-US" sz="850" dirty="0">
                <a:solidFill>
                  <a:srgbClr val="3A3A3A"/>
                </a:solidFill>
                <a:latin typeface="Yu Gothic" pitchFamily="34" charset="0"/>
                <a:ea typeface="Yu Gothic" pitchFamily="34" charset="-122"/>
                <a:cs typeface="Yu Gothic" pitchFamily="34" charset="-120"/>
              </a:rPr>
              <a:t>事前入店の獲得実績を店舗様へその場で共有し、イベント週の振り依頼につなげる導線を全店で統一する。</a:t>
            </a:r>
            <a:endParaRPr lang="en-US" sz="850" dirty="0"/>
          </a:p>
        </p:txBody>
      </p:sp>
      <p:sp>
        <p:nvSpPr>
          <p:cNvPr id="32" name="Shape 30"/>
          <p:cNvSpPr/>
          <p:nvPr/>
        </p:nvSpPr>
        <p:spPr>
          <a:xfrm>
            <a:off x="8055864" y="5340096"/>
            <a:ext cx="3739896" cy="868680"/>
          </a:xfrm>
          <a:prstGeom prst="rect">
            <a:avLst/>
          </a:prstGeom>
          <a:solidFill>
            <a:srgbClr val="FFFFFF"/>
          </a:solidFill>
          <a:ln w="9525">
            <a:solidFill>
              <a:srgbClr val="E0E0E0"/>
            </a:solidFill>
            <a:prstDash val="solid"/>
          </a:ln>
        </p:spPr>
        <p:txBody>
          <a:bodyPr/>
          <a:lstStyle/>
          <a:p>
            <a:endParaRPr lang="ja-JP" altLang="en-US"/>
          </a:p>
        </p:txBody>
      </p:sp>
      <p:sp>
        <p:nvSpPr>
          <p:cNvPr id="33" name="Shape 31"/>
          <p:cNvSpPr/>
          <p:nvPr/>
        </p:nvSpPr>
        <p:spPr>
          <a:xfrm>
            <a:off x="8055864" y="5340096"/>
            <a:ext cx="41148" cy="868680"/>
          </a:xfrm>
          <a:prstGeom prst="rect">
            <a:avLst/>
          </a:prstGeom>
          <a:solidFill>
            <a:srgbClr val="CC0000"/>
          </a:solidFill>
          <a:ln/>
        </p:spPr>
        <p:txBody>
          <a:bodyPr/>
          <a:lstStyle/>
          <a:p>
            <a:endParaRPr lang="ja-JP" altLang="en-US"/>
          </a:p>
        </p:txBody>
      </p:sp>
      <p:sp>
        <p:nvSpPr>
          <p:cNvPr id="34" name="Text 32"/>
          <p:cNvSpPr/>
          <p:nvPr/>
        </p:nvSpPr>
        <p:spPr>
          <a:xfrm>
            <a:off x="8220456" y="5431536"/>
            <a:ext cx="3429000" cy="237744"/>
          </a:xfrm>
          <a:prstGeom prst="rect">
            <a:avLst/>
          </a:prstGeom>
          <a:noFill/>
          <a:ln/>
        </p:spPr>
        <p:txBody>
          <a:bodyPr wrap="square" lIns="0" tIns="0" rIns="0" bIns="0" rtlCol="0" anchor="ctr"/>
          <a:lstStyle/>
          <a:p>
            <a:pPr marL="0" indent="0">
              <a:buNone/>
            </a:pPr>
            <a:r>
              <a:rPr lang="en-US" sz="1000" b="1" dirty="0">
                <a:solidFill>
                  <a:srgbClr val="1A1A1A"/>
                </a:solidFill>
                <a:latin typeface="Yu Gothic" pitchFamily="34" charset="0"/>
                <a:ea typeface="Yu Gothic" pitchFamily="34" charset="-122"/>
                <a:cs typeface="Yu Gothic" pitchFamily="34" charset="-120"/>
              </a:rPr>
              <a:t>③ 顧客照会→取替の型を横展開</a:t>
            </a:r>
            <a:endParaRPr lang="en-US" sz="1000" dirty="0"/>
          </a:p>
        </p:txBody>
      </p:sp>
      <p:sp>
        <p:nvSpPr>
          <p:cNvPr id="35" name="Text 33"/>
          <p:cNvSpPr/>
          <p:nvPr/>
        </p:nvSpPr>
        <p:spPr>
          <a:xfrm>
            <a:off x="8220456" y="5687568"/>
            <a:ext cx="3429000" cy="411480"/>
          </a:xfrm>
          <a:prstGeom prst="rect">
            <a:avLst/>
          </a:prstGeom>
          <a:noFill/>
          <a:ln/>
        </p:spPr>
        <p:txBody>
          <a:bodyPr wrap="square" lIns="0" tIns="0" rIns="0" bIns="0" rtlCol="0" anchor="t"/>
          <a:lstStyle/>
          <a:p>
            <a:pPr marL="0" indent="0">
              <a:lnSpc>
                <a:spcPts val="1300"/>
              </a:lnSpc>
              <a:buNone/>
            </a:pPr>
            <a:r>
              <a:rPr lang="en-US" sz="850" dirty="0">
                <a:solidFill>
                  <a:srgbClr val="3A3A3A"/>
                </a:solidFill>
                <a:latin typeface="Yu Gothic" pitchFamily="34" charset="0"/>
                <a:ea typeface="Yu Gothic" pitchFamily="34" charset="-122"/>
                <a:cs typeface="Yu Gothic" pitchFamily="34" charset="-120"/>
              </a:rPr>
              <a:t>堺の取替11件は再現可能。既存ドコモ顧客の照会を全店必須項目化し、振り数に依存しない実績を確保する。</a:t>
            </a:r>
            <a:endParaRPr lang="en-US" sz="850" dirty="0"/>
          </a:p>
        </p:txBody>
      </p:sp>
      <p:sp>
        <p:nvSpPr>
          <p:cNvPr id="36" name="Shape 34"/>
          <p:cNvSpPr/>
          <p:nvPr/>
        </p:nvSpPr>
        <p:spPr>
          <a:xfrm>
            <a:off x="411480" y="6355080"/>
            <a:ext cx="11384280" cy="0"/>
          </a:xfrm>
          <a:prstGeom prst="line">
            <a:avLst/>
          </a:prstGeom>
          <a:noFill/>
          <a:ln w="9525">
            <a:solidFill>
              <a:srgbClr val="E0E0E0"/>
            </a:solidFill>
            <a:prstDash val="solid"/>
          </a:ln>
        </p:spPr>
        <p:txBody>
          <a:bodyPr/>
          <a:lstStyle/>
          <a:p>
            <a:endParaRPr lang="ja-JP" altLang="en-US"/>
          </a:p>
        </p:txBody>
      </p:sp>
      <p:sp>
        <p:nvSpPr>
          <p:cNvPr id="37" name="Text 35"/>
          <p:cNvSpPr/>
          <p:nvPr/>
        </p:nvSpPr>
        <p:spPr>
          <a:xfrm>
            <a:off x="411480" y="6400800"/>
            <a:ext cx="8778240" cy="274320"/>
          </a:xfrm>
          <a:prstGeom prst="rect">
            <a:avLst/>
          </a:prstGeom>
          <a:noFill/>
          <a:ln/>
        </p:spPr>
        <p:txBody>
          <a:bodyPr wrap="square" lIns="0" tIns="0" rIns="0" bIns="0" rtlCol="0" anchor="ctr"/>
          <a:lstStyle/>
          <a:p>
            <a:pPr marL="0" indent="0">
              <a:buNone/>
            </a:pPr>
            <a:r>
              <a:rPr lang="en-US" sz="750" dirty="0">
                <a:solidFill>
                  <a:srgbClr val="767676"/>
                </a:solidFill>
                <a:latin typeface="Yu Gothic" pitchFamily="34" charset="0"/>
                <a:ea typeface="Yu Gothic" pitchFamily="34" charset="-122"/>
                <a:cs typeface="Yu Gothic" pitchFamily="34" charset="-120"/>
              </a:rPr>
              <a:t>14 / 19　振り数は店舗社員様からのトスアップ件数。東大阪長田店は振り・カットイン合計。加古川店は振り数の記録なし。</a:t>
            </a:r>
            <a:endParaRPr lang="en-US" sz="750" dirty="0"/>
          </a:p>
        </p:txBody>
      </p:sp>
      <p:sp>
        <p:nvSpPr>
          <p:cNvPr id="38" name="Text 36"/>
          <p:cNvSpPr/>
          <p:nvPr/>
        </p:nvSpPr>
        <p:spPr>
          <a:xfrm>
            <a:off x="9235440" y="6400800"/>
            <a:ext cx="2560320" cy="274320"/>
          </a:xfrm>
          <a:prstGeom prst="rect">
            <a:avLst/>
          </a:prstGeom>
          <a:noFill/>
          <a:ln/>
        </p:spPr>
        <p:txBody>
          <a:bodyPr wrap="square" lIns="0" tIns="0" rIns="0" bIns="0" rtlCol="0" anchor="ctr"/>
          <a:lstStyle/>
          <a:p>
            <a:pPr marL="0" indent="0" algn="r">
              <a:buNone/>
            </a:pPr>
            <a:r>
              <a:rPr lang="en-US" sz="750" dirty="0">
                <a:solidFill>
                  <a:srgbClr val="767676"/>
                </a:solidFill>
                <a:latin typeface="Yu Gothic" pitchFamily="34" charset="0"/>
                <a:ea typeface="Yu Gothic" pitchFamily="34" charset="-122"/>
                <a:cs typeface="Yu Gothic" pitchFamily="34" charset="-120"/>
              </a:rPr>
              <a:t>DREAM TEAM · JULY 2026</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11480" y="292608"/>
            <a:ext cx="384048" cy="256032"/>
          </a:xfrm>
          <a:prstGeom prst="rect">
            <a:avLst/>
          </a:prstGeom>
          <a:solidFill>
            <a:srgbClr val="CC0000"/>
          </a:solidFill>
          <a:ln/>
        </p:spPr>
        <p:txBody>
          <a:bodyPr/>
          <a:lstStyle/>
          <a:p>
            <a:endParaRPr lang="ja-JP" altLang="en-US"/>
          </a:p>
        </p:txBody>
      </p:sp>
      <p:sp>
        <p:nvSpPr>
          <p:cNvPr id="3" name="Text 1"/>
          <p:cNvSpPr/>
          <p:nvPr/>
        </p:nvSpPr>
        <p:spPr>
          <a:xfrm>
            <a:off x="411480" y="292608"/>
            <a:ext cx="384048"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Yu Gothic" pitchFamily="34" charset="0"/>
                <a:ea typeface="Yu Gothic" pitchFamily="34" charset="-122"/>
                <a:cs typeface="Yu Gothic" pitchFamily="34" charset="-120"/>
              </a:rPr>
              <a:t>15</a:t>
            </a:r>
            <a:endParaRPr lang="en-US" sz="1200" dirty="0"/>
          </a:p>
        </p:txBody>
      </p:sp>
      <p:sp>
        <p:nvSpPr>
          <p:cNvPr id="4" name="Text 2"/>
          <p:cNvSpPr/>
          <p:nvPr/>
        </p:nvSpPr>
        <p:spPr>
          <a:xfrm>
            <a:off x="896112" y="274320"/>
            <a:ext cx="10881360" cy="292608"/>
          </a:xfrm>
          <a:prstGeom prst="rect">
            <a:avLst/>
          </a:prstGeom>
          <a:noFill/>
          <a:ln/>
        </p:spPr>
        <p:txBody>
          <a:bodyPr wrap="square" lIns="0" tIns="0" rIns="0" bIns="0" rtlCol="0" anchor="ctr"/>
          <a:lstStyle/>
          <a:p>
            <a:pPr marL="0" indent="0">
              <a:buNone/>
            </a:pPr>
            <a:r>
              <a:rPr lang="en-US" sz="1700" b="1" dirty="0">
                <a:solidFill>
                  <a:srgbClr val="1A1A1A"/>
                </a:solidFill>
                <a:latin typeface="Yu Gothic" pitchFamily="34" charset="0"/>
                <a:ea typeface="Yu Gothic" pitchFamily="34" charset="-122"/>
                <a:cs typeface="Yu Gothic" pitchFamily="34" charset="-120"/>
              </a:rPr>
              <a:t>論点2｜関西イベント全部隊の中でのポジション（週次の量）</a:t>
            </a:r>
            <a:endParaRPr lang="en-US" sz="1700" dirty="0"/>
          </a:p>
        </p:txBody>
      </p:sp>
      <p:sp>
        <p:nvSpPr>
          <p:cNvPr id="5" name="Text 3"/>
          <p:cNvSpPr/>
          <p:nvPr/>
        </p:nvSpPr>
        <p:spPr>
          <a:xfrm>
            <a:off x="429768" y="621792"/>
            <a:ext cx="11338560" cy="384048"/>
          </a:xfrm>
          <a:prstGeom prst="rect">
            <a:avLst/>
          </a:prstGeom>
          <a:noFill/>
          <a:ln/>
        </p:spPr>
        <p:txBody>
          <a:bodyPr wrap="square" lIns="0" tIns="0" rIns="0" bIns="0" rtlCol="0" anchor="ctr"/>
          <a:lstStyle/>
          <a:p>
            <a:pPr marL="0" indent="0">
              <a:lnSpc>
                <a:spcPts val="1400"/>
              </a:lnSpc>
              <a:buNone/>
            </a:pPr>
            <a:r>
              <a:rPr lang="en-US" sz="950" dirty="0">
                <a:solidFill>
                  <a:srgbClr val="767676"/>
                </a:solidFill>
                <a:latin typeface="Yu Gothic" pitchFamily="34" charset="0"/>
                <a:ea typeface="Yu Gothic" pitchFamily="34" charset="-122"/>
                <a:cs typeface="Yu Gothic" pitchFamily="34" charset="-120"/>
              </a:rPr>
              <a:t>7月関西のイベント全部隊 78〜82チームの週次実績に対し、Dreamチームの店舗イベント実績がどこに位置するかを、最上位・中央値・最下位と比較しました。</a:t>
            </a:r>
            <a:endParaRPr lang="en-US" sz="950" dirty="0"/>
          </a:p>
        </p:txBody>
      </p:sp>
      <p:sp>
        <p:nvSpPr>
          <p:cNvPr id="6" name="Shape 4"/>
          <p:cNvSpPr/>
          <p:nvPr/>
        </p:nvSpPr>
        <p:spPr>
          <a:xfrm>
            <a:off x="411480" y="1060704"/>
            <a:ext cx="11384280" cy="0"/>
          </a:xfrm>
          <a:prstGeom prst="line">
            <a:avLst/>
          </a:prstGeom>
          <a:noFill/>
          <a:ln w="9525">
            <a:solidFill>
              <a:srgbClr val="E0E0E0"/>
            </a:solidFill>
            <a:prstDash val="solid"/>
          </a:ln>
        </p:spPr>
        <p:txBody>
          <a:bodyPr/>
          <a:lstStyle/>
          <a:p>
            <a:endParaRPr lang="ja-JP" altLang="en-US"/>
          </a:p>
        </p:txBody>
      </p:sp>
      <p:sp>
        <p:nvSpPr>
          <p:cNvPr id="7" name="Text 5"/>
          <p:cNvSpPr/>
          <p:nvPr/>
        </p:nvSpPr>
        <p:spPr>
          <a:xfrm>
            <a:off x="411480" y="1207008"/>
            <a:ext cx="5486400" cy="237744"/>
          </a:xfrm>
          <a:prstGeom prst="rect">
            <a:avLst/>
          </a:prstGeom>
          <a:noFill/>
          <a:ln/>
        </p:spPr>
        <p:txBody>
          <a:bodyPr wrap="square" lIns="0" tIns="0" rIns="0" bIns="0" rtlCol="0" anchor="ctr"/>
          <a:lstStyle/>
          <a:p>
            <a:pPr marL="0" indent="0">
              <a:buNone/>
            </a:pPr>
            <a:r>
              <a:rPr lang="en-US" sz="1000" b="1" dirty="0">
                <a:solidFill>
                  <a:srgbClr val="1A1A1A"/>
                </a:solidFill>
                <a:latin typeface="Yu Gothic" pitchFamily="34" charset="0"/>
                <a:ea typeface="Yu Gothic" pitchFamily="34" charset="-122"/>
                <a:cs typeface="Yu Gothic" pitchFamily="34" charset="-120"/>
              </a:rPr>
              <a:t>PI（ポートイン）</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11480" y="1481328"/>
          <a:ext cx="5532120" cy="1371600"/>
        </p:xfrm>
        <a:graphic>
          <a:graphicData uri="http://schemas.openxmlformats.org/drawingml/2006/table">
            <a:tbl>
              <a:tblPr/>
              <a:tblGrid>
                <a:gridCol w="658368">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804672">
                  <a:extLst>
                    <a:ext uri="{9D8B030D-6E8A-4147-A177-3AD203B41FA5}">
                      <a16:colId xmlns:a16="http://schemas.microsoft.com/office/drawing/2014/main" val="20004"/>
                    </a:ext>
                  </a:extLst>
                </a:gridCol>
                <a:gridCol w="777240">
                  <a:extLst>
                    <a:ext uri="{9D8B030D-6E8A-4147-A177-3AD203B41FA5}">
                      <a16:colId xmlns:a16="http://schemas.microsoft.com/office/drawing/2014/main" val="20005"/>
                    </a:ext>
                  </a:extLst>
                </a:gridCol>
                <a:gridCol w="868680">
                  <a:extLst>
                    <a:ext uri="{9D8B030D-6E8A-4147-A177-3AD203B41FA5}">
                      <a16:colId xmlns:a16="http://schemas.microsoft.com/office/drawing/2014/main" val="20006"/>
                    </a:ext>
                  </a:extLst>
                </a:gridCol>
              </a:tblGrid>
              <a:tr h="274320">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週</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店舗</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Dream</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最上位</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中央値</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最下位</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順位</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extLst>
                  <a:ext uri="{0D108BD9-81ED-4DB2-BD59-A6C34878D82A}">
                    <a16:rowId xmlns:a16="http://schemas.microsoft.com/office/drawing/2014/main" val="10000"/>
                  </a:ext>
                </a:extLst>
              </a:tr>
              <a:tr h="274320">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7月1w</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平野</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17</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106</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27.5</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3</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63 / 80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7月2w</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三田</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11</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106</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29</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2</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73 / 78</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7月3w</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宝塚</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24</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254</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40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4</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71 / 82</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7月4w</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堺中環</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17</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139</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28.5</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7</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70 / 82</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 name="Text 6"/>
          <p:cNvSpPr/>
          <p:nvPr/>
        </p:nvSpPr>
        <p:spPr>
          <a:xfrm>
            <a:off x="6263640" y="1207008"/>
            <a:ext cx="5486400" cy="237744"/>
          </a:xfrm>
          <a:prstGeom prst="rect">
            <a:avLst/>
          </a:prstGeom>
          <a:noFill/>
          <a:ln/>
        </p:spPr>
        <p:txBody>
          <a:bodyPr wrap="square" lIns="0" tIns="0" rIns="0" bIns="0" rtlCol="0" anchor="ctr"/>
          <a:lstStyle/>
          <a:p>
            <a:pPr marL="0" indent="0">
              <a:buNone/>
            </a:pPr>
            <a:r>
              <a:rPr lang="en-US" sz="1000" b="1" dirty="0">
                <a:solidFill>
                  <a:srgbClr val="1A1A1A"/>
                </a:solidFill>
                <a:latin typeface="Yu Gothic" pitchFamily="34" charset="0"/>
                <a:ea typeface="Yu Gothic" pitchFamily="34" charset="-122"/>
                <a:cs typeface="Yu Gothic" pitchFamily="34" charset="-120"/>
              </a:rPr>
              <a:t>総販（PI＋取替＋純新規）</a:t>
            </a:r>
            <a:endParaRPr lang="en-US" sz="100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6263640" y="1481328"/>
          <a:ext cx="5532120" cy="1371600"/>
        </p:xfrm>
        <a:graphic>
          <a:graphicData uri="http://schemas.openxmlformats.org/drawingml/2006/table">
            <a:tbl>
              <a:tblPr/>
              <a:tblGrid>
                <a:gridCol w="658368">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804672">
                  <a:extLst>
                    <a:ext uri="{9D8B030D-6E8A-4147-A177-3AD203B41FA5}">
                      <a16:colId xmlns:a16="http://schemas.microsoft.com/office/drawing/2014/main" val="20004"/>
                    </a:ext>
                  </a:extLst>
                </a:gridCol>
                <a:gridCol w="777240">
                  <a:extLst>
                    <a:ext uri="{9D8B030D-6E8A-4147-A177-3AD203B41FA5}">
                      <a16:colId xmlns:a16="http://schemas.microsoft.com/office/drawing/2014/main" val="20005"/>
                    </a:ext>
                  </a:extLst>
                </a:gridCol>
                <a:gridCol w="868680">
                  <a:extLst>
                    <a:ext uri="{9D8B030D-6E8A-4147-A177-3AD203B41FA5}">
                      <a16:colId xmlns:a16="http://schemas.microsoft.com/office/drawing/2014/main" val="20006"/>
                    </a:ext>
                  </a:extLst>
                </a:gridCol>
              </a:tblGrid>
              <a:tr h="274320">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週</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店舗</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Dream</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最上位</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中央値</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最下位</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順位</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extLst>
                  <a:ext uri="{0D108BD9-81ED-4DB2-BD59-A6C34878D82A}">
                    <a16:rowId xmlns:a16="http://schemas.microsoft.com/office/drawing/2014/main" val="10000"/>
                  </a:ext>
                </a:extLst>
              </a:tr>
              <a:tr h="274320">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7月1w</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平野</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19</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138</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33</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4</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65 / 80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7月2w</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三田</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14</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126</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35</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6</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73 / 78</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7月3w</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宝塚</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29</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271</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49.5</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5</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72 / 82</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7月4w</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堺中環</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29</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163</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34.5</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7</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53 / 82</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0" name="Text 7"/>
          <p:cNvSpPr/>
          <p:nvPr/>
        </p:nvSpPr>
        <p:spPr>
          <a:xfrm>
            <a:off x="411480" y="3035808"/>
            <a:ext cx="5486400" cy="237744"/>
          </a:xfrm>
          <a:prstGeom prst="rect">
            <a:avLst/>
          </a:prstGeom>
          <a:noFill/>
          <a:ln/>
        </p:spPr>
        <p:txBody>
          <a:bodyPr wrap="square" lIns="0" tIns="0" rIns="0" bIns="0" rtlCol="0" anchor="ctr"/>
          <a:lstStyle/>
          <a:p>
            <a:pPr marL="0" indent="0">
              <a:buNone/>
            </a:pPr>
            <a:r>
              <a:rPr lang="en-US" sz="1000" b="1" dirty="0">
                <a:solidFill>
                  <a:srgbClr val="1A1A1A"/>
                </a:solidFill>
                <a:latin typeface="Yu Gothic" pitchFamily="34" charset="0"/>
                <a:ea typeface="Yu Gothic" pitchFamily="34" charset="-122"/>
                <a:cs typeface="Yu Gothic" pitchFamily="34" charset="-120"/>
              </a:rPr>
              <a:t>取替</a:t>
            </a:r>
            <a:endParaRPr lang="en-US" sz="1000" dirty="0"/>
          </a:p>
        </p:txBody>
      </p:sp>
      <p:graphicFrame>
        <p:nvGraphicFramePr>
          <p:cNvPr id="16" name="Table 2"/>
          <p:cNvGraphicFramePr>
            <a:graphicFrameLocks noGrp="1"/>
          </p:cNvGraphicFramePr>
          <p:nvPr>
            <p:extLst>
              <p:ext uri="{D42A27DB-BD31-4B8C-83A1-F6EECF244321}">
                <p14:modId xmlns:p14="http://schemas.microsoft.com/office/powerpoint/2010/main" val="1579011935"/>
              </p:ext>
            </p:extLst>
          </p:nvPr>
        </p:nvGraphicFramePr>
        <p:xfrm>
          <a:off x="411480" y="3310128"/>
          <a:ext cx="5532120" cy="1371600"/>
        </p:xfrm>
        <a:graphic>
          <a:graphicData uri="http://schemas.openxmlformats.org/drawingml/2006/table">
            <a:tbl>
              <a:tblPr/>
              <a:tblGrid>
                <a:gridCol w="658368">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804672">
                  <a:extLst>
                    <a:ext uri="{9D8B030D-6E8A-4147-A177-3AD203B41FA5}">
                      <a16:colId xmlns:a16="http://schemas.microsoft.com/office/drawing/2014/main" val="20004"/>
                    </a:ext>
                  </a:extLst>
                </a:gridCol>
                <a:gridCol w="777240">
                  <a:extLst>
                    <a:ext uri="{9D8B030D-6E8A-4147-A177-3AD203B41FA5}">
                      <a16:colId xmlns:a16="http://schemas.microsoft.com/office/drawing/2014/main" val="20005"/>
                    </a:ext>
                  </a:extLst>
                </a:gridCol>
                <a:gridCol w="868680">
                  <a:extLst>
                    <a:ext uri="{9D8B030D-6E8A-4147-A177-3AD203B41FA5}">
                      <a16:colId xmlns:a16="http://schemas.microsoft.com/office/drawing/2014/main" val="20006"/>
                    </a:ext>
                  </a:extLst>
                </a:gridCol>
              </a:tblGrid>
              <a:tr h="274320">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週</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店舗</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Dream</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最上位</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中央値</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最下位</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順位</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extLst>
                  <a:ext uri="{0D108BD9-81ED-4DB2-BD59-A6C34878D82A}">
                    <a16:rowId xmlns:a16="http://schemas.microsoft.com/office/drawing/2014/main" val="10000"/>
                  </a:ext>
                </a:extLst>
              </a:tr>
              <a:tr h="274320">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7月1w</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平野</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1</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28</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3</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60 / 80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7月2w</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三田</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3</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19</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4</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46 / 78</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7月3w</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宝塚</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5</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53</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6</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47 / 82</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7月4w</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堺中環</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11</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31</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3.2</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3 / 82</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3" name="Text 8"/>
          <p:cNvSpPr/>
          <p:nvPr/>
        </p:nvSpPr>
        <p:spPr>
          <a:xfrm>
            <a:off x="6263640" y="3035808"/>
            <a:ext cx="5486400" cy="237744"/>
          </a:xfrm>
          <a:prstGeom prst="rect">
            <a:avLst/>
          </a:prstGeom>
          <a:noFill/>
          <a:ln/>
        </p:spPr>
        <p:txBody>
          <a:bodyPr wrap="square" lIns="0" tIns="0" rIns="0" bIns="0" rtlCol="0" anchor="ctr"/>
          <a:lstStyle/>
          <a:p>
            <a:pPr marL="0" indent="0">
              <a:buNone/>
            </a:pPr>
            <a:r>
              <a:rPr lang="en-US" sz="1000" b="1" dirty="0">
                <a:solidFill>
                  <a:srgbClr val="1A1A1A"/>
                </a:solidFill>
                <a:latin typeface="Yu Gothic" pitchFamily="34" charset="0"/>
                <a:ea typeface="Yu Gothic" pitchFamily="34" charset="-122"/>
                <a:cs typeface="Yu Gothic" pitchFamily="34" charset="-120"/>
              </a:rPr>
              <a:t>固定商材（ドコモ光＋home5G＋dカードG）</a:t>
            </a:r>
            <a:endParaRPr lang="en-US" sz="1000" dirty="0"/>
          </a:p>
        </p:txBody>
      </p:sp>
      <p:graphicFrame>
        <p:nvGraphicFramePr>
          <p:cNvPr id="21" name="Table 3"/>
          <p:cNvGraphicFramePr>
            <a:graphicFrameLocks noGrp="1"/>
          </p:cNvGraphicFramePr>
          <p:nvPr>
            <p:extLst>
              <p:ext uri="{D42A27DB-BD31-4B8C-83A1-F6EECF244321}">
                <p14:modId xmlns:p14="http://schemas.microsoft.com/office/powerpoint/2010/main" val="1579011935"/>
              </p:ext>
            </p:extLst>
          </p:nvPr>
        </p:nvGraphicFramePr>
        <p:xfrm>
          <a:off x="6263640" y="3310128"/>
          <a:ext cx="5532120" cy="1371600"/>
        </p:xfrm>
        <a:graphic>
          <a:graphicData uri="http://schemas.openxmlformats.org/drawingml/2006/table">
            <a:tbl>
              <a:tblPr/>
              <a:tblGrid>
                <a:gridCol w="658368">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804672">
                  <a:extLst>
                    <a:ext uri="{9D8B030D-6E8A-4147-A177-3AD203B41FA5}">
                      <a16:colId xmlns:a16="http://schemas.microsoft.com/office/drawing/2014/main" val="20004"/>
                    </a:ext>
                  </a:extLst>
                </a:gridCol>
                <a:gridCol w="777240">
                  <a:extLst>
                    <a:ext uri="{9D8B030D-6E8A-4147-A177-3AD203B41FA5}">
                      <a16:colId xmlns:a16="http://schemas.microsoft.com/office/drawing/2014/main" val="20005"/>
                    </a:ext>
                  </a:extLst>
                </a:gridCol>
                <a:gridCol w="868680">
                  <a:extLst>
                    <a:ext uri="{9D8B030D-6E8A-4147-A177-3AD203B41FA5}">
                      <a16:colId xmlns:a16="http://schemas.microsoft.com/office/drawing/2014/main" val="20006"/>
                    </a:ext>
                  </a:extLst>
                </a:gridCol>
              </a:tblGrid>
              <a:tr h="274320">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週</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店舗</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Dream</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最上位</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中央値</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最下位</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順位</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extLst>
                  <a:ext uri="{0D108BD9-81ED-4DB2-BD59-A6C34878D82A}">
                    <a16:rowId xmlns:a16="http://schemas.microsoft.com/office/drawing/2014/main" val="10000"/>
                  </a:ext>
                </a:extLst>
              </a:tr>
              <a:tr h="274320">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7月1w</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平野</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7</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37</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6</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35 / 80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7月2w</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三田</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2</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33</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6</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68 / 78</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7月3w</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宝塚</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9</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52</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10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1</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43 / 82</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7月4w</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堺中環</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6</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50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6</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36 / 82</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5" name="Shape 9"/>
          <p:cNvSpPr/>
          <p:nvPr/>
        </p:nvSpPr>
        <p:spPr>
          <a:xfrm>
            <a:off x="411480" y="4864608"/>
            <a:ext cx="3657600" cy="1335024"/>
          </a:xfrm>
          <a:prstGeom prst="rect">
            <a:avLst/>
          </a:prstGeom>
          <a:solidFill>
            <a:srgbClr val="FFFFFF"/>
          </a:solidFill>
          <a:ln w="9525">
            <a:solidFill>
              <a:srgbClr val="E0E0E0"/>
            </a:solidFill>
            <a:prstDash val="solid"/>
          </a:ln>
        </p:spPr>
        <p:txBody>
          <a:bodyPr/>
          <a:lstStyle/>
          <a:p>
            <a:endParaRPr lang="ja-JP" altLang="en-US"/>
          </a:p>
        </p:txBody>
      </p:sp>
      <p:sp>
        <p:nvSpPr>
          <p:cNvPr id="12" name="Shape 10"/>
          <p:cNvSpPr/>
          <p:nvPr/>
        </p:nvSpPr>
        <p:spPr>
          <a:xfrm>
            <a:off x="411480" y="4864608"/>
            <a:ext cx="41148" cy="1335024"/>
          </a:xfrm>
          <a:prstGeom prst="rect">
            <a:avLst/>
          </a:prstGeom>
          <a:solidFill>
            <a:srgbClr val="767676"/>
          </a:solidFill>
          <a:ln/>
        </p:spPr>
        <p:txBody>
          <a:bodyPr/>
          <a:lstStyle/>
          <a:p>
            <a:endParaRPr lang="ja-JP" altLang="en-US"/>
          </a:p>
        </p:txBody>
      </p:sp>
      <p:sp>
        <p:nvSpPr>
          <p:cNvPr id="17" name="Text 11"/>
          <p:cNvSpPr/>
          <p:nvPr/>
        </p:nvSpPr>
        <p:spPr>
          <a:xfrm>
            <a:off x="576072" y="4956048"/>
            <a:ext cx="3346704" cy="237744"/>
          </a:xfrm>
          <a:prstGeom prst="rect">
            <a:avLst/>
          </a:prstGeom>
          <a:noFill/>
          <a:ln/>
        </p:spPr>
        <p:txBody>
          <a:bodyPr wrap="square" lIns="0" tIns="0" rIns="0" bIns="0" rtlCol="0" anchor="ctr"/>
          <a:lstStyle/>
          <a:p>
            <a:pPr marL="0" indent="0">
              <a:buNone/>
            </a:pPr>
            <a:r>
              <a:rPr lang="en-US" sz="1000" b="1" dirty="0">
                <a:solidFill>
                  <a:srgbClr val="1A1A1A"/>
                </a:solidFill>
                <a:latin typeface="Yu Gothic" pitchFamily="34" charset="0"/>
                <a:ea typeface="Yu Gothic" pitchFamily="34" charset="-122"/>
                <a:cs typeface="Yu Gothic" pitchFamily="34" charset="-120"/>
              </a:rPr>
              <a:t>PI・総販 ── 明確に下位</a:t>
            </a:r>
            <a:endParaRPr lang="en-US" sz="1000" dirty="0"/>
          </a:p>
        </p:txBody>
      </p:sp>
      <p:sp>
        <p:nvSpPr>
          <p:cNvPr id="18" name="Text 12"/>
          <p:cNvSpPr/>
          <p:nvPr/>
        </p:nvSpPr>
        <p:spPr>
          <a:xfrm>
            <a:off x="576072" y="5212080"/>
            <a:ext cx="3346704" cy="877824"/>
          </a:xfrm>
          <a:prstGeom prst="rect">
            <a:avLst/>
          </a:prstGeom>
          <a:noFill/>
          <a:ln/>
        </p:spPr>
        <p:txBody>
          <a:bodyPr wrap="square" lIns="0" tIns="0" rIns="0" bIns="0" rtlCol="0" anchor="t"/>
          <a:lstStyle/>
          <a:p>
            <a:pPr marL="0" indent="0">
              <a:lnSpc>
                <a:spcPts val="1300"/>
              </a:lnSpc>
              <a:buNone/>
            </a:pPr>
            <a:r>
              <a:rPr lang="en-US" sz="850" dirty="0">
                <a:solidFill>
                  <a:srgbClr val="3A3A3A"/>
                </a:solidFill>
                <a:latin typeface="Yu Gothic" pitchFamily="34" charset="0"/>
                <a:ea typeface="Yu Gothic" pitchFamily="34" charset="-122"/>
                <a:cs typeface="Yu Gothic" pitchFamily="34" charset="-120"/>
              </a:rPr>
              <a:t>4週すべてで下位25%圏。中央値の40〜60%の水準にとどまります。4名体制・単店舗運営という構造上、量での比較は成立しません。</a:t>
            </a:r>
            <a:endParaRPr lang="en-US" sz="850" dirty="0"/>
          </a:p>
        </p:txBody>
      </p:sp>
      <p:sp>
        <p:nvSpPr>
          <p:cNvPr id="19" name="Shape 13"/>
          <p:cNvSpPr/>
          <p:nvPr/>
        </p:nvSpPr>
        <p:spPr>
          <a:xfrm>
            <a:off x="4233672" y="4864608"/>
            <a:ext cx="3657600" cy="1335024"/>
          </a:xfrm>
          <a:prstGeom prst="rect">
            <a:avLst/>
          </a:prstGeom>
          <a:solidFill>
            <a:srgbClr val="FFFFFF"/>
          </a:solidFill>
          <a:ln w="9525">
            <a:solidFill>
              <a:srgbClr val="E0E0E0"/>
            </a:solidFill>
            <a:prstDash val="solid"/>
          </a:ln>
        </p:spPr>
        <p:txBody>
          <a:bodyPr/>
          <a:lstStyle/>
          <a:p>
            <a:endParaRPr lang="ja-JP" altLang="en-US"/>
          </a:p>
        </p:txBody>
      </p:sp>
      <p:sp>
        <p:nvSpPr>
          <p:cNvPr id="20" name="Shape 14"/>
          <p:cNvSpPr/>
          <p:nvPr/>
        </p:nvSpPr>
        <p:spPr>
          <a:xfrm>
            <a:off x="4233672" y="4864608"/>
            <a:ext cx="41148" cy="1335024"/>
          </a:xfrm>
          <a:prstGeom prst="rect">
            <a:avLst/>
          </a:prstGeom>
          <a:solidFill>
            <a:srgbClr val="767676"/>
          </a:solidFill>
          <a:ln/>
        </p:spPr>
        <p:txBody>
          <a:bodyPr/>
          <a:lstStyle/>
          <a:p>
            <a:endParaRPr lang="ja-JP" altLang="en-US"/>
          </a:p>
        </p:txBody>
      </p:sp>
      <p:sp>
        <p:nvSpPr>
          <p:cNvPr id="14" name="Text 15"/>
          <p:cNvSpPr/>
          <p:nvPr/>
        </p:nvSpPr>
        <p:spPr>
          <a:xfrm>
            <a:off x="4398264" y="4956048"/>
            <a:ext cx="3346704" cy="237744"/>
          </a:xfrm>
          <a:prstGeom prst="rect">
            <a:avLst/>
          </a:prstGeom>
          <a:noFill/>
          <a:ln/>
        </p:spPr>
        <p:txBody>
          <a:bodyPr wrap="square" lIns="0" tIns="0" rIns="0" bIns="0" rtlCol="0" anchor="ctr"/>
          <a:lstStyle/>
          <a:p>
            <a:pPr marL="0" indent="0">
              <a:buNone/>
            </a:pPr>
            <a:r>
              <a:rPr lang="en-US" sz="1000" b="1" dirty="0">
                <a:solidFill>
                  <a:srgbClr val="1A1A1A"/>
                </a:solidFill>
                <a:latin typeface="Yu Gothic" pitchFamily="34" charset="0"/>
                <a:ea typeface="Yu Gothic" pitchFamily="34" charset="-122"/>
                <a:cs typeface="Yu Gothic" pitchFamily="34" charset="-120"/>
              </a:rPr>
              <a:t>固定商材 ── 絶対量では中央値近傍</a:t>
            </a:r>
            <a:endParaRPr lang="en-US" sz="1000" dirty="0"/>
          </a:p>
        </p:txBody>
      </p:sp>
      <p:sp>
        <p:nvSpPr>
          <p:cNvPr id="22" name="Text 16"/>
          <p:cNvSpPr/>
          <p:nvPr/>
        </p:nvSpPr>
        <p:spPr>
          <a:xfrm>
            <a:off x="4398264" y="5212080"/>
            <a:ext cx="3346704" cy="877824"/>
          </a:xfrm>
          <a:prstGeom prst="rect">
            <a:avLst/>
          </a:prstGeom>
          <a:noFill/>
          <a:ln/>
        </p:spPr>
        <p:txBody>
          <a:bodyPr wrap="square" lIns="0" tIns="0" rIns="0" bIns="0" rtlCol="0" anchor="t"/>
          <a:lstStyle/>
          <a:p>
            <a:pPr marL="0" indent="0">
              <a:lnSpc>
                <a:spcPts val="1300"/>
              </a:lnSpc>
              <a:buNone/>
            </a:pPr>
            <a:r>
              <a:rPr lang="en-US" sz="850" dirty="0">
                <a:solidFill>
                  <a:srgbClr val="3A3A3A"/>
                </a:solidFill>
                <a:latin typeface="Yu Gothic" pitchFamily="34" charset="0"/>
                <a:ea typeface="Yu Gothic" pitchFamily="34" charset="-122"/>
                <a:cs typeface="Yu Gothic" pitchFamily="34" charset="-120"/>
              </a:rPr>
              <a:t>週次の絶対量では4週中3週で中央値近傍（35〜43位）。ただし目標達成率で見ると下位です（17枚目にて訂正）。</a:t>
            </a:r>
            <a:endParaRPr lang="en-US" sz="850" dirty="0"/>
          </a:p>
        </p:txBody>
      </p:sp>
      <p:sp>
        <p:nvSpPr>
          <p:cNvPr id="23" name="Shape 17"/>
          <p:cNvSpPr/>
          <p:nvPr/>
        </p:nvSpPr>
        <p:spPr>
          <a:xfrm>
            <a:off x="8055864" y="4864608"/>
            <a:ext cx="3739896" cy="1335024"/>
          </a:xfrm>
          <a:prstGeom prst="rect">
            <a:avLst/>
          </a:prstGeom>
          <a:solidFill>
            <a:srgbClr val="FFFFFF"/>
          </a:solidFill>
          <a:ln w="9525">
            <a:solidFill>
              <a:srgbClr val="E0E0E0"/>
            </a:solidFill>
            <a:prstDash val="solid"/>
          </a:ln>
        </p:spPr>
        <p:txBody>
          <a:bodyPr/>
          <a:lstStyle/>
          <a:p>
            <a:endParaRPr lang="ja-JP" altLang="en-US"/>
          </a:p>
        </p:txBody>
      </p:sp>
      <p:sp>
        <p:nvSpPr>
          <p:cNvPr id="24" name="Shape 18"/>
          <p:cNvSpPr/>
          <p:nvPr/>
        </p:nvSpPr>
        <p:spPr>
          <a:xfrm>
            <a:off x="8055864" y="4864608"/>
            <a:ext cx="41148" cy="1335024"/>
          </a:xfrm>
          <a:prstGeom prst="rect">
            <a:avLst/>
          </a:prstGeom>
          <a:solidFill>
            <a:srgbClr val="CC0000"/>
          </a:solidFill>
          <a:ln/>
        </p:spPr>
        <p:txBody>
          <a:bodyPr/>
          <a:lstStyle/>
          <a:p>
            <a:endParaRPr lang="ja-JP" altLang="en-US"/>
          </a:p>
        </p:txBody>
      </p:sp>
      <p:sp>
        <p:nvSpPr>
          <p:cNvPr id="25" name="Text 19"/>
          <p:cNvSpPr/>
          <p:nvPr/>
        </p:nvSpPr>
        <p:spPr>
          <a:xfrm>
            <a:off x="8220456" y="4956048"/>
            <a:ext cx="3429000" cy="237744"/>
          </a:xfrm>
          <a:prstGeom prst="rect">
            <a:avLst/>
          </a:prstGeom>
          <a:noFill/>
          <a:ln/>
        </p:spPr>
        <p:txBody>
          <a:bodyPr wrap="square" lIns="0" tIns="0" rIns="0" bIns="0" rtlCol="0" anchor="ctr"/>
          <a:lstStyle/>
          <a:p>
            <a:pPr marL="0" indent="0">
              <a:buNone/>
            </a:pPr>
            <a:r>
              <a:rPr lang="en-US" sz="1000" b="1" dirty="0">
                <a:solidFill>
                  <a:srgbClr val="1A1A1A"/>
                </a:solidFill>
                <a:latin typeface="Yu Gothic" pitchFamily="34" charset="0"/>
                <a:ea typeface="Yu Gothic" pitchFamily="34" charset="-122"/>
                <a:cs typeface="Yu Gothic" pitchFamily="34" charset="-120"/>
              </a:rPr>
              <a:t>取替 ── 週によって上位に到達</a:t>
            </a:r>
            <a:endParaRPr lang="en-US" sz="1000" dirty="0"/>
          </a:p>
        </p:txBody>
      </p:sp>
      <p:sp>
        <p:nvSpPr>
          <p:cNvPr id="26" name="Text 20"/>
          <p:cNvSpPr/>
          <p:nvPr/>
        </p:nvSpPr>
        <p:spPr>
          <a:xfrm>
            <a:off x="8220456" y="5212080"/>
            <a:ext cx="3429000" cy="877824"/>
          </a:xfrm>
          <a:prstGeom prst="rect">
            <a:avLst/>
          </a:prstGeom>
          <a:noFill/>
          <a:ln/>
        </p:spPr>
        <p:txBody>
          <a:bodyPr wrap="square" lIns="0" tIns="0" rIns="0" bIns="0" rtlCol="0" anchor="t"/>
          <a:lstStyle/>
          <a:p>
            <a:pPr marL="0" indent="0">
              <a:lnSpc>
                <a:spcPts val="1300"/>
              </a:lnSpc>
              <a:buNone/>
            </a:pPr>
            <a:r>
              <a:rPr lang="en-US" sz="850" dirty="0">
                <a:solidFill>
                  <a:srgbClr val="3A3A3A"/>
                </a:solidFill>
                <a:latin typeface="Yu Gothic" pitchFamily="34" charset="0"/>
                <a:ea typeface="Yu Gothic" pitchFamily="34" charset="-122"/>
                <a:cs typeface="Yu Gothic" pitchFamily="34" charset="-120"/>
              </a:rPr>
              <a:t>7月4w堺中央環状店は全82部隊中3位。取替は体制規模に依存せず、顧客照会の徹底で上位に食い込める商材であることが確認できました。</a:t>
            </a:r>
            <a:endParaRPr lang="en-US" sz="850" dirty="0"/>
          </a:p>
        </p:txBody>
      </p:sp>
      <p:sp>
        <p:nvSpPr>
          <p:cNvPr id="27" name="Shape 21"/>
          <p:cNvSpPr/>
          <p:nvPr/>
        </p:nvSpPr>
        <p:spPr>
          <a:xfrm>
            <a:off x="411480" y="6355080"/>
            <a:ext cx="11384280" cy="0"/>
          </a:xfrm>
          <a:prstGeom prst="line">
            <a:avLst/>
          </a:prstGeom>
          <a:noFill/>
          <a:ln w="9525">
            <a:solidFill>
              <a:srgbClr val="E0E0E0"/>
            </a:solidFill>
            <a:prstDash val="solid"/>
          </a:ln>
        </p:spPr>
        <p:txBody>
          <a:bodyPr/>
          <a:lstStyle/>
          <a:p>
            <a:endParaRPr lang="ja-JP" altLang="en-US"/>
          </a:p>
        </p:txBody>
      </p:sp>
      <p:sp>
        <p:nvSpPr>
          <p:cNvPr id="28" name="Text 22"/>
          <p:cNvSpPr/>
          <p:nvPr/>
        </p:nvSpPr>
        <p:spPr>
          <a:xfrm>
            <a:off x="411480" y="6400800"/>
            <a:ext cx="8778240" cy="274320"/>
          </a:xfrm>
          <a:prstGeom prst="rect">
            <a:avLst/>
          </a:prstGeom>
          <a:noFill/>
          <a:ln/>
        </p:spPr>
        <p:txBody>
          <a:bodyPr wrap="square" lIns="0" tIns="0" rIns="0" bIns="0" rtlCol="0" anchor="ctr"/>
          <a:lstStyle/>
          <a:p>
            <a:pPr marL="0" indent="0">
              <a:buNone/>
            </a:pPr>
            <a:r>
              <a:rPr lang="en-US" sz="750" dirty="0">
                <a:solidFill>
                  <a:srgbClr val="767676"/>
                </a:solidFill>
                <a:latin typeface="Yu Gothic" pitchFamily="34" charset="0"/>
                <a:ea typeface="Yu Gothic" pitchFamily="34" charset="-122"/>
                <a:cs typeface="Yu Gothic" pitchFamily="34" charset="-120"/>
              </a:rPr>
              <a:t>15 / 19　比較対象は7月関西イベント全部隊（0731時点データ）。Dream値は店舗イベント実績（店舗全体）。順位は同一週内の全部隊における順位。</a:t>
            </a:r>
            <a:endParaRPr lang="en-US" sz="750" dirty="0"/>
          </a:p>
        </p:txBody>
      </p:sp>
      <p:sp>
        <p:nvSpPr>
          <p:cNvPr id="29" name="Text 23"/>
          <p:cNvSpPr/>
          <p:nvPr/>
        </p:nvSpPr>
        <p:spPr>
          <a:xfrm>
            <a:off x="9235440" y="6400800"/>
            <a:ext cx="2560320" cy="274320"/>
          </a:xfrm>
          <a:prstGeom prst="rect">
            <a:avLst/>
          </a:prstGeom>
          <a:noFill/>
          <a:ln/>
        </p:spPr>
        <p:txBody>
          <a:bodyPr wrap="square" lIns="0" tIns="0" rIns="0" bIns="0" rtlCol="0" anchor="ctr"/>
          <a:lstStyle/>
          <a:p>
            <a:pPr marL="0" indent="0" algn="r">
              <a:buNone/>
            </a:pPr>
            <a:r>
              <a:rPr lang="en-US" sz="750" dirty="0">
                <a:solidFill>
                  <a:srgbClr val="767676"/>
                </a:solidFill>
                <a:latin typeface="Yu Gothic" pitchFamily="34" charset="0"/>
                <a:ea typeface="Yu Gothic" pitchFamily="34" charset="-122"/>
                <a:cs typeface="Yu Gothic" pitchFamily="34" charset="-120"/>
              </a:rPr>
              <a:t>DREAM TEAM · JULY 2026</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11480" y="292608"/>
            <a:ext cx="384048" cy="256032"/>
          </a:xfrm>
          <a:prstGeom prst="rect">
            <a:avLst/>
          </a:prstGeom>
          <a:solidFill>
            <a:srgbClr val="CC0000"/>
          </a:solidFill>
          <a:ln/>
        </p:spPr>
        <p:txBody>
          <a:bodyPr/>
          <a:lstStyle/>
          <a:p>
            <a:endParaRPr lang="ja-JP" altLang="en-US"/>
          </a:p>
        </p:txBody>
      </p:sp>
      <p:sp>
        <p:nvSpPr>
          <p:cNvPr id="3" name="Text 1"/>
          <p:cNvSpPr/>
          <p:nvPr/>
        </p:nvSpPr>
        <p:spPr>
          <a:xfrm>
            <a:off x="411480" y="292608"/>
            <a:ext cx="384048"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Yu Gothic" pitchFamily="34" charset="0"/>
                <a:ea typeface="Yu Gothic" pitchFamily="34" charset="-122"/>
                <a:cs typeface="Yu Gothic" pitchFamily="34" charset="-120"/>
              </a:rPr>
              <a:t>16</a:t>
            </a:r>
            <a:endParaRPr lang="en-US" sz="1200" dirty="0"/>
          </a:p>
        </p:txBody>
      </p:sp>
      <p:sp>
        <p:nvSpPr>
          <p:cNvPr id="4" name="Text 2"/>
          <p:cNvSpPr/>
          <p:nvPr/>
        </p:nvSpPr>
        <p:spPr>
          <a:xfrm>
            <a:off x="896112" y="274320"/>
            <a:ext cx="10881360" cy="292608"/>
          </a:xfrm>
          <a:prstGeom prst="rect">
            <a:avLst/>
          </a:prstGeom>
          <a:noFill/>
          <a:ln/>
        </p:spPr>
        <p:txBody>
          <a:bodyPr wrap="square" lIns="0" tIns="0" rIns="0" bIns="0" rtlCol="0" anchor="ctr"/>
          <a:lstStyle/>
          <a:p>
            <a:pPr marL="0" indent="0">
              <a:buNone/>
            </a:pPr>
            <a:r>
              <a:rPr lang="en-US" sz="1700" b="1" dirty="0">
                <a:solidFill>
                  <a:srgbClr val="1A1A1A"/>
                </a:solidFill>
                <a:latin typeface="Yu Gothic" pitchFamily="34" charset="0"/>
                <a:ea typeface="Yu Gothic" pitchFamily="34" charset="-122"/>
                <a:cs typeface="Yu Gothic" pitchFamily="34" charset="-120"/>
              </a:rPr>
              <a:t>論点2｜量ではなく「1件あたりの深さ」で見た場合</a:t>
            </a:r>
            <a:endParaRPr lang="en-US" sz="1700" dirty="0"/>
          </a:p>
        </p:txBody>
      </p:sp>
      <p:sp>
        <p:nvSpPr>
          <p:cNvPr id="5" name="Text 3"/>
          <p:cNvSpPr/>
          <p:nvPr/>
        </p:nvSpPr>
        <p:spPr>
          <a:xfrm>
            <a:off x="429768" y="621792"/>
            <a:ext cx="11338560" cy="384048"/>
          </a:xfrm>
          <a:prstGeom prst="rect">
            <a:avLst/>
          </a:prstGeom>
          <a:noFill/>
          <a:ln/>
        </p:spPr>
        <p:txBody>
          <a:bodyPr wrap="square" lIns="0" tIns="0" rIns="0" bIns="0" rtlCol="0" anchor="ctr"/>
          <a:lstStyle/>
          <a:p>
            <a:pPr marL="0" indent="0">
              <a:lnSpc>
                <a:spcPts val="1400"/>
              </a:lnSpc>
              <a:buNone/>
            </a:pPr>
            <a:r>
              <a:rPr lang="en-US" sz="950" dirty="0">
                <a:solidFill>
                  <a:srgbClr val="767676"/>
                </a:solidFill>
                <a:latin typeface="Yu Gothic" pitchFamily="34" charset="0"/>
                <a:ea typeface="Yu Gothic" pitchFamily="34" charset="-122"/>
                <a:cs typeface="Yu Gothic" pitchFamily="34" charset="-120"/>
              </a:rPr>
              <a:t>PI 1件あたりに付帯した固定商材・取替の件数を、全部隊の中央値と比較しました。特販が担う価値は、この構成比に表れています。</a:t>
            </a:r>
            <a:endParaRPr lang="en-US" sz="950" dirty="0"/>
          </a:p>
        </p:txBody>
      </p:sp>
      <p:sp>
        <p:nvSpPr>
          <p:cNvPr id="6" name="Shape 4"/>
          <p:cNvSpPr/>
          <p:nvPr/>
        </p:nvSpPr>
        <p:spPr>
          <a:xfrm>
            <a:off x="411480" y="1060704"/>
            <a:ext cx="11384280" cy="0"/>
          </a:xfrm>
          <a:prstGeom prst="line">
            <a:avLst/>
          </a:prstGeom>
          <a:noFill/>
          <a:ln w="9525">
            <a:solidFill>
              <a:srgbClr val="E0E0E0"/>
            </a:solidFill>
            <a:prstDash val="solid"/>
          </a:ln>
        </p:spPr>
        <p:txBody>
          <a:bodyPr/>
          <a:lstStyle/>
          <a:p>
            <a:endParaRPr lang="ja-JP" altLang="en-US"/>
          </a:p>
        </p:txBody>
      </p:sp>
      <p:graphicFrame>
        <p:nvGraphicFramePr>
          <p:cNvPr id="7" name="Chart 0"/>
          <p:cNvGraphicFramePr/>
          <p:nvPr/>
        </p:nvGraphicFramePr>
        <p:xfrm>
          <a:off x="411480" y="1298448"/>
          <a:ext cx="5532120" cy="23774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1"/>
          <p:cNvGraphicFramePr/>
          <p:nvPr/>
        </p:nvGraphicFramePr>
        <p:xfrm>
          <a:off x="6263640" y="1298448"/>
          <a:ext cx="5532120" cy="2377440"/>
        </p:xfrm>
        <a:graphic>
          <a:graphicData uri="http://schemas.openxmlformats.org/drawingml/2006/chart">
            <c:chart xmlns:c="http://schemas.openxmlformats.org/drawingml/2006/chart" xmlns:r="http://schemas.openxmlformats.org/officeDocument/2006/relationships" r:id="rId4"/>
          </a:graphicData>
        </a:graphic>
      </p:graphicFrame>
      <p:sp>
        <p:nvSpPr>
          <p:cNvPr id="9" name="Shape 5"/>
          <p:cNvSpPr/>
          <p:nvPr/>
        </p:nvSpPr>
        <p:spPr>
          <a:xfrm>
            <a:off x="411480" y="3840480"/>
            <a:ext cx="11384280" cy="566928"/>
          </a:xfrm>
          <a:prstGeom prst="rect">
            <a:avLst/>
          </a:prstGeom>
          <a:solidFill>
            <a:srgbClr val="FDF0F0"/>
          </a:solidFill>
          <a:ln w="9525">
            <a:solidFill>
              <a:srgbClr val="F4CFCF"/>
            </a:solidFill>
            <a:prstDash val="solid"/>
          </a:ln>
        </p:spPr>
        <p:txBody>
          <a:bodyPr/>
          <a:lstStyle/>
          <a:p>
            <a:endParaRPr lang="ja-JP" altLang="en-US"/>
          </a:p>
        </p:txBody>
      </p:sp>
      <p:sp>
        <p:nvSpPr>
          <p:cNvPr id="10" name="Text 6"/>
          <p:cNvSpPr/>
          <p:nvPr/>
        </p:nvSpPr>
        <p:spPr>
          <a:xfrm>
            <a:off x="621792" y="3840480"/>
            <a:ext cx="10972800" cy="566928"/>
          </a:xfrm>
          <a:prstGeom prst="rect">
            <a:avLst/>
          </a:prstGeom>
          <a:noFill/>
          <a:ln/>
        </p:spPr>
        <p:txBody>
          <a:bodyPr wrap="square" lIns="0" tIns="0" rIns="0" bIns="0" rtlCol="0" anchor="ctr"/>
          <a:lstStyle/>
          <a:p>
            <a:pPr marL="0" indent="0">
              <a:buNone/>
            </a:pPr>
            <a:r>
              <a:rPr lang="en-US" sz="1050" b="1" dirty="0">
                <a:solidFill>
                  <a:srgbClr val="1A1A1A"/>
                </a:solidFill>
                <a:latin typeface="Yu Gothic" pitchFamily="34" charset="0"/>
                <a:ea typeface="Yu Gothic" pitchFamily="34" charset="-122"/>
                <a:cs typeface="Yu Gothic" pitchFamily="34" charset="-120"/>
              </a:rPr>
              <a:t>固定商材は4週中3週で中央値を上回り、最大1.71倍。取替は7月4w堺中央環状店で中央値の5.4倍。量で劣る一方、1件あたりの深さでは全部隊を上回っています。</a:t>
            </a:r>
            <a:endParaRPr lang="en-US" sz="1050" dirty="0"/>
          </a:p>
        </p:txBody>
      </p:sp>
      <p:sp>
        <p:nvSpPr>
          <p:cNvPr id="11" name="Shape 7"/>
          <p:cNvSpPr/>
          <p:nvPr/>
        </p:nvSpPr>
        <p:spPr>
          <a:xfrm>
            <a:off x="411480" y="4590288"/>
            <a:ext cx="5532120" cy="1609344"/>
          </a:xfrm>
          <a:prstGeom prst="rect">
            <a:avLst/>
          </a:prstGeom>
          <a:solidFill>
            <a:srgbClr val="FFFFFF"/>
          </a:solidFill>
          <a:ln w="9525">
            <a:solidFill>
              <a:srgbClr val="E0E0E0"/>
            </a:solidFill>
            <a:prstDash val="solid"/>
          </a:ln>
        </p:spPr>
        <p:txBody>
          <a:bodyPr/>
          <a:lstStyle/>
          <a:p>
            <a:endParaRPr lang="ja-JP" altLang="en-US"/>
          </a:p>
        </p:txBody>
      </p:sp>
      <p:sp>
        <p:nvSpPr>
          <p:cNvPr id="12" name="Shape 8"/>
          <p:cNvSpPr/>
          <p:nvPr/>
        </p:nvSpPr>
        <p:spPr>
          <a:xfrm>
            <a:off x="411480" y="4590288"/>
            <a:ext cx="41148" cy="1609344"/>
          </a:xfrm>
          <a:prstGeom prst="rect">
            <a:avLst/>
          </a:prstGeom>
          <a:solidFill>
            <a:srgbClr val="CC0000"/>
          </a:solidFill>
          <a:ln/>
        </p:spPr>
        <p:txBody>
          <a:bodyPr/>
          <a:lstStyle/>
          <a:p>
            <a:endParaRPr lang="ja-JP" altLang="en-US"/>
          </a:p>
        </p:txBody>
      </p:sp>
      <p:sp>
        <p:nvSpPr>
          <p:cNvPr id="13" name="Text 9"/>
          <p:cNvSpPr/>
          <p:nvPr/>
        </p:nvSpPr>
        <p:spPr>
          <a:xfrm>
            <a:off x="576072" y="4681728"/>
            <a:ext cx="5221224" cy="237744"/>
          </a:xfrm>
          <a:prstGeom prst="rect">
            <a:avLst/>
          </a:prstGeom>
          <a:noFill/>
          <a:ln/>
        </p:spPr>
        <p:txBody>
          <a:bodyPr wrap="square" lIns="0" tIns="0" rIns="0" bIns="0" rtlCol="0" anchor="ctr"/>
          <a:lstStyle/>
          <a:p>
            <a:pPr marL="0" indent="0">
              <a:buNone/>
            </a:pPr>
            <a:r>
              <a:rPr lang="en-US" sz="1000" b="1" dirty="0">
                <a:solidFill>
                  <a:srgbClr val="1A1A1A"/>
                </a:solidFill>
                <a:latin typeface="Yu Gothic" pitchFamily="34" charset="0"/>
                <a:ea typeface="Yu Gothic" pitchFamily="34" charset="-122"/>
                <a:cs typeface="Yu Gothic" pitchFamily="34" charset="-120"/>
              </a:rPr>
              <a:t>特販がイベントに入る意味</a:t>
            </a:r>
            <a:endParaRPr lang="en-US" sz="1000" dirty="0"/>
          </a:p>
        </p:txBody>
      </p:sp>
      <p:sp>
        <p:nvSpPr>
          <p:cNvPr id="14" name="Text 10"/>
          <p:cNvSpPr/>
          <p:nvPr/>
        </p:nvSpPr>
        <p:spPr>
          <a:xfrm>
            <a:off x="576072" y="4937760"/>
            <a:ext cx="5221224" cy="1152144"/>
          </a:xfrm>
          <a:prstGeom prst="rect">
            <a:avLst/>
          </a:prstGeom>
          <a:noFill/>
          <a:ln/>
        </p:spPr>
        <p:txBody>
          <a:bodyPr wrap="square" lIns="0" tIns="0" rIns="0" bIns="0" rtlCol="0" anchor="t"/>
          <a:lstStyle/>
          <a:p>
            <a:pPr marL="0" indent="0">
              <a:lnSpc>
                <a:spcPts val="1300"/>
              </a:lnSpc>
              <a:buNone/>
            </a:pPr>
            <a:r>
              <a:rPr lang="en-US" sz="850" dirty="0">
                <a:solidFill>
                  <a:srgbClr val="3A3A3A"/>
                </a:solidFill>
                <a:latin typeface="Yu Gothic" pitchFamily="34" charset="0"/>
                <a:ea typeface="Yu Gothic" pitchFamily="34" charset="-122"/>
                <a:cs typeface="Yu Gothic" pitchFamily="34" charset="-120"/>
              </a:rPr>
              <a:t>イベント部隊はPIの「量」を作る役割を担っています。一方でDreamチームは、常駐特販として店舗の顧客基盤・社員様との関係値を持っているため、1組のお客様に対して顧客照会・家族深掘り・固定商材の抱き合わせまで踏み込めます。</a:t>
            </a:r>
            <a:endParaRPr lang="en-US" sz="850" dirty="0"/>
          </a:p>
          <a:p>
            <a:pPr marL="0" indent="0">
              <a:lnSpc>
                <a:spcPts val="1300"/>
              </a:lnSpc>
              <a:buNone/>
            </a:pPr>
            <a:r>
              <a:rPr lang="en-US" sz="850" dirty="0">
                <a:solidFill>
                  <a:srgbClr val="3A3A3A"/>
                </a:solidFill>
                <a:latin typeface="Yu Gothic" pitchFamily="34" charset="0"/>
                <a:ea typeface="Yu Gothic" pitchFamily="34" charset="-122"/>
                <a:cs typeface="Yu Gothic" pitchFamily="34" charset="-120"/>
              </a:rPr>
              <a:t>量では専門部隊に及びませんが、取替・純新規の達成率では全部隊の上位3割に入っており、これが特販をイベントに配置する価値と考えます。</a:t>
            </a:r>
            <a:endParaRPr lang="en-US" sz="850" dirty="0"/>
          </a:p>
        </p:txBody>
      </p:sp>
      <p:sp>
        <p:nvSpPr>
          <p:cNvPr id="15" name="Shape 11"/>
          <p:cNvSpPr/>
          <p:nvPr/>
        </p:nvSpPr>
        <p:spPr>
          <a:xfrm>
            <a:off x="6263640" y="4590288"/>
            <a:ext cx="5532120" cy="1609344"/>
          </a:xfrm>
          <a:prstGeom prst="rect">
            <a:avLst/>
          </a:prstGeom>
          <a:solidFill>
            <a:srgbClr val="FFFFFF"/>
          </a:solidFill>
          <a:ln w="9525">
            <a:solidFill>
              <a:srgbClr val="E0E0E0"/>
            </a:solidFill>
            <a:prstDash val="solid"/>
          </a:ln>
        </p:spPr>
        <p:txBody>
          <a:bodyPr/>
          <a:lstStyle/>
          <a:p>
            <a:endParaRPr lang="ja-JP" altLang="en-US"/>
          </a:p>
        </p:txBody>
      </p:sp>
      <p:sp>
        <p:nvSpPr>
          <p:cNvPr id="16" name="Shape 12"/>
          <p:cNvSpPr/>
          <p:nvPr/>
        </p:nvSpPr>
        <p:spPr>
          <a:xfrm>
            <a:off x="6263640" y="4590288"/>
            <a:ext cx="41148" cy="1609344"/>
          </a:xfrm>
          <a:prstGeom prst="rect">
            <a:avLst/>
          </a:prstGeom>
          <a:solidFill>
            <a:srgbClr val="CC0000"/>
          </a:solidFill>
          <a:ln/>
        </p:spPr>
        <p:txBody>
          <a:bodyPr/>
          <a:lstStyle/>
          <a:p>
            <a:endParaRPr lang="ja-JP" altLang="en-US"/>
          </a:p>
        </p:txBody>
      </p:sp>
      <p:sp>
        <p:nvSpPr>
          <p:cNvPr id="17" name="Text 13"/>
          <p:cNvSpPr/>
          <p:nvPr/>
        </p:nvSpPr>
        <p:spPr>
          <a:xfrm>
            <a:off x="6428232" y="4681728"/>
            <a:ext cx="5221224" cy="237744"/>
          </a:xfrm>
          <a:prstGeom prst="rect">
            <a:avLst/>
          </a:prstGeom>
          <a:noFill/>
          <a:ln/>
        </p:spPr>
        <p:txBody>
          <a:bodyPr wrap="square" lIns="0" tIns="0" rIns="0" bIns="0" rtlCol="0" anchor="ctr"/>
          <a:lstStyle/>
          <a:p>
            <a:pPr marL="0" indent="0">
              <a:buNone/>
            </a:pPr>
            <a:r>
              <a:rPr lang="en-US" sz="1000" b="1" dirty="0">
                <a:solidFill>
                  <a:srgbClr val="1A1A1A"/>
                </a:solidFill>
                <a:latin typeface="Yu Gothic" pitchFamily="34" charset="0"/>
                <a:ea typeface="Yu Gothic" pitchFamily="34" charset="-122"/>
                <a:cs typeface="Yu Gothic" pitchFamily="34" charset="-120"/>
              </a:rPr>
              <a:t>今後ご相談させていただきたいこと</a:t>
            </a:r>
            <a:endParaRPr lang="en-US" sz="1000" dirty="0"/>
          </a:p>
        </p:txBody>
      </p:sp>
      <p:sp>
        <p:nvSpPr>
          <p:cNvPr id="18" name="Text 14"/>
          <p:cNvSpPr/>
          <p:nvPr/>
        </p:nvSpPr>
        <p:spPr>
          <a:xfrm>
            <a:off x="6428232" y="4937760"/>
            <a:ext cx="5221224" cy="1152144"/>
          </a:xfrm>
          <a:prstGeom prst="rect">
            <a:avLst/>
          </a:prstGeom>
          <a:noFill/>
          <a:ln/>
        </p:spPr>
        <p:txBody>
          <a:bodyPr wrap="square" lIns="0" tIns="0" rIns="0" bIns="0" rtlCol="0" anchor="t"/>
          <a:lstStyle/>
          <a:p>
            <a:pPr marL="0" indent="0">
              <a:lnSpc>
                <a:spcPts val="1300"/>
              </a:lnSpc>
              <a:buNone/>
            </a:pPr>
            <a:r>
              <a:rPr lang="en-US" sz="850" dirty="0">
                <a:solidFill>
                  <a:srgbClr val="3A3A3A"/>
                </a:solidFill>
                <a:latin typeface="Yu Gothic" pitchFamily="34" charset="0"/>
                <a:ea typeface="Yu Gothic" pitchFamily="34" charset="-122"/>
                <a:cs typeface="Yu Gothic" pitchFamily="34" charset="-120"/>
              </a:rPr>
              <a:t>① 店舗選定の精度：Dreamチームの価値は、常駐で築いた社員様との関係値に根ざす「1件あたりの深さ」です。この強みが活きる店舗（推奨度⑤等）へ継続してご配置いただけますと幸いです。</a:t>
            </a:r>
            <a:endParaRPr lang="en-US" sz="850" dirty="0"/>
          </a:p>
          <a:p>
            <a:pPr marL="0" indent="0">
              <a:lnSpc>
                <a:spcPts val="1300"/>
              </a:lnSpc>
              <a:buNone/>
            </a:pPr>
            <a:r>
              <a:rPr lang="en-US" sz="850" dirty="0">
                <a:solidFill>
                  <a:srgbClr val="3A3A3A"/>
                </a:solidFill>
                <a:latin typeface="Yu Gothic" pitchFamily="34" charset="0"/>
                <a:ea typeface="Yu Gothic" pitchFamily="34" charset="-122"/>
                <a:cs typeface="Yu Gothic" pitchFamily="34" charset="-120"/>
              </a:rPr>
              <a:t>② 関係値の蓄積：同一店舗を継続担当するほど、社員様との連携（顧客照会・振り）は回を重ねて深まります。店舗選定の精度が上がるほど、この関係値はさらに積み上がります。</a:t>
            </a:r>
            <a:endParaRPr lang="en-US" sz="850" dirty="0"/>
          </a:p>
          <a:p>
            <a:pPr marL="0" indent="0">
              <a:lnSpc>
                <a:spcPts val="1300"/>
              </a:lnSpc>
              <a:buNone/>
            </a:pPr>
            <a:r>
              <a:rPr lang="en-US" sz="850" dirty="0">
                <a:solidFill>
                  <a:srgbClr val="3A3A3A"/>
                </a:solidFill>
                <a:latin typeface="Yu Gothic" pitchFamily="34" charset="0"/>
                <a:ea typeface="Yu Gothic" pitchFamily="34" charset="-122"/>
                <a:cs typeface="Yu Gothic" pitchFamily="34" charset="-120"/>
              </a:rPr>
              <a:t>③ 質の向上：関係値が高まるほど、PI 1件あたりの固定商材・取替（深さ）が伸びます。量の専門部隊とは異なる、質で貢献する特販の価値を高めてまいります。</a:t>
            </a:r>
            <a:endParaRPr lang="en-US" sz="850" dirty="0"/>
          </a:p>
        </p:txBody>
      </p:sp>
      <p:sp>
        <p:nvSpPr>
          <p:cNvPr id="19" name="Shape 15"/>
          <p:cNvSpPr/>
          <p:nvPr/>
        </p:nvSpPr>
        <p:spPr>
          <a:xfrm>
            <a:off x="411480" y="6355080"/>
            <a:ext cx="11384280" cy="0"/>
          </a:xfrm>
          <a:prstGeom prst="line">
            <a:avLst/>
          </a:prstGeom>
          <a:noFill/>
          <a:ln w="9525">
            <a:solidFill>
              <a:srgbClr val="E0E0E0"/>
            </a:solidFill>
            <a:prstDash val="solid"/>
          </a:ln>
        </p:spPr>
        <p:txBody>
          <a:bodyPr/>
          <a:lstStyle/>
          <a:p>
            <a:endParaRPr lang="ja-JP" altLang="en-US"/>
          </a:p>
        </p:txBody>
      </p:sp>
      <p:sp>
        <p:nvSpPr>
          <p:cNvPr id="20" name="Text 16"/>
          <p:cNvSpPr/>
          <p:nvPr/>
        </p:nvSpPr>
        <p:spPr>
          <a:xfrm>
            <a:off x="411480" y="6400800"/>
            <a:ext cx="8778240" cy="274320"/>
          </a:xfrm>
          <a:prstGeom prst="rect">
            <a:avLst/>
          </a:prstGeom>
          <a:noFill/>
          <a:ln/>
        </p:spPr>
        <p:txBody>
          <a:bodyPr wrap="square" lIns="0" tIns="0" rIns="0" bIns="0" rtlCol="0" anchor="ctr"/>
          <a:lstStyle/>
          <a:p>
            <a:pPr marL="0" indent="0">
              <a:buNone/>
            </a:pPr>
            <a:r>
              <a:rPr lang="en-US" sz="750" dirty="0">
                <a:solidFill>
                  <a:srgbClr val="767676"/>
                </a:solidFill>
                <a:latin typeface="Yu Gothic" pitchFamily="34" charset="0"/>
                <a:ea typeface="Yu Gothic" pitchFamily="34" charset="-122"/>
                <a:cs typeface="Yu Gothic" pitchFamily="34" charset="-120"/>
              </a:rPr>
              <a:t>16 / 19　固定商材＝ドコモ光＋home5G＋dカードG。Dream値・全部隊値ともに当週のイベント店舗実績ベース。中央値はPI 5件以上の全部隊を母集団として算出。</a:t>
            </a:r>
            <a:endParaRPr lang="en-US" sz="750" dirty="0"/>
          </a:p>
        </p:txBody>
      </p:sp>
      <p:sp>
        <p:nvSpPr>
          <p:cNvPr id="21" name="Text 17"/>
          <p:cNvSpPr/>
          <p:nvPr/>
        </p:nvSpPr>
        <p:spPr>
          <a:xfrm>
            <a:off x="9235440" y="6400800"/>
            <a:ext cx="2560320" cy="274320"/>
          </a:xfrm>
          <a:prstGeom prst="rect">
            <a:avLst/>
          </a:prstGeom>
          <a:noFill/>
          <a:ln/>
        </p:spPr>
        <p:txBody>
          <a:bodyPr wrap="square" lIns="0" tIns="0" rIns="0" bIns="0" rtlCol="0" anchor="ctr"/>
          <a:lstStyle/>
          <a:p>
            <a:pPr marL="0" indent="0" algn="r">
              <a:buNone/>
            </a:pPr>
            <a:r>
              <a:rPr lang="en-US" sz="750" dirty="0">
                <a:solidFill>
                  <a:srgbClr val="767676"/>
                </a:solidFill>
                <a:latin typeface="Yu Gothic" pitchFamily="34" charset="0"/>
                <a:ea typeface="Yu Gothic" pitchFamily="34" charset="-122"/>
                <a:cs typeface="Yu Gothic" pitchFamily="34" charset="-120"/>
              </a:rPr>
              <a:t>DREAM TEAM · JULY 2026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11480" y="292608"/>
            <a:ext cx="384048" cy="256032"/>
          </a:xfrm>
          <a:prstGeom prst="rect">
            <a:avLst/>
          </a:prstGeom>
          <a:solidFill>
            <a:srgbClr val="CC0000"/>
          </a:solidFill>
          <a:ln/>
        </p:spPr>
        <p:txBody>
          <a:bodyPr/>
          <a:lstStyle/>
          <a:p>
            <a:endParaRPr lang="ja-JP" altLang="en-US"/>
          </a:p>
        </p:txBody>
      </p:sp>
      <p:sp>
        <p:nvSpPr>
          <p:cNvPr id="3" name="Text 1"/>
          <p:cNvSpPr/>
          <p:nvPr/>
        </p:nvSpPr>
        <p:spPr>
          <a:xfrm>
            <a:off x="411480" y="292608"/>
            <a:ext cx="384048"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Yu Gothic" pitchFamily="34" charset="0"/>
                <a:ea typeface="Yu Gothic" pitchFamily="34" charset="-122"/>
                <a:cs typeface="Yu Gothic" pitchFamily="34" charset="-120"/>
              </a:rPr>
              <a:t>17</a:t>
            </a:r>
            <a:endParaRPr lang="en-US" sz="1200" dirty="0"/>
          </a:p>
        </p:txBody>
      </p:sp>
      <p:sp>
        <p:nvSpPr>
          <p:cNvPr id="4" name="Text 2"/>
          <p:cNvSpPr/>
          <p:nvPr/>
        </p:nvSpPr>
        <p:spPr>
          <a:xfrm>
            <a:off x="896112" y="274320"/>
            <a:ext cx="10881360" cy="292608"/>
          </a:xfrm>
          <a:prstGeom prst="rect">
            <a:avLst/>
          </a:prstGeom>
          <a:noFill/>
          <a:ln/>
        </p:spPr>
        <p:txBody>
          <a:bodyPr wrap="square" lIns="0" tIns="0" rIns="0" bIns="0" rtlCol="0" anchor="ctr"/>
          <a:lstStyle/>
          <a:p>
            <a:pPr marL="0" indent="0">
              <a:buNone/>
            </a:pPr>
            <a:r>
              <a:rPr lang="en-US" sz="1700" b="1" dirty="0">
                <a:solidFill>
                  <a:srgbClr val="1A1A1A"/>
                </a:solidFill>
                <a:latin typeface="Yu Gothic" pitchFamily="34" charset="0"/>
                <a:ea typeface="Yu Gothic" pitchFamily="34" charset="-122"/>
                <a:cs typeface="Yu Gothic" pitchFamily="34" charset="-120"/>
              </a:rPr>
              <a:t>論点2 補足｜月間達成率で見た場合の評価</a:t>
            </a:r>
            <a:endParaRPr lang="en-US" sz="1700" dirty="0"/>
          </a:p>
        </p:txBody>
      </p:sp>
      <p:sp>
        <p:nvSpPr>
          <p:cNvPr id="5" name="Text 3"/>
          <p:cNvSpPr/>
          <p:nvPr/>
        </p:nvSpPr>
        <p:spPr>
          <a:xfrm>
            <a:off x="429768" y="621792"/>
            <a:ext cx="11338560" cy="384048"/>
          </a:xfrm>
          <a:prstGeom prst="rect">
            <a:avLst/>
          </a:prstGeom>
          <a:noFill/>
          <a:ln/>
        </p:spPr>
        <p:txBody>
          <a:bodyPr wrap="square" lIns="0" tIns="0" rIns="0" bIns="0" rtlCol="0" anchor="ctr"/>
          <a:lstStyle/>
          <a:p>
            <a:pPr marL="0" indent="0">
              <a:lnSpc>
                <a:spcPts val="1400"/>
              </a:lnSpc>
              <a:buNone/>
            </a:pPr>
            <a:r>
              <a:rPr lang="en-US" sz="950" dirty="0">
                <a:solidFill>
                  <a:srgbClr val="767676"/>
                </a:solidFill>
                <a:latin typeface="Yu Gothic" pitchFamily="34" charset="0"/>
                <a:ea typeface="Yu Gothic" pitchFamily="34" charset="-122"/>
                <a:cs typeface="Yu Gothic" pitchFamily="34" charset="-120"/>
              </a:rPr>
              <a:t>前段までは実績の「量」で比較しました。ドコモ様の評価軸である目標達成率で同じ比較を行うと、商材によって評価が反転します。7月の関西イベント全部隊 71〜81社との比較です。</a:t>
            </a:r>
            <a:endParaRPr lang="en-US" sz="950" dirty="0"/>
          </a:p>
        </p:txBody>
      </p:sp>
      <p:sp>
        <p:nvSpPr>
          <p:cNvPr id="6" name="Shape 4"/>
          <p:cNvSpPr/>
          <p:nvPr/>
        </p:nvSpPr>
        <p:spPr>
          <a:xfrm>
            <a:off x="411480" y="1060704"/>
            <a:ext cx="11384280" cy="0"/>
          </a:xfrm>
          <a:prstGeom prst="line">
            <a:avLst/>
          </a:prstGeom>
          <a:noFill/>
          <a:ln w="9525">
            <a:solidFill>
              <a:srgbClr val="E0E0E0"/>
            </a:solidFill>
            <a:prstDash val="solid"/>
          </a:ln>
        </p:spPr>
        <p:txBody>
          <a:bodyPr/>
          <a:lstStyle/>
          <a:p>
            <a:endParaRPr lang="ja-JP" altLang="en-US"/>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11480" y="1243584"/>
          <a:ext cx="11384280" cy="1594104"/>
        </p:xfrm>
        <a:graphic>
          <a:graphicData uri="http://schemas.openxmlformats.org/drawingml/2006/table">
            <a:tbl>
              <a:tblPr/>
              <a:tblGrid>
                <a:gridCol w="219456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gridCol w="1051560">
                  <a:extLst>
                    <a:ext uri="{9D8B030D-6E8A-4147-A177-3AD203B41FA5}">
                      <a16:colId xmlns:a16="http://schemas.microsoft.com/office/drawing/2014/main" val="20004"/>
                    </a:ext>
                  </a:extLst>
                </a:gridCol>
                <a:gridCol w="868680">
                  <a:extLst>
                    <a:ext uri="{9D8B030D-6E8A-4147-A177-3AD203B41FA5}">
                      <a16:colId xmlns:a16="http://schemas.microsoft.com/office/drawing/2014/main" val="20005"/>
                    </a:ext>
                  </a:extLst>
                </a:gridCol>
                <a:gridCol w="4114800">
                  <a:extLst>
                    <a:ext uri="{9D8B030D-6E8A-4147-A177-3AD203B41FA5}">
                      <a16:colId xmlns:a16="http://schemas.microsoft.com/office/drawing/2014/main" val="20006"/>
                    </a:ext>
                  </a:extLst>
                </a:gridCol>
              </a:tblGrid>
              <a:tr h="310896">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商材</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Dream</a:t>
                      </a:r>
                      <a:endParaRPr lang="en-US" sz="850" dirty="0">
                        <a:latin typeface="Yu Gothic" charset="0"/>
                        <a:ea typeface="Yu Gothic" charset="0"/>
                        <a:cs typeface="Yu Gothic" charset="0"/>
                      </a:endParaRPr>
                    </a:p>
                    <a:p>
                      <a:pPr marL="0" indent="0" algn="ctr">
                        <a:buNone/>
                      </a:pPr>
                      <a:r>
                        <a:rPr lang="en-US" sz="850" b="1" dirty="0">
                          <a:solidFill>
                            <a:srgbClr val="FFFFFF"/>
                          </a:solidFill>
                          <a:latin typeface="Yu Gothic" pitchFamily="34" charset="0"/>
                          <a:ea typeface="Yu Gothic" pitchFamily="34" charset="-122"/>
                          <a:cs typeface="Yu Gothic" pitchFamily="34" charset="-120"/>
                        </a:rPr>
                        <a:t>達成率</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全部隊</a:t>
                      </a:r>
                      <a:endParaRPr lang="en-US" sz="850" dirty="0">
                        <a:latin typeface="Yu Gothic" charset="0"/>
                        <a:ea typeface="Yu Gothic" charset="0"/>
                        <a:cs typeface="Yu Gothic" charset="0"/>
                      </a:endParaRPr>
                    </a:p>
                    <a:p>
                      <a:pPr marL="0" indent="0" algn="ctr">
                        <a:buNone/>
                      </a:pPr>
                      <a:r>
                        <a:rPr lang="en-US" sz="850" b="1" dirty="0">
                          <a:solidFill>
                            <a:srgbClr val="FFFFFF"/>
                          </a:solidFill>
                          <a:latin typeface="Yu Gothic" pitchFamily="34" charset="0"/>
                          <a:ea typeface="Yu Gothic" pitchFamily="34" charset="-122"/>
                          <a:cs typeface="Yu Gothic" pitchFamily="34" charset="-120"/>
                        </a:rPr>
                        <a:t>合計</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全部隊</a:t>
                      </a:r>
                      <a:endParaRPr lang="en-US" sz="850" dirty="0">
                        <a:latin typeface="Yu Gothic" charset="0"/>
                        <a:ea typeface="Yu Gothic" charset="0"/>
                        <a:cs typeface="Yu Gothic" charset="0"/>
                      </a:endParaRPr>
                    </a:p>
                    <a:p>
                      <a:pPr marL="0" indent="0" algn="ctr">
                        <a:buNone/>
                      </a:pPr>
                      <a:r>
                        <a:rPr lang="en-US" sz="850" b="1" dirty="0">
                          <a:solidFill>
                            <a:srgbClr val="FFFFFF"/>
                          </a:solidFill>
                          <a:latin typeface="Yu Gothic" pitchFamily="34" charset="0"/>
                          <a:ea typeface="Yu Gothic" pitchFamily="34" charset="-122"/>
                          <a:cs typeface="Yu Gothic" pitchFamily="34" charset="-120"/>
                        </a:rPr>
                        <a:t>中央値</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全部隊内</a:t>
                      </a:r>
                      <a:endParaRPr lang="en-US" sz="850" dirty="0">
                        <a:latin typeface="Yu Gothic" charset="0"/>
                        <a:ea typeface="Yu Gothic" charset="0"/>
                        <a:cs typeface="Yu Gothic" charset="0"/>
                      </a:endParaRPr>
                    </a:p>
                    <a:p>
                      <a:pPr marL="0" indent="0" algn="ctr">
                        <a:buNone/>
                      </a:pPr>
                      <a:r>
                        <a:rPr lang="en-US" sz="850" b="1" dirty="0">
                          <a:solidFill>
                            <a:srgbClr val="FFFFFF"/>
                          </a:solidFill>
                          <a:latin typeface="Yu Gothic" pitchFamily="34" charset="0"/>
                          <a:ea typeface="Yu Gothic" pitchFamily="34" charset="-122"/>
                          <a:cs typeface="Yu Gothic" pitchFamily="34" charset="-120"/>
                        </a:rPr>
                        <a:t>順位</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位置</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所見</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extLst>
                  <a:ext uri="{0D108BD9-81ED-4DB2-BD59-A6C34878D82A}">
                    <a16:rowId xmlns:a16="http://schemas.microsoft.com/office/drawing/2014/main" val="10000"/>
                  </a:ext>
                </a:extLst>
              </a:tr>
              <a:tr h="310896">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PI（ポートイン）</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90.8%</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106.8%</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104.6%</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66 / 81</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下位</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80社中52社が100%超。未達は明確な差</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1"/>
                  </a:ext>
                </a:extLst>
              </a:tr>
              <a:tr h="310896">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取替</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b="1" dirty="0">
                          <a:solidFill>
                            <a:srgbClr val="CC0000"/>
                          </a:solidFill>
                          <a:latin typeface="Yu Gothic" pitchFamily="34" charset="0"/>
                          <a:ea typeface="Yu Gothic" pitchFamily="34" charset="-122"/>
                          <a:cs typeface="Yu Gothic" pitchFamily="34" charset="-120"/>
                        </a:rPr>
                        <a:t>105.6%</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83.3%</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80.9%</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23 / 79</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上位29%</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78社中24社しか100%を超えていない領域</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extLst>
                  <a:ext uri="{0D108BD9-81ED-4DB2-BD59-A6C34878D82A}">
                    <a16:rowId xmlns:a16="http://schemas.microsoft.com/office/drawing/2014/main" val="10002"/>
                  </a:ext>
                </a:extLst>
              </a:tr>
              <a:tr h="310896">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純新規</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b="1" dirty="0">
                          <a:solidFill>
                            <a:srgbClr val="CC0000"/>
                          </a:solidFill>
                          <a:latin typeface="Yu Gothic" pitchFamily="34" charset="0"/>
                          <a:ea typeface="Yu Gothic" pitchFamily="34" charset="-122"/>
                          <a:cs typeface="Yu Gothic" pitchFamily="34" charset="-120"/>
                        </a:rPr>
                        <a:t>83.3%</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74.5%</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70.3%</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22 / 71</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上位31%</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全部隊が苦戦する中で中央値を13pt上回る</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extLst>
                  <a:ext uri="{0D108BD9-81ED-4DB2-BD59-A6C34878D82A}">
                    <a16:rowId xmlns:a16="http://schemas.microsoft.com/office/drawing/2014/main" val="10003"/>
                  </a:ext>
                </a:extLst>
              </a:tr>
              <a:tr h="310896">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イエナカ（光＋home5G）</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70.0%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110.1%</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110.3%</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66 / 76</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下位</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75社中45社が100%超。最大の弱点</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Shape 5"/>
          <p:cNvSpPr/>
          <p:nvPr/>
        </p:nvSpPr>
        <p:spPr>
          <a:xfrm>
            <a:off x="411480" y="2889504"/>
            <a:ext cx="11384280" cy="548640"/>
          </a:xfrm>
          <a:prstGeom prst="rect">
            <a:avLst/>
          </a:prstGeom>
          <a:solidFill>
            <a:srgbClr val="FDF0F0"/>
          </a:solidFill>
          <a:ln w="9525">
            <a:solidFill>
              <a:srgbClr val="F4CFCF"/>
            </a:solidFill>
            <a:prstDash val="solid"/>
          </a:ln>
        </p:spPr>
        <p:txBody>
          <a:bodyPr/>
          <a:lstStyle/>
          <a:p>
            <a:endParaRPr lang="ja-JP" altLang="en-US"/>
          </a:p>
        </p:txBody>
      </p:sp>
      <p:sp>
        <p:nvSpPr>
          <p:cNvPr id="9" name="Text 6"/>
          <p:cNvSpPr/>
          <p:nvPr/>
        </p:nvSpPr>
        <p:spPr>
          <a:xfrm>
            <a:off x="621792" y="2889504"/>
            <a:ext cx="10972800" cy="548640"/>
          </a:xfrm>
          <a:prstGeom prst="rect">
            <a:avLst/>
          </a:prstGeom>
          <a:noFill/>
          <a:ln/>
        </p:spPr>
        <p:txBody>
          <a:bodyPr wrap="square" lIns="0" tIns="0" rIns="0" bIns="0" rtlCol="0" anchor="ctr"/>
          <a:lstStyle/>
          <a:p>
            <a:pPr marL="0" indent="0">
              <a:buNone/>
            </a:pPr>
            <a:r>
              <a:rPr lang="en-US" sz="1050" b="1" dirty="0">
                <a:solidFill>
                  <a:srgbClr val="1A1A1A"/>
                </a:solidFill>
                <a:latin typeface="Yu Gothic" pitchFamily="34" charset="0"/>
                <a:ea typeface="Yu Gothic" pitchFamily="34" charset="-122"/>
                <a:cs typeface="Yu Gothic" pitchFamily="34" charset="-120"/>
              </a:rPr>
              <a:t>量では下位でも、達成率では取替・純新規が上位3割に入ります。一方でイエナカは達成率でも下位であり、ここが7月の最大の弱点です。</a:t>
            </a:r>
            <a:endParaRPr lang="en-US" sz="1050" dirty="0"/>
          </a:p>
        </p:txBody>
      </p:sp>
      <p:sp>
        <p:nvSpPr>
          <p:cNvPr id="10" name="Shape 7"/>
          <p:cNvSpPr/>
          <p:nvPr/>
        </p:nvSpPr>
        <p:spPr>
          <a:xfrm>
            <a:off x="411480" y="3621024"/>
            <a:ext cx="3657600" cy="1371600"/>
          </a:xfrm>
          <a:prstGeom prst="rect">
            <a:avLst/>
          </a:prstGeom>
          <a:solidFill>
            <a:srgbClr val="FFFFFF"/>
          </a:solidFill>
          <a:ln w="9525">
            <a:solidFill>
              <a:srgbClr val="E0E0E0"/>
            </a:solidFill>
            <a:prstDash val="solid"/>
          </a:ln>
        </p:spPr>
        <p:txBody>
          <a:bodyPr/>
          <a:lstStyle/>
          <a:p>
            <a:endParaRPr lang="ja-JP" altLang="en-US"/>
          </a:p>
        </p:txBody>
      </p:sp>
      <p:sp>
        <p:nvSpPr>
          <p:cNvPr id="11" name="Shape 8"/>
          <p:cNvSpPr/>
          <p:nvPr/>
        </p:nvSpPr>
        <p:spPr>
          <a:xfrm>
            <a:off x="411480" y="3621024"/>
            <a:ext cx="41148" cy="1371600"/>
          </a:xfrm>
          <a:prstGeom prst="rect">
            <a:avLst/>
          </a:prstGeom>
          <a:solidFill>
            <a:srgbClr val="767676"/>
          </a:solidFill>
          <a:ln/>
        </p:spPr>
        <p:txBody>
          <a:bodyPr/>
          <a:lstStyle/>
          <a:p>
            <a:endParaRPr lang="ja-JP" altLang="en-US"/>
          </a:p>
        </p:txBody>
      </p:sp>
      <p:sp>
        <p:nvSpPr>
          <p:cNvPr id="12" name="Text 9"/>
          <p:cNvSpPr/>
          <p:nvPr/>
        </p:nvSpPr>
        <p:spPr>
          <a:xfrm>
            <a:off x="576072" y="3712464"/>
            <a:ext cx="3346704" cy="237744"/>
          </a:xfrm>
          <a:prstGeom prst="rect">
            <a:avLst/>
          </a:prstGeom>
          <a:noFill/>
          <a:ln/>
        </p:spPr>
        <p:txBody>
          <a:bodyPr wrap="square" lIns="0" tIns="0" rIns="0" bIns="0" rtlCol="0" anchor="ctr"/>
          <a:lstStyle/>
          <a:p>
            <a:pPr marL="0" indent="0">
              <a:buNone/>
            </a:pPr>
            <a:r>
              <a:rPr lang="en-US" sz="1000" b="1" dirty="0">
                <a:solidFill>
                  <a:srgbClr val="1A1A1A"/>
                </a:solidFill>
                <a:latin typeface="Yu Gothic" pitchFamily="34" charset="0"/>
                <a:ea typeface="Yu Gothic" pitchFamily="34" charset="-122"/>
                <a:cs typeface="Yu Gothic" pitchFamily="34" charset="-120"/>
              </a:rPr>
              <a:t>前回ご報告からの訂正</a:t>
            </a:r>
            <a:endParaRPr lang="en-US" sz="1000" dirty="0"/>
          </a:p>
        </p:txBody>
      </p:sp>
      <p:sp>
        <p:nvSpPr>
          <p:cNvPr id="13" name="Text 10"/>
          <p:cNvSpPr/>
          <p:nvPr/>
        </p:nvSpPr>
        <p:spPr>
          <a:xfrm>
            <a:off x="576072" y="3968496"/>
            <a:ext cx="3346704" cy="914400"/>
          </a:xfrm>
          <a:prstGeom prst="rect">
            <a:avLst/>
          </a:prstGeom>
          <a:noFill/>
          <a:ln/>
        </p:spPr>
        <p:txBody>
          <a:bodyPr wrap="square" lIns="0" tIns="0" rIns="0" bIns="0" rtlCol="0" anchor="t"/>
          <a:lstStyle/>
          <a:p>
            <a:pPr marL="0" indent="0">
              <a:lnSpc>
                <a:spcPts val="1300"/>
              </a:lnSpc>
              <a:buNone/>
            </a:pPr>
            <a:r>
              <a:rPr lang="en-US" sz="850" dirty="0">
                <a:solidFill>
                  <a:srgbClr val="3A3A3A"/>
                </a:solidFill>
                <a:latin typeface="Yu Gothic" pitchFamily="34" charset="0"/>
                <a:ea typeface="Yu Gothic" pitchFamily="34" charset="-122"/>
                <a:cs typeface="Yu Gothic" pitchFamily="34" charset="-120"/>
              </a:rPr>
              <a:t>15枚目で「固定商材はほぼ中央値水準」とご報告しましたが、これは週次の絶対量での比較でした。</a:t>
            </a:r>
            <a:endParaRPr lang="en-US" sz="850" dirty="0"/>
          </a:p>
          <a:p>
            <a:pPr marL="0" indent="0">
              <a:lnSpc>
                <a:spcPts val="1300"/>
              </a:lnSpc>
              <a:buNone/>
            </a:pPr>
            <a:r>
              <a:rPr lang="en-US" sz="850" dirty="0">
                <a:solidFill>
                  <a:srgbClr val="3A3A3A"/>
                </a:solidFill>
                <a:latin typeface="Yu Gothic" pitchFamily="34" charset="0"/>
                <a:ea typeface="Yu Gothic" pitchFamily="34" charset="-122"/>
                <a:cs typeface="Yu Gothic" pitchFamily="34" charset="-120"/>
              </a:rPr>
              <a:t>目標達成率で見ると70.0%・76社中66位であり、下位です。訂正いたします。</a:t>
            </a:r>
            <a:endParaRPr lang="en-US" sz="850" dirty="0"/>
          </a:p>
        </p:txBody>
      </p:sp>
      <p:sp>
        <p:nvSpPr>
          <p:cNvPr id="14" name="Shape 11"/>
          <p:cNvSpPr/>
          <p:nvPr/>
        </p:nvSpPr>
        <p:spPr>
          <a:xfrm>
            <a:off x="4233672" y="3621024"/>
            <a:ext cx="3657600" cy="1371600"/>
          </a:xfrm>
          <a:prstGeom prst="rect">
            <a:avLst/>
          </a:prstGeom>
          <a:solidFill>
            <a:srgbClr val="FFFFFF"/>
          </a:solidFill>
          <a:ln w="9525">
            <a:solidFill>
              <a:srgbClr val="E0E0E0"/>
            </a:solidFill>
            <a:prstDash val="solid"/>
          </a:ln>
        </p:spPr>
        <p:txBody>
          <a:bodyPr/>
          <a:lstStyle/>
          <a:p>
            <a:endParaRPr lang="ja-JP" altLang="en-US"/>
          </a:p>
        </p:txBody>
      </p:sp>
      <p:sp>
        <p:nvSpPr>
          <p:cNvPr id="15" name="Shape 12"/>
          <p:cNvSpPr/>
          <p:nvPr/>
        </p:nvSpPr>
        <p:spPr>
          <a:xfrm>
            <a:off x="4233672" y="3621024"/>
            <a:ext cx="41148" cy="1371600"/>
          </a:xfrm>
          <a:prstGeom prst="rect">
            <a:avLst/>
          </a:prstGeom>
          <a:solidFill>
            <a:srgbClr val="CC0000"/>
          </a:solidFill>
          <a:ln/>
        </p:spPr>
        <p:txBody>
          <a:bodyPr/>
          <a:lstStyle/>
          <a:p>
            <a:endParaRPr lang="ja-JP" altLang="en-US"/>
          </a:p>
        </p:txBody>
      </p:sp>
      <p:sp>
        <p:nvSpPr>
          <p:cNvPr id="16" name="Text 13"/>
          <p:cNvSpPr/>
          <p:nvPr/>
        </p:nvSpPr>
        <p:spPr>
          <a:xfrm>
            <a:off x="4398264" y="3712464"/>
            <a:ext cx="3346704" cy="237744"/>
          </a:xfrm>
          <a:prstGeom prst="rect">
            <a:avLst/>
          </a:prstGeom>
          <a:noFill/>
          <a:ln/>
        </p:spPr>
        <p:txBody>
          <a:bodyPr wrap="square" lIns="0" tIns="0" rIns="0" bIns="0" rtlCol="0" anchor="ctr"/>
          <a:lstStyle/>
          <a:p>
            <a:pPr marL="0" indent="0">
              <a:buNone/>
            </a:pPr>
            <a:r>
              <a:rPr lang="en-US" sz="1000" b="1" dirty="0">
                <a:solidFill>
                  <a:srgbClr val="1A1A1A"/>
                </a:solidFill>
                <a:latin typeface="Yu Gothic" pitchFamily="34" charset="0"/>
                <a:ea typeface="Yu Gothic" pitchFamily="34" charset="-122"/>
                <a:cs typeface="Yu Gothic" pitchFamily="34" charset="-120"/>
              </a:rPr>
              <a:t>取替・純新規が上位に入る理由</a:t>
            </a:r>
            <a:endParaRPr lang="en-US" sz="1000" dirty="0"/>
          </a:p>
        </p:txBody>
      </p:sp>
      <p:sp>
        <p:nvSpPr>
          <p:cNvPr id="17" name="Text 14"/>
          <p:cNvSpPr/>
          <p:nvPr/>
        </p:nvSpPr>
        <p:spPr>
          <a:xfrm>
            <a:off x="4398264" y="3968496"/>
            <a:ext cx="3346704" cy="914400"/>
          </a:xfrm>
          <a:prstGeom prst="rect">
            <a:avLst/>
          </a:prstGeom>
          <a:noFill/>
          <a:ln/>
        </p:spPr>
        <p:txBody>
          <a:bodyPr wrap="square" lIns="0" tIns="0" rIns="0" bIns="0" rtlCol="0" anchor="t"/>
          <a:lstStyle/>
          <a:p>
            <a:pPr marL="0" indent="0">
              <a:lnSpc>
                <a:spcPts val="1300"/>
              </a:lnSpc>
              <a:buNone/>
            </a:pPr>
            <a:r>
              <a:rPr lang="en-US" sz="850" dirty="0">
                <a:solidFill>
                  <a:srgbClr val="3A3A3A"/>
                </a:solidFill>
                <a:latin typeface="Yu Gothic" pitchFamily="34" charset="0"/>
                <a:ea typeface="Yu Gothic" pitchFamily="34" charset="-122"/>
                <a:cs typeface="Yu Gothic" pitchFamily="34" charset="-120"/>
              </a:rPr>
              <a:t>常駐特販として顧客照会を徹底できることが、取替の掘り起こしに直結しています。</a:t>
            </a:r>
            <a:endParaRPr lang="en-US" sz="850" dirty="0"/>
          </a:p>
          <a:p>
            <a:pPr marL="0" indent="0">
              <a:lnSpc>
                <a:spcPts val="1300"/>
              </a:lnSpc>
              <a:buNone/>
            </a:pPr>
            <a:r>
              <a:rPr lang="en-US" sz="850" dirty="0">
                <a:solidFill>
                  <a:srgbClr val="3A3A3A"/>
                </a:solidFill>
                <a:latin typeface="Yu Gothic" pitchFamily="34" charset="0"/>
                <a:ea typeface="Yu Gothic" pitchFamily="34" charset="-122"/>
                <a:cs typeface="Yu Gothic" pitchFamily="34" charset="-120"/>
              </a:rPr>
              <a:t>7月4w堺中央環状店の取替11件（全82部隊中3位）は、その再現例です。</a:t>
            </a:r>
            <a:endParaRPr lang="en-US" sz="850" dirty="0"/>
          </a:p>
        </p:txBody>
      </p:sp>
      <p:sp>
        <p:nvSpPr>
          <p:cNvPr id="18" name="Shape 15"/>
          <p:cNvSpPr/>
          <p:nvPr/>
        </p:nvSpPr>
        <p:spPr>
          <a:xfrm>
            <a:off x="8055864" y="3621024"/>
            <a:ext cx="3739896" cy="1371600"/>
          </a:xfrm>
          <a:prstGeom prst="rect">
            <a:avLst/>
          </a:prstGeom>
          <a:solidFill>
            <a:srgbClr val="FFFFFF"/>
          </a:solidFill>
          <a:ln w="9525">
            <a:solidFill>
              <a:srgbClr val="E0E0E0"/>
            </a:solidFill>
            <a:prstDash val="solid"/>
          </a:ln>
        </p:spPr>
        <p:txBody>
          <a:bodyPr/>
          <a:lstStyle/>
          <a:p>
            <a:endParaRPr lang="ja-JP" altLang="en-US"/>
          </a:p>
        </p:txBody>
      </p:sp>
      <p:sp>
        <p:nvSpPr>
          <p:cNvPr id="19" name="Shape 16"/>
          <p:cNvSpPr/>
          <p:nvPr/>
        </p:nvSpPr>
        <p:spPr>
          <a:xfrm>
            <a:off x="8055864" y="3621024"/>
            <a:ext cx="41148" cy="1371600"/>
          </a:xfrm>
          <a:prstGeom prst="rect">
            <a:avLst/>
          </a:prstGeom>
          <a:solidFill>
            <a:srgbClr val="CC0000"/>
          </a:solidFill>
          <a:ln/>
        </p:spPr>
        <p:txBody>
          <a:bodyPr/>
          <a:lstStyle/>
          <a:p>
            <a:endParaRPr lang="ja-JP" altLang="en-US"/>
          </a:p>
        </p:txBody>
      </p:sp>
      <p:sp>
        <p:nvSpPr>
          <p:cNvPr id="20" name="Text 17"/>
          <p:cNvSpPr/>
          <p:nvPr/>
        </p:nvSpPr>
        <p:spPr>
          <a:xfrm>
            <a:off x="8220456" y="3712464"/>
            <a:ext cx="3429000" cy="237744"/>
          </a:xfrm>
          <a:prstGeom prst="rect">
            <a:avLst/>
          </a:prstGeom>
          <a:noFill/>
          <a:ln/>
        </p:spPr>
        <p:txBody>
          <a:bodyPr wrap="square" lIns="0" tIns="0" rIns="0" bIns="0" rtlCol="0" anchor="ctr"/>
          <a:lstStyle/>
          <a:p>
            <a:pPr marL="0" indent="0">
              <a:buNone/>
            </a:pPr>
            <a:r>
              <a:rPr lang="en-US" sz="1000" b="1" dirty="0">
                <a:solidFill>
                  <a:srgbClr val="1A1A1A"/>
                </a:solidFill>
                <a:latin typeface="Yu Gothic" pitchFamily="34" charset="0"/>
                <a:ea typeface="Yu Gothic" pitchFamily="34" charset="-122"/>
                <a:cs typeface="Yu Gothic" pitchFamily="34" charset="-120"/>
              </a:rPr>
              <a:t>イエナカが伸びなかった要因</a:t>
            </a:r>
            <a:endParaRPr lang="en-US" sz="1000" dirty="0"/>
          </a:p>
        </p:txBody>
      </p:sp>
      <p:sp>
        <p:nvSpPr>
          <p:cNvPr id="21" name="Text 18"/>
          <p:cNvSpPr/>
          <p:nvPr/>
        </p:nvSpPr>
        <p:spPr>
          <a:xfrm>
            <a:off x="8220456" y="3968496"/>
            <a:ext cx="3429000" cy="914400"/>
          </a:xfrm>
          <a:prstGeom prst="rect">
            <a:avLst/>
          </a:prstGeom>
          <a:noFill/>
          <a:ln/>
        </p:spPr>
        <p:txBody>
          <a:bodyPr wrap="square" lIns="0" tIns="0" rIns="0" bIns="0" rtlCol="0" anchor="t"/>
          <a:lstStyle/>
          <a:p>
            <a:pPr marL="0" indent="0">
              <a:lnSpc>
                <a:spcPts val="1300"/>
              </a:lnSpc>
              <a:buNone/>
            </a:pPr>
            <a:r>
              <a:rPr lang="en-US" sz="850" dirty="0">
                <a:solidFill>
                  <a:srgbClr val="3A3A3A"/>
                </a:solidFill>
                <a:latin typeface="Yu Gothic" pitchFamily="34" charset="0"/>
                <a:ea typeface="Yu Gothic" pitchFamily="34" charset="-122"/>
                <a:cs typeface="Yu Gothic" pitchFamily="34" charset="-120"/>
              </a:rPr>
              <a:t>home 5Gが3件／目標6件。登録対応可能なスタッフ数とランプ台数の制約が影響しました。</a:t>
            </a:r>
            <a:endParaRPr lang="en-US" sz="850" dirty="0"/>
          </a:p>
          <a:p>
            <a:pPr marL="0" indent="0">
              <a:lnSpc>
                <a:spcPts val="1300"/>
              </a:lnSpc>
              <a:buNone/>
            </a:pPr>
            <a:r>
              <a:rPr lang="en-US" sz="850" dirty="0">
                <a:solidFill>
                  <a:srgbClr val="3A3A3A"/>
                </a:solidFill>
                <a:latin typeface="Yu Gothic" pitchFamily="34" charset="0"/>
                <a:ea typeface="Yu Gothic" pitchFamily="34" charset="-122"/>
                <a:cs typeface="Yu Gothic" pitchFamily="34" charset="-120"/>
              </a:rPr>
              <a:t>光1Gも13件／目標18件で、PIの母数不足がそのまま響いています。</a:t>
            </a:r>
            <a:endParaRPr lang="en-US" sz="850" dirty="0"/>
          </a:p>
        </p:txBody>
      </p:sp>
      <p:sp>
        <p:nvSpPr>
          <p:cNvPr id="22" name="Shape 19"/>
          <p:cNvSpPr/>
          <p:nvPr/>
        </p:nvSpPr>
        <p:spPr>
          <a:xfrm>
            <a:off x="411480" y="5138928"/>
            <a:ext cx="11384280" cy="1060704"/>
          </a:xfrm>
          <a:prstGeom prst="rect">
            <a:avLst/>
          </a:prstGeom>
          <a:solidFill>
            <a:srgbClr val="FFFFFF"/>
          </a:solidFill>
          <a:ln w="12700">
            <a:solidFill>
              <a:srgbClr val="CC0000"/>
            </a:solidFill>
            <a:prstDash val="solid"/>
          </a:ln>
        </p:spPr>
        <p:txBody>
          <a:bodyPr/>
          <a:lstStyle/>
          <a:p>
            <a:endParaRPr lang="ja-JP" altLang="en-US"/>
          </a:p>
        </p:txBody>
      </p:sp>
      <p:sp>
        <p:nvSpPr>
          <p:cNvPr id="23" name="Text 20"/>
          <p:cNvSpPr/>
          <p:nvPr/>
        </p:nvSpPr>
        <p:spPr>
          <a:xfrm>
            <a:off x="621792" y="5230368"/>
            <a:ext cx="5486400" cy="237744"/>
          </a:xfrm>
          <a:prstGeom prst="rect">
            <a:avLst/>
          </a:prstGeom>
          <a:noFill/>
          <a:ln/>
        </p:spPr>
        <p:txBody>
          <a:bodyPr wrap="square" lIns="0" tIns="0" rIns="0" bIns="0" rtlCol="0" anchor="ctr"/>
          <a:lstStyle/>
          <a:p>
            <a:pPr marL="0" indent="0">
              <a:buNone/>
            </a:pPr>
            <a:r>
              <a:rPr lang="en-US" sz="1000" b="1" dirty="0">
                <a:solidFill>
                  <a:srgbClr val="CC0000"/>
                </a:solidFill>
                <a:latin typeface="Yu Gothic" pitchFamily="34" charset="0"/>
                <a:ea typeface="Yu Gothic" pitchFamily="34" charset="-122"/>
                <a:cs typeface="Yu Gothic" pitchFamily="34" charset="-120"/>
              </a:rPr>
              <a:t>ご相談 ── イエナカの目標比率について</a:t>
            </a:r>
            <a:endParaRPr lang="en-US" sz="1000" dirty="0"/>
          </a:p>
        </p:txBody>
      </p:sp>
      <p:sp>
        <p:nvSpPr>
          <p:cNvPr id="24" name="Text 21"/>
          <p:cNvSpPr/>
          <p:nvPr/>
        </p:nvSpPr>
        <p:spPr>
          <a:xfrm>
            <a:off x="621792" y="5486400"/>
            <a:ext cx="10954512" cy="640080"/>
          </a:xfrm>
          <a:prstGeom prst="rect">
            <a:avLst/>
          </a:prstGeom>
          <a:noFill/>
          <a:ln/>
        </p:spPr>
        <p:txBody>
          <a:bodyPr wrap="square" lIns="0" tIns="0" rIns="0" bIns="0" rtlCol="0" anchor="t"/>
          <a:lstStyle/>
          <a:p>
            <a:pPr marL="0" indent="0">
              <a:lnSpc>
                <a:spcPts val="1300"/>
              </a:lnSpc>
              <a:buNone/>
            </a:pPr>
            <a:r>
              <a:rPr lang="en-US" sz="900" dirty="0">
                <a:solidFill>
                  <a:srgbClr val="3A3A3A"/>
                </a:solidFill>
                <a:latin typeface="Yu Gothic" pitchFamily="34" charset="0"/>
                <a:ea typeface="Yu Gothic" pitchFamily="34" charset="-122"/>
                <a:cs typeface="Yu Gothic" pitchFamily="34" charset="-120"/>
              </a:rPr>
              <a:t>弊社のイエナカ目標30件は、PI目標87件に対して34.5%の比率です。関西イベント部隊全体ではイエナカ目標2,471件／PI目標11,483件＝21.5%であり、弊社の目標比率は全体の約1.6倍にあたります。</a:t>
            </a:r>
            <a:endParaRPr lang="en-US" sz="900" dirty="0"/>
          </a:p>
          <a:p>
            <a:pPr marL="0" indent="0">
              <a:lnSpc>
                <a:spcPts val="1300"/>
              </a:lnSpc>
              <a:buNone/>
            </a:pPr>
            <a:r>
              <a:rPr lang="en-US" sz="900" dirty="0">
                <a:solidFill>
                  <a:srgbClr val="3A3A3A"/>
                </a:solidFill>
                <a:latin typeface="Yu Gothic" pitchFamily="34" charset="0"/>
                <a:ea typeface="Yu Gothic" pitchFamily="34" charset="-122"/>
                <a:cs typeface="Yu Gothic" pitchFamily="34" charset="-120"/>
              </a:rPr>
              <a:t>達成に向けて取り組むことに変わりはありませんが、目標設定の前提について一度すり合わせをさせていただけますと幸いです。あわせて、home 5Gの登録対応可能スタッフ数・ランプ台数の拡充についてもご相談させてください。</a:t>
            </a:r>
            <a:endParaRPr lang="en-US" sz="900" dirty="0"/>
          </a:p>
        </p:txBody>
      </p:sp>
      <p:sp>
        <p:nvSpPr>
          <p:cNvPr id="25" name="Shape 22"/>
          <p:cNvSpPr/>
          <p:nvPr/>
        </p:nvSpPr>
        <p:spPr>
          <a:xfrm>
            <a:off x="411480" y="6355080"/>
            <a:ext cx="11384280" cy="0"/>
          </a:xfrm>
          <a:prstGeom prst="line">
            <a:avLst/>
          </a:prstGeom>
          <a:noFill/>
          <a:ln w="9525">
            <a:solidFill>
              <a:srgbClr val="E0E0E0"/>
            </a:solidFill>
            <a:prstDash val="solid"/>
          </a:ln>
        </p:spPr>
        <p:txBody>
          <a:bodyPr/>
          <a:lstStyle/>
          <a:p>
            <a:endParaRPr lang="ja-JP" altLang="en-US"/>
          </a:p>
        </p:txBody>
      </p:sp>
      <p:sp>
        <p:nvSpPr>
          <p:cNvPr id="26" name="Text 23"/>
          <p:cNvSpPr/>
          <p:nvPr/>
        </p:nvSpPr>
        <p:spPr>
          <a:xfrm>
            <a:off x="411480" y="6400800"/>
            <a:ext cx="8778240" cy="274320"/>
          </a:xfrm>
          <a:prstGeom prst="rect">
            <a:avLst/>
          </a:prstGeom>
          <a:noFill/>
          <a:ln/>
        </p:spPr>
        <p:txBody>
          <a:bodyPr wrap="square" lIns="0" tIns="0" rIns="0" bIns="0" rtlCol="0" anchor="ctr"/>
          <a:lstStyle/>
          <a:p>
            <a:pPr marL="0" indent="0">
              <a:buNone/>
            </a:pPr>
            <a:r>
              <a:rPr lang="en-US" sz="750" dirty="0">
                <a:solidFill>
                  <a:srgbClr val="767676"/>
                </a:solidFill>
                <a:latin typeface="Yu Gothic" pitchFamily="34" charset="0"/>
                <a:ea typeface="Yu Gothic" pitchFamily="34" charset="-122"/>
                <a:cs typeface="Yu Gothic" pitchFamily="34" charset="-120"/>
              </a:rPr>
              <a:t>17 / 19　達成率は各社の月間目標に対する実績比。母数は当該商材の目標が設定されている委託会社。イエナカ＝ドコモ光＋home 5G。</a:t>
            </a:r>
            <a:endParaRPr lang="en-US" sz="750" dirty="0"/>
          </a:p>
        </p:txBody>
      </p:sp>
      <p:sp>
        <p:nvSpPr>
          <p:cNvPr id="27" name="Text 24"/>
          <p:cNvSpPr/>
          <p:nvPr/>
        </p:nvSpPr>
        <p:spPr>
          <a:xfrm>
            <a:off x="9235440" y="6400800"/>
            <a:ext cx="2560320" cy="274320"/>
          </a:xfrm>
          <a:prstGeom prst="rect">
            <a:avLst/>
          </a:prstGeom>
          <a:noFill/>
          <a:ln/>
        </p:spPr>
        <p:txBody>
          <a:bodyPr wrap="square" lIns="0" tIns="0" rIns="0" bIns="0" rtlCol="0" anchor="ctr"/>
          <a:lstStyle/>
          <a:p>
            <a:pPr marL="0" indent="0" algn="r">
              <a:buNone/>
            </a:pPr>
            <a:r>
              <a:rPr lang="en-US" sz="750" dirty="0">
                <a:solidFill>
                  <a:srgbClr val="767676"/>
                </a:solidFill>
                <a:latin typeface="Yu Gothic" pitchFamily="34" charset="0"/>
                <a:ea typeface="Yu Gothic" pitchFamily="34" charset="-122"/>
                <a:cs typeface="Yu Gothic" pitchFamily="34" charset="-120"/>
              </a:rPr>
              <a:t>DREAM TEAM · JULY 2026</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11480" y="292608"/>
            <a:ext cx="384048" cy="256032"/>
          </a:xfrm>
          <a:prstGeom prst="rect">
            <a:avLst/>
          </a:prstGeom>
          <a:solidFill>
            <a:srgbClr val="CC0000"/>
          </a:solidFill>
          <a:ln/>
        </p:spPr>
        <p:txBody>
          <a:bodyPr/>
          <a:lstStyle/>
          <a:p>
            <a:endParaRPr lang="ja-JP" altLang="en-US"/>
          </a:p>
        </p:txBody>
      </p:sp>
      <p:sp>
        <p:nvSpPr>
          <p:cNvPr id="3" name="Text 1"/>
          <p:cNvSpPr/>
          <p:nvPr/>
        </p:nvSpPr>
        <p:spPr>
          <a:xfrm>
            <a:off x="411480" y="292608"/>
            <a:ext cx="384048"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Yu Gothic" pitchFamily="34" charset="0"/>
                <a:ea typeface="Yu Gothic" pitchFamily="34" charset="-122"/>
                <a:cs typeface="Yu Gothic" pitchFamily="34" charset="-120"/>
              </a:rPr>
              <a:t>18</a:t>
            </a:r>
            <a:endParaRPr lang="en-US" sz="1200" dirty="0"/>
          </a:p>
        </p:txBody>
      </p:sp>
      <p:sp>
        <p:nvSpPr>
          <p:cNvPr id="4" name="Text 2"/>
          <p:cNvSpPr/>
          <p:nvPr/>
        </p:nvSpPr>
        <p:spPr>
          <a:xfrm>
            <a:off x="896112" y="274320"/>
            <a:ext cx="10881360" cy="292608"/>
          </a:xfrm>
          <a:prstGeom prst="rect">
            <a:avLst/>
          </a:prstGeom>
          <a:noFill/>
          <a:ln/>
        </p:spPr>
        <p:txBody>
          <a:bodyPr wrap="square" lIns="0" tIns="0" rIns="0" bIns="0" rtlCol="0" anchor="ctr"/>
          <a:lstStyle/>
          <a:p>
            <a:pPr marL="0" indent="0">
              <a:buNone/>
            </a:pPr>
            <a:r>
              <a:rPr lang="en-US" sz="1700" b="1" dirty="0">
                <a:solidFill>
                  <a:srgbClr val="1A1A1A"/>
                </a:solidFill>
                <a:latin typeface="Yu Gothic" pitchFamily="34" charset="0"/>
                <a:ea typeface="Yu Gothic" pitchFamily="34" charset="-122"/>
                <a:cs typeface="Yu Gothic" pitchFamily="34" charset="-120"/>
              </a:rPr>
              <a:t>論点2 追加検証｜店舗推奨度⑤ に絞った比較</a:t>
            </a:r>
            <a:endParaRPr lang="en-US" sz="1700" dirty="0"/>
          </a:p>
        </p:txBody>
      </p:sp>
      <p:sp>
        <p:nvSpPr>
          <p:cNvPr id="5" name="Text 3"/>
          <p:cNvSpPr/>
          <p:nvPr/>
        </p:nvSpPr>
        <p:spPr>
          <a:xfrm>
            <a:off x="429768" y="621792"/>
            <a:ext cx="11338560" cy="384048"/>
          </a:xfrm>
          <a:prstGeom prst="rect">
            <a:avLst/>
          </a:prstGeom>
          <a:noFill/>
          <a:ln/>
        </p:spPr>
        <p:txBody>
          <a:bodyPr wrap="square" lIns="0" tIns="0" rIns="0" bIns="0" rtlCol="0" anchor="ctr"/>
          <a:lstStyle/>
          <a:p>
            <a:pPr marL="0" indent="0">
              <a:lnSpc>
                <a:spcPts val="1400"/>
              </a:lnSpc>
              <a:buNone/>
            </a:pPr>
            <a:r>
              <a:rPr lang="en-US" sz="950" dirty="0">
                <a:solidFill>
                  <a:srgbClr val="767676"/>
                </a:solidFill>
                <a:latin typeface="Yu Gothic" pitchFamily="34" charset="0"/>
                <a:ea typeface="Yu Gothic" pitchFamily="34" charset="-122"/>
                <a:cs typeface="Yu Gothic" pitchFamily="34" charset="-120"/>
              </a:rPr>
              <a:t>Dreamチームが担当しているのは、いずれも店舗推奨度⑤の店舗です。全部隊との比較には推奨度①〜④や大型会場が含まれるため、条件を揃えて推奨度⑤のイベントのみ（7月1w〜4w・のべ38件）で再比較しました。</a:t>
            </a:r>
            <a:endParaRPr lang="en-US" sz="950" dirty="0"/>
          </a:p>
        </p:txBody>
      </p:sp>
      <p:sp>
        <p:nvSpPr>
          <p:cNvPr id="6" name="Shape 4"/>
          <p:cNvSpPr/>
          <p:nvPr/>
        </p:nvSpPr>
        <p:spPr>
          <a:xfrm>
            <a:off x="411480" y="1060704"/>
            <a:ext cx="11384280" cy="0"/>
          </a:xfrm>
          <a:prstGeom prst="line">
            <a:avLst/>
          </a:prstGeom>
          <a:noFill/>
          <a:ln w="9525">
            <a:solidFill>
              <a:srgbClr val="E0E0E0"/>
            </a:solidFill>
            <a:prstDash val="solid"/>
          </a:ln>
        </p:spPr>
        <p:txBody>
          <a:bodyPr/>
          <a:lstStyle/>
          <a:p>
            <a:endParaRPr lang="ja-JP" altLang="en-US"/>
          </a:p>
        </p:txBody>
      </p:sp>
      <p:sp>
        <p:nvSpPr>
          <p:cNvPr id="7" name="Shape 5"/>
          <p:cNvSpPr/>
          <p:nvPr/>
        </p:nvSpPr>
        <p:spPr>
          <a:xfrm>
            <a:off x="411480" y="1207008"/>
            <a:ext cx="2743200" cy="1024128"/>
          </a:xfrm>
          <a:prstGeom prst="rect">
            <a:avLst/>
          </a:prstGeom>
          <a:solidFill>
            <a:srgbClr val="FDF0F0"/>
          </a:solidFill>
          <a:ln w="9525">
            <a:solidFill>
              <a:srgbClr val="F4CFCF"/>
            </a:solidFill>
            <a:prstDash val="solid"/>
          </a:ln>
        </p:spPr>
        <p:txBody>
          <a:bodyPr/>
          <a:lstStyle/>
          <a:p>
            <a:endParaRPr lang="ja-JP" altLang="en-US"/>
          </a:p>
        </p:txBody>
      </p:sp>
      <p:sp>
        <p:nvSpPr>
          <p:cNvPr id="8" name="Text 6"/>
          <p:cNvSpPr/>
          <p:nvPr/>
        </p:nvSpPr>
        <p:spPr>
          <a:xfrm>
            <a:off x="557784" y="1280160"/>
            <a:ext cx="2450592" cy="219456"/>
          </a:xfrm>
          <a:prstGeom prst="rect">
            <a:avLst/>
          </a:prstGeom>
          <a:noFill/>
          <a:ln/>
        </p:spPr>
        <p:txBody>
          <a:bodyPr wrap="square" lIns="0" tIns="0" rIns="0" bIns="0" rtlCol="0" anchor="ctr"/>
          <a:lstStyle/>
          <a:p>
            <a:pPr marL="0" indent="0">
              <a:buNone/>
            </a:pPr>
            <a:r>
              <a:rPr lang="en-US" sz="850" b="1" dirty="0">
                <a:solidFill>
                  <a:srgbClr val="CC0000"/>
                </a:solidFill>
                <a:latin typeface="Yu Gothic" pitchFamily="34" charset="0"/>
                <a:ea typeface="Yu Gothic" pitchFamily="34" charset="-122"/>
                <a:cs typeface="Yu Gothic" pitchFamily="34" charset="-120"/>
              </a:rPr>
              <a:t>PI 週平均</a:t>
            </a:r>
            <a:endParaRPr lang="en-US" sz="850" dirty="0"/>
          </a:p>
        </p:txBody>
      </p:sp>
      <p:sp>
        <p:nvSpPr>
          <p:cNvPr id="9" name="Text 7"/>
          <p:cNvSpPr/>
          <p:nvPr/>
        </p:nvSpPr>
        <p:spPr>
          <a:xfrm>
            <a:off x="557784" y="1481328"/>
            <a:ext cx="2450592" cy="384048"/>
          </a:xfrm>
          <a:prstGeom prst="rect">
            <a:avLst/>
          </a:prstGeom>
          <a:noFill/>
          <a:ln/>
        </p:spPr>
        <p:txBody>
          <a:bodyPr wrap="square" lIns="0" tIns="0" rIns="0" bIns="0" rtlCol="0" anchor="ctr"/>
          <a:lstStyle/>
          <a:p>
            <a:pPr marL="0" indent="0">
              <a:buNone/>
            </a:pPr>
            <a:r>
              <a:rPr lang="en-US" sz="2100" b="1" dirty="0">
                <a:solidFill>
                  <a:srgbClr val="1A1A1A"/>
                </a:solidFill>
                <a:latin typeface="Yu Gothic" pitchFamily="34" charset="0"/>
                <a:ea typeface="Yu Gothic" pitchFamily="34" charset="-122"/>
                <a:cs typeface="Yu Gothic" pitchFamily="34" charset="-120"/>
              </a:rPr>
              <a:t>17.3件</a:t>
            </a:r>
            <a:endParaRPr lang="en-US" sz="2100" dirty="0"/>
          </a:p>
        </p:txBody>
      </p:sp>
      <p:sp>
        <p:nvSpPr>
          <p:cNvPr id="10" name="Text 8"/>
          <p:cNvSpPr/>
          <p:nvPr/>
        </p:nvSpPr>
        <p:spPr>
          <a:xfrm>
            <a:off x="557784" y="1883664"/>
            <a:ext cx="2450592" cy="292608"/>
          </a:xfrm>
          <a:prstGeom prst="rect">
            <a:avLst/>
          </a:prstGeom>
          <a:noFill/>
          <a:ln/>
        </p:spPr>
        <p:txBody>
          <a:bodyPr wrap="square" lIns="0" tIns="0" rIns="0" bIns="0" rtlCol="0" anchor="ctr"/>
          <a:lstStyle/>
          <a:p>
            <a:pPr marL="0" indent="0">
              <a:lnSpc>
                <a:spcPts val="1100"/>
              </a:lnSpc>
              <a:buNone/>
            </a:pPr>
            <a:r>
              <a:rPr lang="en-US" sz="800" dirty="0">
                <a:solidFill>
                  <a:srgbClr val="767676"/>
                </a:solidFill>
                <a:latin typeface="Yu Gothic" pitchFamily="34" charset="0"/>
                <a:ea typeface="Yu Gothic" pitchFamily="34" charset="-122"/>
                <a:cs typeface="Yu Gothic" pitchFamily="34" charset="-120"/>
              </a:rPr>
              <a:t>推奨度⑤ 中央値16.0件を上回る　39件中17位</a:t>
            </a:r>
            <a:endParaRPr lang="en-US" sz="800" dirty="0"/>
          </a:p>
        </p:txBody>
      </p:sp>
      <p:sp>
        <p:nvSpPr>
          <p:cNvPr id="11" name="Shape 9"/>
          <p:cNvSpPr/>
          <p:nvPr/>
        </p:nvSpPr>
        <p:spPr>
          <a:xfrm>
            <a:off x="3319272" y="1207008"/>
            <a:ext cx="2743200" cy="1024128"/>
          </a:xfrm>
          <a:prstGeom prst="rect">
            <a:avLst/>
          </a:prstGeom>
          <a:solidFill>
            <a:srgbClr val="FDF0F0"/>
          </a:solidFill>
          <a:ln w="9525">
            <a:solidFill>
              <a:srgbClr val="F4CFCF"/>
            </a:solidFill>
            <a:prstDash val="solid"/>
          </a:ln>
        </p:spPr>
        <p:txBody>
          <a:bodyPr/>
          <a:lstStyle/>
          <a:p>
            <a:endParaRPr lang="ja-JP" altLang="en-US"/>
          </a:p>
        </p:txBody>
      </p:sp>
      <p:sp>
        <p:nvSpPr>
          <p:cNvPr id="12" name="Text 10"/>
          <p:cNvSpPr/>
          <p:nvPr/>
        </p:nvSpPr>
        <p:spPr>
          <a:xfrm>
            <a:off x="3465576" y="1280160"/>
            <a:ext cx="2450592" cy="219456"/>
          </a:xfrm>
          <a:prstGeom prst="rect">
            <a:avLst/>
          </a:prstGeom>
          <a:noFill/>
          <a:ln/>
        </p:spPr>
        <p:txBody>
          <a:bodyPr wrap="square" lIns="0" tIns="0" rIns="0" bIns="0" rtlCol="0" anchor="ctr"/>
          <a:lstStyle/>
          <a:p>
            <a:pPr marL="0" indent="0">
              <a:buNone/>
            </a:pPr>
            <a:r>
              <a:rPr lang="en-US" sz="850" b="1" dirty="0">
                <a:solidFill>
                  <a:srgbClr val="CC0000"/>
                </a:solidFill>
                <a:latin typeface="Yu Gothic" pitchFamily="34" charset="0"/>
                <a:ea typeface="Yu Gothic" pitchFamily="34" charset="-122"/>
                <a:cs typeface="Yu Gothic" pitchFamily="34" charset="-120"/>
              </a:rPr>
              <a:t>総販 週平均</a:t>
            </a:r>
            <a:endParaRPr lang="en-US" sz="850" dirty="0"/>
          </a:p>
        </p:txBody>
      </p:sp>
      <p:sp>
        <p:nvSpPr>
          <p:cNvPr id="13" name="Text 11"/>
          <p:cNvSpPr/>
          <p:nvPr/>
        </p:nvSpPr>
        <p:spPr>
          <a:xfrm>
            <a:off x="3465576" y="1481328"/>
            <a:ext cx="2450592" cy="384048"/>
          </a:xfrm>
          <a:prstGeom prst="rect">
            <a:avLst/>
          </a:prstGeom>
          <a:noFill/>
          <a:ln/>
        </p:spPr>
        <p:txBody>
          <a:bodyPr wrap="square" lIns="0" tIns="0" rIns="0" bIns="0" rtlCol="0" anchor="ctr"/>
          <a:lstStyle/>
          <a:p>
            <a:pPr marL="0" indent="0">
              <a:buNone/>
            </a:pPr>
            <a:r>
              <a:rPr lang="en-US" sz="2100" b="1" dirty="0">
                <a:solidFill>
                  <a:srgbClr val="1A1A1A"/>
                </a:solidFill>
                <a:latin typeface="Yu Gothic" pitchFamily="34" charset="0"/>
                <a:ea typeface="Yu Gothic" pitchFamily="34" charset="-122"/>
                <a:cs typeface="Yu Gothic" pitchFamily="34" charset="-120"/>
              </a:rPr>
              <a:t>22.8件</a:t>
            </a:r>
            <a:endParaRPr lang="en-US" sz="2100" dirty="0"/>
          </a:p>
        </p:txBody>
      </p:sp>
      <p:sp>
        <p:nvSpPr>
          <p:cNvPr id="14" name="Text 12"/>
          <p:cNvSpPr/>
          <p:nvPr/>
        </p:nvSpPr>
        <p:spPr>
          <a:xfrm>
            <a:off x="3465576" y="1883664"/>
            <a:ext cx="2450592" cy="292608"/>
          </a:xfrm>
          <a:prstGeom prst="rect">
            <a:avLst/>
          </a:prstGeom>
          <a:noFill/>
          <a:ln/>
        </p:spPr>
        <p:txBody>
          <a:bodyPr wrap="square" lIns="0" tIns="0" rIns="0" bIns="0" rtlCol="0" anchor="ctr"/>
          <a:lstStyle/>
          <a:p>
            <a:pPr marL="0" indent="0">
              <a:lnSpc>
                <a:spcPts val="1100"/>
              </a:lnSpc>
              <a:buNone/>
            </a:pPr>
            <a:r>
              <a:rPr lang="en-US" sz="800" dirty="0">
                <a:solidFill>
                  <a:srgbClr val="767676"/>
                </a:solidFill>
                <a:latin typeface="Yu Gothic" pitchFamily="34" charset="0"/>
                <a:ea typeface="Yu Gothic" pitchFamily="34" charset="-122"/>
                <a:cs typeface="Yu Gothic" pitchFamily="34" charset="-120"/>
              </a:rPr>
              <a:t>推奨度⑤ 中央値19.5件　39件中14位</a:t>
            </a:r>
            <a:endParaRPr lang="en-US" sz="800" dirty="0"/>
          </a:p>
        </p:txBody>
      </p:sp>
      <p:sp>
        <p:nvSpPr>
          <p:cNvPr id="15" name="Shape 13"/>
          <p:cNvSpPr/>
          <p:nvPr/>
        </p:nvSpPr>
        <p:spPr>
          <a:xfrm>
            <a:off x="6227064" y="1207008"/>
            <a:ext cx="2743200" cy="1024128"/>
          </a:xfrm>
          <a:prstGeom prst="rect">
            <a:avLst/>
          </a:prstGeom>
          <a:solidFill>
            <a:srgbClr val="FDF0F0"/>
          </a:solidFill>
          <a:ln w="9525">
            <a:solidFill>
              <a:srgbClr val="F4CFCF"/>
            </a:solidFill>
            <a:prstDash val="solid"/>
          </a:ln>
        </p:spPr>
        <p:txBody>
          <a:bodyPr/>
          <a:lstStyle/>
          <a:p>
            <a:endParaRPr lang="ja-JP" altLang="en-US"/>
          </a:p>
        </p:txBody>
      </p:sp>
      <p:sp>
        <p:nvSpPr>
          <p:cNvPr id="16" name="Text 14"/>
          <p:cNvSpPr/>
          <p:nvPr/>
        </p:nvSpPr>
        <p:spPr>
          <a:xfrm>
            <a:off x="6373368" y="1280160"/>
            <a:ext cx="2450592" cy="219456"/>
          </a:xfrm>
          <a:prstGeom prst="rect">
            <a:avLst/>
          </a:prstGeom>
          <a:noFill/>
          <a:ln/>
        </p:spPr>
        <p:txBody>
          <a:bodyPr wrap="square" lIns="0" tIns="0" rIns="0" bIns="0" rtlCol="0" anchor="ctr"/>
          <a:lstStyle/>
          <a:p>
            <a:pPr marL="0" indent="0">
              <a:buNone/>
            </a:pPr>
            <a:r>
              <a:rPr lang="en-US" sz="850" b="1" dirty="0">
                <a:solidFill>
                  <a:srgbClr val="CC0000"/>
                </a:solidFill>
                <a:latin typeface="Yu Gothic" pitchFamily="34" charset="0"/>
                <a:ea typeface="Yu Gothic" pitchFamily="34" charset="-122"/>
                <a:cs typeface="Yu Gothic" pitchFamily="34" charset="-120"/>
              </a:rPr>
              <a:t>取替 週平均</a:t>
            </a:r>
            <a:endParaRPr lang="en-US" sz="850" dirty="0"/>
          </a:p>
        </p:txBody>
      </p:sp>
      <p:sp>
        <p:nvSpPr>
          <p:cNvPr id="17" name="Text 15"/>
          <p:cNvSpPr/>
          <p:nvPr/>
        </p:nvSpPr>
        <p:spPr>
          <a:xfrm>
            <a:off x="6373368" y="1481328"/>
            <a:ext cx="2450592" cy="384048"/>
          </a:xfrm>
          <a:prstGeom prst="rect">
            <a:avLst/>
          </a:prstGeom>
          <a:noFill/>
          <a:ln/>
        </p:spPr>
        <p:txBody>
          <a:bodyPr wrap="square" lIns="0" tIns="0" rIns="0" bIns="0" rtlCol="0" anchor="ctr"/>
          <a:lstStyle/>
          <a:p>
            <a:pPr marL="0" indent="0">
              <a:buNone/>
            </a:pPr>
            <a:r>
              <a:rPr lang="en-US" sz="2100" b="1" dirty="0">
                <a:solidFill>
                  <a:srgbClr val="1A1A1A"/>
                </a:solidFill>
                <a:latin typeface="Yu Gothic" pitchFamily="34" charset="0"/>
                <a:ea typeface="Yu Gothic" pitchFamily="34" charset="-122"/>
                <a:cs typeface="Yu Gothic" pitchFamily="34" charset="-120"/>
              </a:rPr>
              <a:t>5.0件</a:t>
            </a:r>
            <a:endParaRPr lang="en-US" sz="2100" dirty="0"/>
          </a:p>
        </p:txBody>
      </p:sp>
      <p:sp>
        <p:nvSpPr>
          <p:cNvPr id="18" name="Text 16"/>
          <p:cNvSpPr/>
          <p:nvPr/>
        </p:nvSpPr>
        <p:spPr>
          <a:xfrm>
            <a:off x="6373368" y="1883664"/>
            <a:ext cx="2450592" cy="292608"/>
          </a:xfrm>
          <a:prstGeom prst="rect">
            <a:avLst/>
          </a:prstGeom>
          <a:noFill/>
          <a:ln/>
        </p:spPr>
        <p:txBody>
          <a:bodyPr wrap="square" lIns="0" tIns="0" rIns="0" bIns="0" rtlCol="0" anchor="ctr"/>
          <a:lstStyle/>
          <a:p>
            <a:pPr marL="0" indent="0">
              <a:lnSpc>
                <a:spcPts val="1100"/>
              </a:lnSpc>
              <a:buNone/>
            </a:pPr>
            <a:r>
              <a:rPr lang="en-US" sz="800" dirty="0">
                <a:solidFill>
                  <a:srgbClr val="767676"/>
                </a:solidFill>
                <a:latin typeface="Yu Gothic" pitchFamily="34" charset="0"/>
                <a:ea typeface="Yu Gothic" pitchFamily="34" charset="-122"/>
                <a:cs typeface="Yu Gothic" pitchFamily="34" charset="-120"/>
              </a:rPr>
              <a:t>推奨度⑤ 中央値2.0件の2.5倍　39件中3位</a:t>
            </a:r>
            <a:endParaRPr lang="en-US" sz="800" dirty="0"/>
          </a:p>
        </p:txBody>
      </p:sp>
      <p:sp>
        <p:nvSpPr>
          <p:cNvPr id="19" name="Shape 17"/>
          <p:cNvSpPr/>
          <p:nvPr/>
        </p:nvSpPr>
        <p:spPr>
          <a:xfrm>
            <a:off x="9134856" y="1207008"/>
            <a:ext cx="2660904" cy="1024128"/>
          </a:xfrm>
          <a:prstGeom prst="rect">
            <a:avLst/>
          </a:prstGeom>
          <a:solidFill>
            <a:srgbClr val="FDF0F0"/>
          </a:solidFill>
          <a:ln w="9525">
            <a:solidFill>
              <a:srgbClr val="F4CFCF"/>
            </a:solidFill>
            <a:prstDash val="solid"/>
          </a:ln>
        </p:spPr>
        <p:txBody>
          <a:bodyPr/>
          <a:lstStyle/>
          <a:p>
            <a:endParaRPr lang="ja-JP" altLang="en-US"/>
          </a:p>
        </p:txBody>
      </p:sp>
      <p:sp>
        <p:nvSpPr>
          <p:cNvPr id="20" name="Text 18"/>
          <p:cNvSpPr/>
          <p:nvPr/>
        </p:nvSpPr>
        <p:spPr>
          <a:xfrm>
            <a:off x="9281160" y="1280160"/>
            <a:ext cx="2368296" cy="219456"/>
          </a:xfrm>
          <a:prstGeom prst="rect">
            <a:avLst/>
          </a:prstGeom>
          <a:noFill/>
          <a:ln/>
        </p:spPr>
        <p:txBody>
          <a:bodyPr wrap="square" lIns="0" tIns="0" rIns="0" bIns="0" rtlCol="0" anchor="ctr"/>
          <a:lstStyle/>
          <a:p>
            <a:pPr marL="0" indent="0">
              <a:buNone/>
            </a:pPr>
            <a:r>
              <a:rPr lang="en-US" sz="850" b="1" dirty="0">
                <a:solidFill>
                  <a:srgbClr val="CC0000"/>
                </a:solidFill>
                <a:latin typeface="Yu Gothic" pitchFamily="34" charset="0"/>
                <a:ea typeface="Yu Gothic" pitchFamily="34" charset="-122"/>
                <a:cs typeface="Yu Gothic" pitchFamily="34" charset="-120"/>
              </a:rPr>
              <a:t>固定商材 週平均</a:t>
            </a:r>
            <a:endParaRPr lang="en-US" sz="850" dirty="0"/>
          </a:p>
        </p:txBody>
      </p:sp>
      <p:sp>
        <p:nvSpPr>
          <p:cNvPr id="21" name="Text 19"/>
          <p:cNvSpPr/>
          <p:nvPr/>
        </p:nvSpPr>
        <p:spPr>
          <a:xfrm>
            <a:off x="9281160" y="1481328"/>
            <a:ext cx="2368296" cy="384048"/>
          </a:xfrm>
          <a:prstGeom prst="rect">
            <a:avLst/>
          </a:prstGeom>
          <a:noFill/>
          <a:ln/>
        </p:spPr>
        <p:txBody>
          <a:bodyPr wrap="square" lIns="0" tIns="0" rIns="0" bIns="0" rtlCol="0" anchor="ctr"/>
          <a:lstStyle/>
          <a:p>
            <a:pPr marL="0" indent="0">
              <a:buNone/>
            </a:pPr>
            <a:r>
              <a:rPr lang="en-US" sz="2100" b="1" dirty="0">
                <a:solidFill>
                  <a:srgbClr val="1A1A1A"/>
                </a:solidFill>
                <a:latin typeface="Yu Gothic" pitchFamily="34" charset="0"/>
                <a:ea typeface="Yu Gothic" pitchFamily="34" charset="-122"/>
                <a:cs typeface="Yu Gothic" pitchFamily="34" charset="-120"/>
              </a:rPr>
              <a:t>6.0件</a:t>
            </a:r>
            <a:endParaRPr lang="en-US" sz="2100" dirty="0"/>
          </a:p>
        </p:txBody>
      </p:sp>
      <p:sp>
        <p:nvSpPr>
          <p:cNvPr id="22" name="Text 20"/>
          <p:cNvSpPr/>
          <p:nvPr/>
        </p:nvSpPr>
        <p:spPr>
          <a:xfrm>
            <a:off x="9281160" y="1883664"/>
            <a:ext cx="2368296" cy="292608"/>
          </a:xfrm>
          <a:prstGeom prst="rect">
            <a:avLst/>
          </a:prstGeom>
          <a:noFill/>
          <a:ln/>
        </p:spPr>
        <p:txBody>
          <a:bodyPr wrap="square" lIns="0" tIns="0" rIns="0" bIns="0" rtlCol="0" anchor="ctr"/>
          <a:lstStyle/>
          <a:p>
            <a:pPr marL="0" indent="0">
              <a:lnSpc>
                <a:spcPts val="1100"/>
              </a:lnSpc>
              <a:buNone/>
            </a:pPr>
            <a:r>
              <a:rPr lang="en-US" sz="800" dirty="0">
                <a:solidFill>
                  <a:srgbClr val="767676"/>
                </a:solidFill>
                <a:latin typeface="Yu Gothic" pitchFamily="34" charset="0"/>
                <a:ea typeface="Yu Gothic" pitchFamily="34" charset="-122"/>
                <a:cs typeface="Yu Gothic" pitchFamily="34" charset="-120"/>
              </a:rPr>
              <a:t>推奨度⑤ 中央値3.0件の2.0倍　39件中4位</a:t>
            </a:r>
            <a:endParaRPr lang="en-US" sz="8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11480" y="2432304"/>
          <a:ext cx="11384280" cy="1557528"/>
        </p:xfrm>
        <a:graphic>
          <a:graphicData uri="http://schemas.openxmlformats.org/drawingml/2006/table">
            <a:tbl>
              <a:tblPr/>
              <a:tblGrid>
                <a:gridCol w="169164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960120">
                  <a:extLst>
                    <a:ext uri="{9D8B030D-6E8A-4147-A177-3AD203B41FA5}">
                      <a16:colId xmlns:a16="http://schemas.microsoft.com/office/drawing/2014/main" val="20004"/>
                    </a:ext>
                  </a:extLst>
                </a:gridCol>
                <a:gridCol w="1051560">
                  <a:extLst>
                    <a:ext uri="{9D8B030D-6E8A-4147-A177-3AD203B41FA5}">
                      <a16:colId xmlns:a16="http://schemas.microsoft.com/office/drawing/2014/main" val="20005"/>
                    </a:ext>
                  </a:extLst>
                </a:gridCol>
                <a:gridCol w="2148840">
                  <a:extLst>
                    <a:ext uri="{9D8B030D-6E8A-4147-A177-3AD203B41FA5}">
                      <a16:colId xmlns:a16="http://schemas.microsoft.com/office/drawing/2014/main" val="20006"/>
                    </a:ext>
                  </a:extLst>
                </a:gridCol>
                <a:gridCol w="2468880">
                  <a:extLst>
                    <a:ext uri="{9D8B030D-6E8A-4147-A177-3AD203B41FA5}">
                      <a16:colId xmlns:a16="http://schemas.microsoft.com/office/drawing/2014/main" val="20007"/>
                    </a:ext>
                  </a:extLst>
                </a:gridCol>
              </a:tblGrid>
              <a:tr h="301752">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指標</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Dream</a:t>
                      </a:r>
                      <a:endParaRPr lang="en-US" sz="850" dirty="0">
                        <a:latin typeface="Yu Gothic" charset="0"/>
                        <a:ea typeface="Yu Gothic" charset="0"/>
                        <a:cs typeface="Yu Gothic" charset="0"/>
                      </a:endParaRPr>
                    </a:p>
                    <a:p>
                      <a:pPr marL="0" indent="0" algn="ctr">
                        <a:buNone/>
                      </a:pPr>
                      <a:r>
                        <a:rPr lang="en-US" sz="850" b="1" dirty="0">
                          <a:solidFill>
                            <a:srgbClr val="FFFFFF"/>
                          </a:solidFill>
                          <a:latin typeface="Yu Gothic" pitchFamily="34" charset="0"/>
                          <a:ea typeface="Yu Gothic" pitchFamily="34" charset="-122"/>
                          <a:cs typeface="Yu Gothic" pitchFamily="34" charset="-120"/>
                        </a:rPr>
                        <a:t>週平均</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推奨度⑤</a:t>
                      </a:r>
                      <a:endParaRPr lang="en-US" sz="850" dirty="0">
                        <a:latin typeface="Yu Gothic" charset="0"/>
                        <a:ea typeface="Yu Gothic" charset="0"/>
                        <a:cs typeface="Yu Gothic" charset="0"/>
                      </a:endParaRPr>
                    </a:p>
                    <a:p>
                      <a:pPr marL="0" indent="0" algn="ctr">
                        <a:buNone/>
                      </a:pPr>
                      <a:r>
                        <a:rPr lang="en-US" sz="850" b="1" dirty="0">
                          <a:solidFill>
                            <a:srgbClr val="FFFFFF"/>
                          </a:solidFill>
                          <a:latin typeface="Yu Gothic" pitchFamily="34" charset="0"/>
                          <a:ea typeface="Yu Gothic" pitchFamily="34" charset="-122"/>
                          <a:cs typeface="Yu Gothic" pitchFamily="34" charset="-120"/>
                        </a:rPr>
                        <a:t>中央値</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推奨度⑤</a:t>
                      </a:r>
                      <a:endParaRPr lang="en-US" sz="850" dirty="0">
                        <a:latin typeface="Yu Gothic" charset="0"/>
                        <a:ea typeface="Yu Gothic" charset="0"/>
                        <a:cs typeface="Yu Gothic" charset="0"/>
                      </a:endParaRPr>
                    </a:p>
                    <a:p>
                      <a:pPr marL="0" indent="0" algn="ctr">
                        <a:buNone/>
                      </a:pPr>
                      <a:r>
                        <a:rPr lang="en-US" sz="850" b="1" dirty="0">
                          <a:solidFill>
                            <a:srgbClr val="FFFFFF"/>
                          </a:solidFill>
                          <a:latin typeface="Yu Gothic" pitchFamily="34" charset="0"/>
                          <a:ea typeface="Yu Gothic" pitchFamily="34" charset="-122"/>
                          <a:cs typeface="Yu Gothic" pitchFamily="34" charset="-120"/>
                        </a:rPr>
                        <a:t>最高</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推奨度⑤</a:t>
                      </a:r>
                      <a:endParaRPr lang="en-US" sz="850" dirty="0">
                        <a:latin typeface="Yu Gothic" charset="0"/>
                        <a:ea typeface="Yu Gothic" charset="0"/>
                        <a:cs typeface="Yu Gothic" charset="0"/>
                      </a:endParaRPr>
                    </a:p>
                    <a:p>
                      <a:pPr marL="0" indent="0" algn="ctr">
                        <a:buNone/>
                      </a:pPr>
                      <a:r>
                        <a:rPr lang="en-US" sz="850" b="1" dirty="0">
                          <a:solidFill>
                            <a:srgbClr val="FFFFFF"/>
                          </a:solidFill>
                          <a:latin typeface="Yu Gothic" pitchFamily="34" charset="0"/>
                          <a:ea typeface="Yu Gothic" pitchFamily="34" charset="-122"/>
                          <a:cs typeface="Yu Gothic" pitchFamily="34" charset="-120"/>
                        </a:rPr>
                        <a:t>最低</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順位</a:t>
                      </a:r>
                      <a:endParaRPr lang="en-US" sz="850" dirty="0">
                        <a:latin typeface="Yu Gothic" charset="0"/>
                        <a:ea typeface="Yu Gothic" charset="0"/>
                        <a:cs typeface="Yu Gothic" charset="0"/>
                      </a:endParaRPr>
                    </a:p>
                    <a:p>
                      <a:pPr marL="0" indent="0" algn="ctr">
                        <a:buNone/>
                      </a:pPr>
                      <a:r>
                        <a:rPr lang="en-US" sz="850" b="1" dirty="0">
                          <a:solidFill>
                            <a:srgbClr val="FFFFFF"/>
                          </a:solidFill>
                          <a:latin typeface="Yu Gothic" pitchFamily="34" charset="0"/>
                          <a:ea typeface="Yu Gothic" pitchFamily="34" charset="-122"/>
                          <a:cs typeface="Yu Gothic" pitchFamily="34" charset="-120"/>
                        </a:rPr>
                        <a:t>（39件中）</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全部隊比較での順位</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評価の変化</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extLst>
                  <a:ext uri="{0D108BD9-81ED-4DB2-BD59-A6C34878D82A}">
                    <a16:rowId xmlns:a16="http://schemas.microsoft.com/office/drawing/2014/main" val="10000"/>
                  </a:ext>
                </a:extLst>
              </a:tr>
              <a:tr h="301752">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PI（ポートイン）</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17.3</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16.0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35</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3</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17位</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63〜73位 / 78〜82</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CC0000"/>
                          </a:solidFill>
                          <a:latin typeface="Yu Gothic" pitchFamily="34" charset="0"/>
                          <a:ea typeface="Yu Gothic" pitchFamily="34" charset="-122"/>
                          <a:cs typeface="Yu Gothic" pitchFamily="34" charset="-120"/>
                        </a:rPr>
                        <a:t>下位 → 中位上</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1"/>
                  </a:ext>
                </a:extLst>
              </a:tr>
              <a:tr h="301752">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総販</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22.8</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19.5</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39</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4</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14位</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53〜73位 / 78〜82</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CC0000"/>
                          </a:solidFill>
                          <a:latin typeface="Yu Gothic" pitchFamily="34" charset="0"/>
                          <a:ea typeface="Yu Gothic" pitchFamily="34" charset="-122"/>
                          <a:cs typeface="Yu Gothic" pitchFamily="34" charset="-120"/>
                        </a:rPr>
                        <a:t>下位 → 上位36%</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2"/>
                  </a:ext>
                </a:extLst>
              </a:tr>
              <a:tr h="301752">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取替</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5.0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2.0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8</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3位</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3〜60位 / 78〜82</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b="1" dirty="0">
                          <a:solidFill>
                            <a:srgbClr val="CC0000"/>
                          </a:solidFill>
                          <a:latin typeface="Yu Gothic" pitchFamily="34" charset="0"/>
                          <a:ea typeface="Yu Gothic" pitchFamily="34" charset="-122"/>
                          <a:cs typeface="Yu Gothic" pitchFamily="34" charset="-120"/>
                        </a:rPr>
                        <a:t>上位8%</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extLst>
                  <a:ext uri="{0D108BD9-81ED-4DB2-BD59-A6C34878D82A}">
                    <a16:rowId xmlns:a16="http://schemas.microsoft.com/office/drawing/2014/main" val="10003"/>
                  </a:ext>
                </a:extLst>
              </a:tr>
              <a:tr h="301752">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固定商材</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6.0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3.0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13</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4位</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35〜68位 / 78〜82</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b="1" dirty="0">
                          <a:solidFill>
                            <a:srgbClr val="CC0000"/>
                          </a:solidFill>
                          <a:latin typeface="Yu Gothic" pitchFamily="34" charset="0"/>
                          <a:ea typeface="Yu Gothic" pitchFamily="34" charset="-122"/>
                          <a:cs typeface="Yu Gothic" pitchFamily="34" charset="-120"/>
                        </a:rPr>
                        <a:t>中位 → 上位10%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extLst>
                  <a:ext uri="{0D108BD9-81ED-4DB2-BD59-A6C34878D82A}">
                    <a16:rowId xmlns:a16="http://schemas.microsoft.com/office/drawing/2014/main" val="10004"/>
                  </a:ext>
                </a:extLst>
              </a:tr>
            </a:tbl>
          </a:graphicData>
        </a:graphic>
      </p:graphicFrame>
      <p:sp>
        <p:nvSpPr>
          <p:cNvPr id="24" name="Shape 21"/>
          <p:cNvSpPr/>
          <p:nvPr/>
        </p:nvSpPr>
        <p:spPr>
          <a:xfrm>
            <a:off x="411480" y="4041648"/>
            <a:ext cx="11384280" cy="566928"/>
          </a:xfrm>
          <a:prstGeom prst="rect">
            <a:avLst/>
          </a:prstGeom>
          <a:solidFill>
            <a:srgbClr val="FDF0F0"/>
          </a:solidFill>
          <a:ln w="9525">
            <a:solidFill>
              <a:srgbClr val="F4CFCF"/>
            </a:solidFill>
            <a:prstDash val="solid"/>
          </a:ln>
        </p:spPr>
        <p:txBody>
          <a:bodyPr/>
          <a:lstStyle/>
          <a:p>
            <a:endParaRPr lang="ja-JP" altLang="en-US"/>
          </a:p>
        </p:txBody>
      </p:sp>
      <p:sp>
        <p:nvSpPr>
          <p:cNvPr id="25" name="Text 22"/>
          <p:cNvSpPr/>
          <p:nvPr/>
        </p:nvSpPr>
        <p:spPr>
          <a:xfrm>
            <a:off x="621792" y="4041648"/>
            <a:ext cx="10972800" cy="566928"/>
          </a:xfrm>
          <a:prstGeom prst="rect">
            <a:avLst/>
          </a:prstGeom>
          <a:noFill/>
          <a:ln/>
        </p:spPr>
        <p:txBody>
          <a:bodyPr wrap="square" lIns="0" tIns="0" rIns="0" bIns="0" rtlCol="0" anchor="ctr"/>
          <a:lstStyle/>
          <a:p>
            <a:pPr marL="0" indent="0">
              <a:buNone/>
            </a:pPr>
            <a:r>
              <a:rPr lang="en-US" sz="1050" b="1" dirty="0">
                <a:solidFill>
                  <a:srgbClr val="1A1A1A"/>
                </a:solidFill>
                <a:latin typeface="Yu Gothic" pitchFamily="34" charset="0"/>
                <a:ea typeface="Yu Gothic" pitchFamily="34" charset="-122"/>
                <a:cs typeface="Yu Gothic" pitchFamily="34" charset="-120"/>
              </a:rPr>
              <a:t>条件を揃えると評価が反転します。全部隊比較での「下位」は、推奨度①〜④や大型会場を含む母集団による見かけの差でした。推奨度⑤内では4指標すべてで中央値を上回っています。</a:t>
            </a:r>
            <a:endParaRPr lang="en-US" sz="1050" dirty="0"/>
          </a:p>
        </p:txBody>
      </p:sp>
      <p:graphicFrame>
        <p:nvGraphicFramePr>
          <p:cNvPr id="26" name="Table 1"/>
          <p:cNvGraphicFramePr>
            <a:graphicFrameLocks noGrp="1"/>
          </p:cNvGraphicFramePr>
          <p:nvPr>
            <p:extLst>
              <p:ext uri="{D42A27DB-BD31-4B8C-83A1-F6EECF244321}">
                <p14:modId xmlns:p14="http://schemas.microsoft.com/office/powerpoint/2010/main" val="1579011935"/>
              </p:ext>
            </p:extLst>
          </p:nvPr>
        </p:nvGraphicFramePr>
        <p:xfrm>
          <a:off x="411480" y="4645152"/>
          <a:ext cx="11384280" cy="1283208"/>
        </p:xfrm>
        <a:graphic>
          <a:graphicData uri="http://schemas.openxmlformats.org/drawingml/2006/table">
            <a:tbl>
              <a:tblPr/>
              <a:tblGrid>
                <a:gridCol w="26060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105156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1051560">
                  <a:extLst>
                    <a:ext uri="{9D8B030D-6E8A-4147-A177-3AD203B41FA5}">
                      <a16:colId xmlns:a16="http://schemas.microsoft.com/office/drawing/2014/main" val="20006"/>
                    </a:ext>
                  </a:extLst>
                </a:gridCol>
                <a:gridCol w="914400">
                  <a:extLst>
                    <a:ext uri="{9D8B030D-6E8A-4147-A177-3AD203B41FA5}">
                      <a16:colId xmlns:a16="http://schemas.microsoft.com/office/drawing/2014/main" val="20007"/>
                    </a:ext>
                  </a:extLst>
                </a:gridCol>
                <a:gridCol w="1051560">
                  <a:extLst>
                    <a:ext uri="{9D8B030D-6E8A-4147-A177-3AD203B41FA5}">
                      <a16:colId xmlns:a16="http://schemas.microsoft.com/office/drawing/2014/main" val="20008"/>
                    </a:ext>
                  </a:extLst>
                </a:gridCol>
                <a:gridCol w="914400">
                  <a:extLst>
                    <a:ext uri="{9D8B030D-6E8A-4147-A177-3AD203B41FA5}">
                      <a16:colId xmlns:a16="http://schemas.microsoft.com/office/drawing/2014/main" val="20009"/>
                    </a:ext>
                  </a:extLst>
                </a:gridCol>
              </a:tblGrid>
              <a:tr h="233172">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週 ／ 店舗</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PI</a:t>
                      </a:r>
                      <a:endParaRPr lang="en-US" sz="850" dirty="0">
                        <a:latin typeface="Yu Gothic" charset="0"/>
                        <a:ea typeface="Yu Gothic" charset="0"/>
                        <a:cs typeface="Yu Gothic" charset="0"/>
                      </a:endParaRPr>
                    </a:p>
                    <a:p>
                      <a:pPr marL="0" indent="0" algn="ctr">
                        <a:buNone/>
                      </a:pPr>
                      <a:r>
                        <a:rPr lang="en-US" sz="850" b="1" dirty="0">
                          <a:solidFill>
                            <a:srgbClr val="FFFFFF"/>
                          </a:solidFill>
                          <a:latin typeface="Yu Gothic" pitchFamily="34" charset="0"/>
                          <a:ea typeface="Yu Gothic" pitchFamily="34" charset="-122"/>
                          <a:cs typeface="Yu Gothic" pitchFamily="34" charset="-120"/>
                        </a:rPr>
                        <a:t>Dream</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PI</a:t>
                      </a:r>
                      <a:endParaRPr lang="en-US" sz="850" dirty="0">
                        <a:latin typeface="Yu Gothic" charset="0"/>
                        <a:ea typeface="Yu Gothic" charset="0"/>
                        <a:cs typeface="Yu Gothic" charset="0"/>
                      </a:endParaRPr>
                    </a:p>
                    <a:p>
                      <a:pPr marL="0" indent="0" algn="ctr">
                        <a:buNone/>
                      </a:pPr>
                      <a:r>
                        <a:rPr lang="en-US" sz="850" b="1" dirty="0">
                          <a:solidFill>
                            <a:srgbClr val="FFFFFF"/>
                          </a:solidFill>
                          <a:latin typeface="Yu Gothic" pitchFamily="34" charset="0"/>
                          <a:ea typeface="Yu Gothic" pitchFamily="34" charset="-122"/>
                          <a:cs typeface="Yu Gothic" pitchFamily="34" charset="-120"/>
                        </a:rPr>
                        <a:t>⑤中央値</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総販</a:t>
                      </a:r>
                      <a:endParaRPr lang="en-US" sz="850" dirty="0">
                        <a:latin typeface="Yu Gothic" charset="0"/>
                        <a:ea typeface="Yu Gothic" charset="0"/>
                        <a:cs typeface="Yu Gothic" charset="0"/>
                      </a:endParaRPr>
                    </a:p>
                    <a:p>
                      <a:pPr marL="0" indent="0" algn="ctr">
                        <a:buNone/>
                      </a:pPr>
                      <a:r>
                        <a:rPr lang="en-US" sz="850" b="1" dirty="0">
                          <a:solidFill>
                            <a:srgbClr val="FFFFFF"/>
                          </a:solidFill>
                          <a:latin typeface="Yu Gothic" pitchFamily="34" charset="0"/>
                          <a:ea typeface="Yu Gothic" pitchFamily="34" charset="-122"/>
                          <a:cs typeface="Yu Gothic" pitchFamily="34" charset="-120"/>
                        </a:rPr>
                        <a:t>Dream</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総販</a:t>
                      </a:r>
                      <a:endParaRPr lang="en-US" sz="850" dirty="0">
                        <a:latin typeface="Yu Gothic" charset="0"/>
                        <a:ea typeface="Yu Gothic" charset="0"/>
                        <a:cs typeface="Yu Gothic" charset="0"/>
                      </a:endParaRPr>
                    </a:p>
                    <a:p>
                      <a:pPr marL="0" indent="0" algn="ctr">
                        <a:buNone/>
                      </a:pPr>
                      <a:r>
                        <a:rPr lang="en-US" sz="850" b="1" dirty="0">
                          <a:solidFill>
                            <a:srgbClr val="FFFFFF"/>
                          </a:solidFill>
                          <a:latin typeface="Yu Gothic" pitchFamily="34" charset="0"/>
                          <a:ea typeface="Yu Gothic" pitchFamily="34" charset="-122"/>
                          <a:cs typeface="Yu Gothic" pitchFamily="34" charset="-120"/>
                        </a:rPr>
                        <a:t>⑤中央値</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取替</a:t>
                      </a:r>
                      <a:endParaRPr lang="en-US" sz="850" dirty="0">
                        <a:latin typeface="Yu Gothic" charset="0"/>
                        <a:ea typeface="Yu Gothic" charset="0"/>
                        <a:cs typeface="Yu Gothic" charset="0"/>
                      </a:endParaRPr>
                    </a:p>
                    <a:p>
                      <a:pPr marL="0" indent="0" algn="ctr">
                        <a:buNone/>
                      </a:pPr>
                      <a:r>
                        <a:rPr lang="en-US" sz="850" b="1" dirty="0">
                          <a:solidFill>
                            <a:srgbClr val="FFFFFF"/>
                          </a:solidFill>
                          <a:latin typeface="Yu Gothic" pitchFamily="34" charset="0"/>
                          <a:ea typeface="Yu Gothic" pitchFamily="34" charset="-122"/>
                          <a:cs typeface="Yu Gothic" pitchFamily="34" charset="-120"/>
                        </a:rPr>
                        <a:t>Dream</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取替</a:t>
                      </a:r>
                      <a:endParaRPr lang="en-US" sz="850" dirty="0">
                        <a:latin typeface="Yu Gothic" charset="0"/>
                        <a:ea typeface="Yu Gothic" charset="0"/>
                        <a:cs typeface="Yu Gothic" charset="0"/>
                      </a:endParaRPr>
                    </a:p>
                    <a:p>
                      <a:pPr marL="0" indent="0" algn="ctr">
                        <a:buNone/>
                      </a:pPr>
                      <a:r>
                        <a:rPr lang="en-US" sz="850" b="1" dirty="0">
                          <a:solidFill>
                            <a:srgbClr val="FFFFFF"/>
                          </a:solidFill>
                          <a:latin typeface="Yu Gothic" pitchFamily="34" charset="0"/>
                          <a:ea typeface="Yu Gothic" pitchFamily="34" charset="-122"/>
                          <a:cs typeface="Yu Gothic" pitchFamily="34" charset="-120"/>
                        </a:rPr>
                        <a:t>⑤中央値</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固定</a:t>
                      </a:r>
                      <a:endParaRPr lang="en-US" sz="850" dirty="0">
                        <a:latin typeface="Yu Gothic" charset="0"/>
                        <a:ea typeface="Yu Gothic" charset="0"/>
                        <a:cs typeface="Yu Gothic" charset="0"/>
                      </a:endParaRPr>
                    </a:p>
                    <a:p>
                      <a:pPr marL="0" indent="0" algn="ctr">
                        <a:buNone/>
                      </a:pPr>
                      <a:r>
                        <a:rPr lang="en-US" sz="850" b="1" dirty="0">
                          <a:solidFill>
                            <a:srgbClr val="FFFFFF"/>
                          </a:solidFill>
                          <a:latin typeface="Yu Gothic" pitchFamily="34" charset="0"/>
                          <a:ea typeface="Yu Gothic" pitchFamily="34" charset="-122"/>
                          <a:cs typeface="Yu Gothic" pitchFamily="34" charset="-120"/>
                        </a:rPr>
                        <a:t>Dream</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固定</a:t>
                      </a:r>
                      <a:endParaRPr lang="en-US" sz="850" dirty="0">
                        <a:latin typeface="Yu Gothic" charset="0"/>
                        <a:ea typeface="Yu Gothic" charset="0"/>
                        <a:cs typeface="Yu Gothic" charset="0"/>
                      </a:endParaRPr>
                    </a:p>
                    <a:p>
                      <a:pPr marL="0" indent="0" algn="ctr">
                        <a:buNone/>
                      </a:pPr>
                      <a:r>
                        <a:rPr lang="en-US" sz="850" b="1" dirty="0">
                          <a:solidFill>
                            <a:srgbClr val="FFFFFF"/>
                          </a:solidFill>
                          <a:latin typeface="Yu Gothic" pitchFamily="34" charset="0"/>
                          <a:ea typeface="Yu Gothic" pitchFamily="34" charset="-122"/>
                          <a:cs typeface="Yu Gothic" pitchFamily="34" charset="-120"/>
                        </a:rPr>
                        <a:t>⑤中央値</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判定</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extLst>
                  <a:ext uri="{0D108BD9-81ED-4DB2-BD59-A6C34878D82A}">
                    <a16:rowId xmlns:a16="http://schemas.microsoft.com/office/drawing/2014/main" val="10000"/>
                  </a:ext>
                </a:extLst>
              </a:tr>
              <a:tr h="233172">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7月1w　平野うりわり店</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17</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14.5</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19</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16.0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1</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1.5</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7</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2.5</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CC0000"/>
                          </a:solidFill>
                          <a:latin typeface="Yu Gothic" pitchFamily="34" charset="0"/>
                          <a:ea typeface="Yu Gothic" pitchFamily="34" charset="-122"/>
                          <a:cs typeface="Yu Gothic" pitchFamily="34" charset="-120"/>
                        </a:rPr>
                        <a:t>3勝1敗</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1"/>
                  </a:ext>
                </a:extLst>
              </a:tr>
              <a:tr h="233172">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7月2w　三田ウッディータウン店</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7F7"/>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11</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7F7"/>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17.0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7F7"/>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14</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7F7"/>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20.0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7F7"/>
                    </a:solidFill>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3</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7F7"/>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2.0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7F7"/>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2</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7F7"/>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3.0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7F7"/>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1勝3敗</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7F7"/>
                    </a:solidFill>
                  </a:tcPr>
                </a:tc>
                <a:extLst>
                  <a:ext uri="{0D108BD9-81ED-4DB2-BD59-A6C34878D82A}">
                    <a16:rowId xmlns:a16="http://schemas.microsoft.com/office/drawing/2014/main" val="10002"/>
                  </a:ext>
                </a:extLst>
              </a:tr>
              <a:tr h="233172">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7月3w　宝塚店</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24</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22.0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29</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27.0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5</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4.0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9</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4.0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CC0000"/>
                          </a:solidFill>
                          <a:latin typeface="Yu Gothic" pitchFamily="34" charset="0"/>
                          <a:ea typeface="Yu Gothic" pitchFamily="34" charset="-122"/>
                          <a:cs typeface="Yu Gothic" pitchFamily="34" charset="-120"/>
                        </a:rPr>
                        <a:t>4勝0敗</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3"/>
                  </a:ext>
                </a:extLst>
              </a:tr>
              <a:tr h="233172">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7月4w　堺中央環状店</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17</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14.5</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29</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17.5</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11</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2.0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6</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4.5</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CC0000"/>
                          </a:solidFill>
                          <a:latin typeface="Yu Gothic" pitchFamily="34" charset="0"/>
                          <a:ea typeface="Yu Gothic" pitchFamily="34" charset="-122"/>
                          <a:cs typeface="Yu Gothic" pitchFamily="34" charset="-120"/>
                        </a:rPr>
                        <a:t>4勝0敗</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7" name="Text 23"/>
          <p:cNvSpPr/>
          <p:nvPr/>
        </p:nvSpPr>
        <p:spPr>
          <a:xfrm>
            <a:off x="411480" y="5961888"/>
            <a:ext cx="11384280" cy="365760"/>
          </a:xfrm>
          <a:prstGeom prst="rect">
            <a:avLst/>
          </a:prstGeom>
          <a:noFill/>
          <a:ln/>
        </p:spPr>
        <p:txBody>
          <a:bodyPr wrap="square" lIns="0" tIns="0" rIns="0" bIns="0" rtlCol="0" anchor="ctr"/>
          <a:lstStyle/>
          <a:p>
            <a:pPr marL="0" indent="0">
              <a:lnSpc>
                <a:spcPts val="1000"/>
              </a:lnSpc>
              <a:buNone/>
            </a:pPr>
            <a:r>
              <a:rPr lang="en-US" sz="750" dirty="0">
                <a:solidFill>
                  <a:srgbClr val="767676"/>
                </a:solidFill>
                <a:latin typeface="Yu Gothic" pitchFamily="34" charset="0"/>
                <a:ea typeface="Yu Gothic" pitchFamily="34" charset="-122"/>
                <a:cs typeface="Yu Gothic" pitchFamily="34" charset="-120"/>
              </a:rPr>
              <a:t>※ 集計基準：Dream値は当週のイベント店舗実績のみで、前週の事前入店実績（PI 3〜4件）は含みません。事前入店を加算した場合はPI週平均20.5件（39件中13位）、総販27.3件（同11位）となり、順位はさらに上がります。</a:t>
            </a:r>
            <a:endParaRPr lang="en-US" sz="750" dirty="0"/>
          </a:p>
          <a:p>
            <a:pPr marL="0" indent="0">
              <a:lnSpc>
                <a:spcPts val="1000"/>
              </a:lnSpc>
              <a:buNone/>
            </a:pPr>
            <a:r>
              <a:rPr lang="en-US" sz="750" dirty="0">
                <a:solidFill>
                  <a:srgbClr val="767676"/>
                </a:solidFill>
                <a:latin typeface="Yu Gothic" pitchFamily="34" charset="0"/>
                <a:ea typeface="Yu Gothic" pitchFamily="34" charset="-122"/>
                <a:cs typeface="Yu Gothic" pitchFamily="34" charset="-120"/>
              </a:rPr>
              <a:t>※ 推奨度⑤群の体制は人数中央値3名・稼働日数中央値5日で、Dreamチーム（4名／5日）とほぼ同条件です。4週中3週で中央値を上回り、下回ったのは7月2w三田のみでした。</a:t>
            </a:r>
            <a:endParaRPr lang="en-US" sz="750" dirty="0"/>
          </a:p>
        </p:txBody>
      </p:sp>
      <p:sp>
        <p:nvSpPr>
          <p:cNvPr id="28" name="Shape 24"/>
          <p:cNvSpPr/>
          <p:nvPr/>
        </p:nvSpPr>
        <p:spPr>
          <a:xfrm>
            <a:off x="411480" y="6355080"/>
            <a:ext cx="11384280" cy="0"/>
          </a:xfrm>
          <a:prstGeom prst="line">
            <a:avLst/>
          </a:prstGeom>
          <a:noFill/>
          <a:ln w="9525">
            <a:solidFill>
              <a:srgbClr val="E0E0E0"/>
            </a:solidFill>
            <a:prstDash val="solid"/>
          </a:ln>
        </p:spPr>
        <p:txBody>
          <a:bodyPr/>
          <a:lstStyle/>
          <a:p>
            <a:endParaRPr lang="ja-JP" altLang="en-US"/>
          </a:p>
        </p:txBody>
      </p:sp>
      <p:sp>
        <p:nvSpPr>
          <p:cNvPr id="29" name="Text 25"/>
          <p:cNvSpPr/>
          <p:nvPr/>
        </p:nvSpPr>
        <p:spPr>
          <a:xfrm>
            <a:off x="411480" y="6400800"/>
            <a:ext cx="8778240" cy="274320"/>
          </a:xfrm>
          <a:prstGeom prst="rect">
            <a:avLst/>
          </a:prstGeom>
          <a:noFill/>
          <a:ln/>
        </p:spPr>
        <p:txBody>
          <a:bodyPr wrap="square" lIns="0" tIns="0" rIns="0" bIns="0" rtlCol="0" anchor="ctr"/>
          <a:lstStyle/>
          <a:p>
            <a:pPr marL="0" indent="0">
              <a:buNone/>
            </a:pPr>
            <a:r>
              <a:rPr lang="en-US" sz="750" dirty="0">
                <a:solidFill>
                  <a:srgbClr val="767676"/>
                </a:solidFill>
                <a:latin typeface="Yu Gothic" pitchFamily="34" charset="0"/>
                <a:ea typeface="Yu Gothic" pitchFamily="34" charset="-122"/>
                <a:cs typeface="Yu Gothic" pitchFamily="34" charset="-120"/>
              </a:rPr>
              <a:t>18 / 19　対象：7月1w〜4wの店舗推奨度⑤イベント のべ38件。比較対象部隊の値も同様に当週のイベント店舗実績ベース。固定商材＝ドコモ光＋home5G＋dカードG。</a:t>
            </a:r>
            <a:endParaRPr lang="en-US" sz="750" dirty="0"/>
          </a:p>
        </p:txBody>
      </p:sp>
      <p:sp>
        <p:nvSpPr>
          <p:cNvPr id="30" name="Text 26"/>
          <p:cNvSpPr/>
          <p:nvPr/>
        </p:nvSpPr>
        <p:spPr>
          <a:xfrm>
            <a:off x="9235440" y="6400800"/>
            <a:ext cx="2560320" cy="274320"/>
          </a:xfrm>
          <a:prstGeom prst="rect">
            <a:avLst/>
          </a:prstGeom>
          <a:noFill/>
          <a:ln/>
        </p:spPr>
        <p:txBody>
          <a:bodyPr wrap="square" lIns="0" tIns="0" rIns="0" bIns="0" rtlCol="0" anchor="ctr"/>
          <a:lstStyle/>
          <a:p>
            <a:pPr marL="0" indent="0" algn="r">
              <a:buNone/>
            </a:pPr>
            <a:r>
              <a:rPr lang="en-US" sz="750" dirty="0">
                <a:solidFill>
                  <a:srgbClr val="767676"/>
                </a:solidFill>
                <a:latin typeface="Yu Gothic" pitchFamily="34" charset="0"/>
                <a:ea typeface="Yu Gothic" pitchFamily="34" charset="-122"/>
                <a:cs typeface="Yu Gothic" pitchFamily="34" charset="-120"/>
              </a:rPr>
              <a:t>DREAM TEAM · JULY 2026</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11480" y="292608"/>
            <a:ext cx="384048" cy="256032"/>
          </a:xfrm>
          <a:prstGeom prst="rect">
            <a:avLst/>
          </a:prstGeom>
          <a:solidFill>
            <a:srgbClr val="CC0000"/>
          </a:solidFill>
          <a:ln/>
        </p:spPr>
        <p:txBody>
          <a:bodyPr/>
          <a:lstStyle/>
          <a:p>
            <a:endParaRPr lang="ja-JP" altLang="en-US"/>
          </a:p>
        </p:txBody>
      </p:sp>
      <p:sp>
        <p:nvSpPr>
          <p:cNvPr id="3" name="Text 1"/>
          <p:cNvSpPr/>
          <p:nvPr/>
        </p:nvSpPr>
        <p:spPr>
          <a:xfrm>
            <a:off x="411480" y="292608"/>
            <a:ext cx="384048"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Yu Gothic" pitchFamily="34" charset="0"/>
                <a:ea typeface="Yu Gothic" pitchFamily="34" charset="-122"/>
                <a:cs typeface="Yu Gothic" pitchFamily="34" charset="-120"/>
              </a:rPr>
              <a:t>19</a:t>
            </a:r>
            <a:endParaRPr lang="en-US" sz="1200" dirty="0"/>
          </a:p>
        </p:txBody>
      </p:sp>
      <p:sp>
        <p:nvSpPr>
          <p:cNvPr id="4" name="Text 2"/>
          <p:cNvSpPr/>
          <p:nvPr/>
        </p:nvSpPr>
        <p:spPr>
          <a:xfrm>
            <a:off x="896112" y="274320"/>
            <a:ext cx="10881360" cy="292608"/>
          </a:xfrm>
          <a:prstGeom prst="rect">
            <a:avLst/>
          </a:prstGeom>
          <a:noFill/>
          <a:ln/>
        </p:spPr>
        <p:txBody>
          <a:bodyPr wrap="square" lIns="0" tIns="0" rIns="0" bIns="0" rtlCol="0" anchor="ctr"/>
          <a:lstStyle/>
          <a:p>
            <a:pPr marL="0" indent="0">
              <a:buNone/>
            </a:pPr>
            <a:r>
              <a:rPr lang="en-US" sz="1700" b="1" dirty="0">
                <a:solidFill>
                  <a:srgbClr val="1A1A1A"/>
                </a:solidFill>
                <a:latin typeface="Yu Gothic" pitchFamily="34" charset="0"/>
                <a:ea typeface="Yu Gothic" pitchFamily="34" charset="-122"/>
                <a:cs typeface="Yu Gothic" pitchFamily="34" charset="-120"/>
              </a:rPr>
              <a:t>論点2 追加検証｜推奨度⑤ における目標水準の比較</a:t>
            </a:r>
            <a:endParaRPr lang="en-US" sz="1700" dirty="0"/>
          </a:p>
        </p:txBody>
      </p:sp>
      <p:sp>
        <p:nvSpPr>
          <p:cNvPr id="5" name="Text 3"/>
          <p:cNvSpPr/>
          <p:nvPr/>
        </p:nvSpPr>
        <p:spPr>
          <a:xfrm>
            <a:off x="429768" y="621792"/>
            <a:ext cx="11338560" cy="384048"/>
          </a:xfrm>
          <a:prstGeom prst="rect">
            <a:avLst/>
          </a:prstGeom>
          <a:noFill/>
          <a:ln/>
        </p:spPr>
        <p:txBody>
          <a:bodyPr wrap="square" lIns="0" tIns="0" rIns="0" bIns="0" rtlCol="0" anchor="ctr"/>
          <a:lstStyle/>
          <a:p>
            <a:pPr marL="0" indent="0">
              <a:lnSpc>
                <a:spcPts val="1400"/>
              </a:lnSpc>
              <a:buNone/>
            </a:pPr>
            <a:r>
              <a:rPr lang="en-US" sz="950" dirty="0">
                <a:solidFill>
                  <a:srgbClr val="767676"/>
                </a:solidFill>
                <a:latin typeface="Yu Gothic" pitchFamily="34" charset="0"/>
                <a:ea typeface="Yu Gothic" pitchFamily="34" charset="-122"/>
                <a:cs typeface="Yu Gothic" pitchFamily="34" charset="-120"/>
              </a:rPr>
              <a:t>実績で中央値を上回りながら達成率では未達となった要因を確認するため、推奨度⑤の各部隊に設定されている目標水準と比較しました。</a:t>
            </a:r>
            <a:endParaRPr lang="en-US" sz="950" dirty="0"/>
          </a:p>
        </p:txBody>
      </p:sp>
      <p:sp>
        <p:nvSpPr>
          <p:cNvPr id="6" name="Shape 4"/>
          <p:cNvSpPr/>
          <p:nvPr/>
        </p:nvSpPr>
        <p:spPr>
          <a:xfrm>
            <a:off x="411480" y="1060704"/>
            <a:ext cx="11384280" cy="0"/>
          </a:xfrm>
          <a:prstGeom prst="line">
            <a:avLst/>
          </a:prstGeom>
          <a:noFill/>
          <a:ln w="9525">
            <a:solidFill>
              <a:srgbClr val="E0E0E0"/>
            </a:solidFill>
            <a:prstDash val="solid"/>
          </a:ln>
        </p:spPr>
        <p:txBody>
          <a:bodyPr/>
          <a:lstStyle/>
          <a:p>
            <a:endParaRPr lang="ja-JP" altLang="en-US"/>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11480" y="1243584"/>
          <a:ext cx="11384280" cy="1392936"/>
        </p:xfrm>
        <a:graphic>
          <a:graphicData uri="http://schemas.openxmlformats.org/drawingml/2006/table">
            <a:tbl>
              <a:tblPr/>
              <a:tblGrid>
                <a:gridCol w="173736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23444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gridCol w="3429000">
                  <a:extLst>
                    <a:ext uri="{9D8B030D-6E8A-4147-A177-3AD203B41FA5}">
                      <a16:colId xmlns:a16="http://schemas.microsoft.com/office/drawing/2014/main" val="20006"/>
                    </a:ext>
                  </a:extLst>
                </a:gridCol>
              </a:tblGrid>
              <a:tr h="347472">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指標</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Dream</a:t>
                      </a:r>
                      <a:endParaRPr lang="en-US" sz="850" dirty="0">
                        <a:latin typeface="Yu Gothic" charset="0"/>
                        <a:ea typeface="Yu Gothic" charset="0"/>
                        <a:cs typeface="Yu Gothic" charset="0"/>
                      </a:endParaRPr>
                    </a:p>
                    <a:p>
                      <a:pPr marL="0" indent="0" algn="ctr">
                        <a:buNone/>
                      </a:pPr>
                      <a:r>
                        <a:rPr lang="en-US" sz="850" b="1" dirty="0">
                          <a:solidFill>
                            <a:srgbClr val="FFFFFF"/>
                          </a:solidFill>
                          <a:latin typeface="Yu Gothic" pitchFamily="34" charset="0"/>
                          <a:ea typeface="Yu Gothic" pitchFamily="34" charset="-122"/>
                          <a:cs typeface="Yu Gothic" pitchFamily="34" charset="-120"/>
                        </a:rPr>
                        <a:t>週次目標</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推奨度⑤</a:t>
                      </a:r>
                      <a:endParaRPr lang="en-US" sz="850" dirty="0">
                        <a:latin typeface="Yu Gothic" charset="0"/>
                        <a:ea typeface="Yu Gothic" charset="0"/>
                        <a:cs typeface="Yu Gothic" charset="0"/>
                      </a:endParaRPr>
                    </a:p>
                    <a:p>
                      <a:pPr marL="0" indent="0" algn="ctr">
                        <a:buNone/>
                      </a:pPr>
                      <a:r>
                        <a:rPr lang="en-US" sz="850" b="1" dirty="0">
                          <a:solidFill>
                            <a:srgbClr val="FFFFFF"/>
                          </a:solidFill>
                          <a:latin typeface="Yu Gothic" pitchFamily="34" charset="0"/>
                          <a:ea typeface="Yu Gothic" pitchFamily="34" charset="-122"/>
                          <a:cs typeface="Yu Gothic" pitchFamily="34" charset="-120"/>
                        </a:rPr>
                        <a:t>目標中央値</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倍率</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Dream</a:t>
                      </a:r>
                      <a:endParaRPr lang="en-US" sz="850" dirty="0">
                        <a:latin typeface="Yu Gothic" charset="0"/>
                        <a:ea typeface="Yu Gothic" charset="0"/>
                        <a:cs typeface="Yu Gothic" charset="0"/>
                      </a:endParaRPr>
                    </a:p>
                    <a:p>
                      <a:pPr marL="0" indent="0" algn="ctr">
                        <a:buNone/>
                      </a:pPr>
                      <a:r>
                        <a:rPr lang="en-US" sz="850" b="1" dirty="0">
                          <a:solidFill>
                            <a:srgbClr val="FFFFFF"/>
                          </a:solidFill>
                          <a:latin typeface="Yu Gothic" pitchFamily="34" charset="0"/>
                          <a:ea typeface="Yu Gothic" pitchFamily="34" charset="-122"/>
                          <a:cs typeface="Yu Gothic" pitchFamily="34" charset="-120"/>
                        </a:rPr>
                        <a:t>週平均実績</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推奨度⑤</a:t>
                      </a:r>
                      <a:endParaRPr lang="en-US" sz="850" dirty="0">
                        <a:latin typeface="Yu Gothic" charset="0"/>
                        <a:ea typeface="Yu Gothic" charset="0"/>
                        <a:cs typeface="Yu Gothic" charset="0"/>
                      </a:endParaRPr>
                    </a:p>
                    <a:p>
                      <a:pPr marL="0" indent="0" algn="ctr">
                        <a:buNone/>
                      </a:pPr>
                      <a:r>
                        <a:rPr lang="en-US" sz="850" b="1" dirty="0">
                          <a:solidFill>
                            <a:srgbClr val="FFFFFF"/>
                          </a:solidFill>
                          <a:latin typeface="Yu Gothic" pitchFamily="34" charset="0"/>
                          <a:ea typeface="Yu Gothic" pitchFamily="34" charset="-122"/>
                          <a:cs typeface="Yu Gothic" pitchFamily="34" charset="-120"/>
                        </a:rPr>
                        <a:t>実績中央値</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tc>
                  <a:txBody>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所見</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A4A4A"/>
                    </a:solidFill>
                  </a:tcPr>
                </a:tc>
                <a:extLst>
                  <a:ext uri="{0D108BD9-81ED-4DB2-BD59-A6C34878D82A}">
                    <a16:rowId xmlns:a16="http://schemas.microsoft.com/office/drawing/2014/main" val="10000"/>
                  </a:ext>
                </a:extLst>
              </a:tr>
              <a:tr h="347472">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PI（ポートイン）</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20〜22</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17.5</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CC0000"/>
                          </a:solidFill>
                          <a:latin typeface="Yu Gothic" pitchFamily="34" charset="0"/>
                          <a:ea typeface="Yu Gothic" pitchFamily="34" charset="-122"/>
                          <a:cs typeface="Yu Gothic" pitchFamily="34" charset="-120"/>
                        </a:rPr>
                        <a:t>約1.2倍</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17.3</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16.0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実績は中央値超。目標が高いため達成率は未達になる</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取替</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4〜5</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3.0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b="1" dirty="0">
                          <a:solidFill>
                            <a:srgbClr val="CC0000"/>
                          </a:solidFill>
                          <a:latin typeface="Yu Gothic" pitchFamily="34" charset="0"/>
                          <a:ea typeface="Yu Gothic" pitchFamily="34" charset="-122"/>
                          <a:cs typeface="Yu Gothic" pitchFamily="34" charset="-120"/>
                        </a:rPr>
                        <a:t>約1.5倍</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5.0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2.0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高い目標に対しても実績で上回っている</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DF0F0"/>
                    </a:solidFill>
                  </a:tcPr>
                </a:tc>
                <a:extLst>
                  <a:ext uri="{0D108BD9-81ED-4DB2-BD59-A6C34878D82A}">
                    <a16:rowId xmlns:a16="http://schemas.microsoft.com/office/drawing/2014/main" val="10002"/>
                  </a:ext>
                </a:extLst>
              </a:tr>
              <a:tr h="347472">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イエナカ</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1A1A1A"/>
                          </a:solidFill>
                          <a:latin typeface="Yu Gothic" pitchFamily="34" charset="0"/>
                          <a:ea typeface="Yu Gothic" pitchFamily="34" charset="-122"/>
                          <a:cs typeface="Yu Gothic" pitchFamily="34" charset="-120"/>
                        </a:rPr>
                        <a:t>8〜9</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3.0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b="1" dirty="0">
                          <a:solidFill>
                            <a:srgbClr val="CC0000"/>
                          </a:solidFill>
                          <a:latin typeface="Yu Gothic" pitchFamily="34" charset="0"/>
                          <a:ea typeface="Yu Gothic" pitchFamily="34" charset="-122"/>
                          <a:cs typeface="Yu Gothic" pitchFamily="34" charset="-120"/>
                        </a:rPr>
                        <a:t>約2.8倍</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5.5</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ctr">
                        <a:buNone/>
                      </a:pPr>
                      <a:r>
                        <a:rPr lang="en-US" sz="850" dirty="0">
                          <a:solidFill>
                            <a:srgbClr val="1A1A1A"/>
                          </a:solidFill>
                          <a:latin typeface="Yu Gothic" pitchFamily="34" charset="0"/>
                          <a:ea typeface="Yu Gothic" pitchFamily="34" charset="-122"/>
                          <a:cs typeface="Yu Gothic" pitchFamily="34" charset="-120"/>
                        </a:rPr>
                        <a:t>3.0</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lgn="l">
                        <a:buNone/>
                      </a:pPr>
                      <a:r>
                        <a:rPr lang="en-US" sz="850" dirty="0">
                          <a:solidFill>
                            <a:srgbClr val="1A1A1A"/>
                          </a:solidFill>
                          <a:latin typeface="Yu Gothic" pitchFamily="34" charset="0"/>
                          <a:ea typeface="Yu Gothic" pitchFamily="34" charset="-122"/>
                          <a:cs typeface="Yu Gothic" pitchFamily="34" charset="-120"/>
                        </a:rPr>
                        <a:t>実績は中央値の1.8倍だが、目標比では未達</a:t>
                      </a:r>
                      <a:endParaRPr lang="en-US" sz="850" dirty="0">
                        <a:latin typeface="Yu Gothic" charset="0"/>
                        <a:ea typeface="Yu Gothic" charset="0"/>
                        <a:cs typeface="Yu Gothic"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8" name="Shape 5"/>
          <p:cNvSpPr/>
          <p:nvPr/>
        </p:nvSpPr>
        <p:spPr>
          <a:xfrm>
            <a:off x="411480" y="2761488"/>
            <a:ext cx="11384280" cy="566928"/>
          </a:xfrm>
          <a:prstGeom prst="rect">
            <a:avLst/>
          </a:prstGeom>
          <a:solidFill>
            <a:srgbClr val="FDF0F0"/>
          </a:solidFill>
          <a:ln w="9525">
            <a:solidFill>
              <a:srgbClr val="F4CFCF"/>
            </a:solidFill>
            <a:prstDash val="solid"/>
          </a:ln>
        </p:spPr>
        <p:txBody>
          <a:bodyPr/>
          <a:lstStyle/>
          <a:p>
            <a:endParaRPr lang="ja-JP" altLang="en-US"/>
          </a:p>
        </p:txBody>
      </p:sp>
      <p:sp>
        <p:nvSpPr>
          <p:cNvPr id="9" name="Text 6"/>
          <p:cNvSpPr/>
          <p:nvPr/>
        </p:nvSpPr>
        <p:spPr>
          <a:xfrm>
            <a:off x="621792" y="2761488"/>
            <a:ext cx="10972800" cy="566928"/>
          </a:xfrm>
          <a:prstGeom prst="rect">
            <a:avLst/>
          </a:prstGeom>
          <a:noFill/>
          <a:ln/>
        </p:spPr>
        <p:txBody>
          <a:bodyPr wrap="square" lIns="0" tIns="0" rIns="0" bIns="0" rtlCol="0" anchor="ctr"/>
          <a:lstStyle/>
          <a:p>
            <a:pPr marL="0" indent="0">
              <a:buNone/>
            </a:pPr>
            <a:r>
              <a:rPr lang="en-US" sz="1050" b="1" dirty="0">
                <a:solidFill>
                  <a:srgbClr val="1A1A1A"/>
                </a:solidFill>
                <a:latin typeface="Yu Gothic" pitchFamily="34" charset="0"/>
                <a:ea typeface="Yu Gothic" pitchFamily="34" charset="-122"/>
                <a:cs typeface="Yu Gothic" pitchFamily="34" charset="-120"/>
              </a:rPr>
              <a:t>同じ推奨度⑤の店舗でも、弊社に設定されている目標はPIで約1.2倍、イエナカで約2.8倍の水準です。実績で中央値を上回りながら達成率が未達となる構造は、ここに起因しています。</a:t>
            </a:r>
            <a:endParaRPr lang="en-US" sz="1050" dirty="0"/>
          </a:p>
        </p:txBody>
      </p:sp>
      <p:sp>
        <p:nvSpPr>
          <p:cNvPr id="7" name="Shape 7"/>
          <p:cNvSpPr/>
          <p:nvPr/>
        </p:nvSpPr>
        <p:spPr>
          <a:xfrm>
            <a:off x="411480" y="3675888"/>
            <a:ext cx="3657600" cy="1371600"/>
          </a:xfrm>
          <a:prstGeom prst="rect">
            <a:avLst/>
          </a:prstGeom>
          <a:solidFill>
            <a:srgbClr val="FFFFFF"/>
          </a:solidFill>
          <a:ln w="9525">
            <a:solidFill>
              <a:srgbClr val="E0E0E0"/>
            </a:solidFill>
            <a:prstDash val="solid"/>
          </a:ln>
        </p:spPr>
        <p:txBody>
          <a:bodyPr/>
          <a:lstStyle/>
          <a:p>
            <a:endParaRPr lang="ja-JP" altLang="en-US"/>
          </a:p>
        </p:txBody>
      </p:sp>
      <p:sp>
        <p:nvSpPr>
          <p:cNvPr id="11" name="Shape 8"/>
          <p:cNvSpPr/>
          <p:nvPr/>
        </p:nvSpPr>
        <p:spPr>
          <a:xfrm>
            <a:off x="411480" y="3675888"/>
            <a:ext cx="41148" cy="1371600"/>
          </a:xfrm>
          <a:prstGeom prst="rect">
            <a:avLst/>
          </a:prstGeom>
          <a:solidFill>
            <a:srgbClr val="767676"/>
          </a:solidFill>
          <a:ln/>
        </p:spPr>
        <p:txBody>
          <a:bodyPr/>
          <a:lstStyle/>
          <a:p>
            <a:endParaRPr lang="ja-JP" altLang="en-US"/>
          </a:p>
        </p:txBody>
      </p:sp>
      <p:sp>
        <p:nvSpPr>
          <p:cNvPr id="12" name="Text 9"/>
          <p:cNvSpPr/>
          <p:nvPr/>
        </p:nvSpPr>
        <p:spPr>
          <a:xfrm>
            <a:off x="576072" y="3767328"/>
            <a:ext cx="3346704" cy="237744"/>
          </a:xfrm>
          <a:prstGeom prst="rect">
            <a:avLst/>
          </a:prstGeom>
          <a:noFill/>
          <a:ln/>
        </p:spPr>
        <p:txBody>
          <a:bodyPr wrap="square" lIns="0" tIns="0" rIns="0" bIns="0" rtlCol="0" anchor="ctr"/>
          <a:lstStyle/>
          <a:p>
            <a:pPr marL="0" indent="0">
              <a:buNone/>
            </a:pPr>
            <a:r>
              <a:rPr lang="en-US" sz="1000" b="1" dirty="0">
                <a:solidFill>
                  <a:srgbClr val="1A1A1A"/>
                </a:solidFill>
                <a:latin typeface="Yu Gothic" pitchFamily="34" charset="0"/>
                <a:ea typeface="Yu Gothic" pitchFamily="34" charset="-122"/>
                <a:cs typeface="Yu Gothic" pitchFamily="34" charset="-120"/>
              </a:rPr>
              <a:t>この事実の位置づけ</a:t>
            </a:r>
            <a:endParaRPr lang="en-US" sz="1000" dirty="0"/>
          </a:p>
        </p:txBody>
      </p:sp>
      <p:sp>
        <p:nvSpPr>
          <p:cNvPr id="13" name="Text 10"/>
          <p:cNvSpPr/>
          <p:nvPr/>
        </p:nvSpPr>
        <p:spPr>
          <a:xfrm>
            <a:off x="576072" y="4023360"/>
            <a:ext cx="3346704" cy="914400"/>
          </a:xfrm>
          <a:prstGeom prst="rect">
            <a:avLst/>
          </a:prstGeom>
          <a:noFill/>
          <a:ln/>
        </p:spPr>
        <p:txBody>
          <a:bodyPr wrap="square" lIns="0" tIns="0" rIns="0" bIns="0" rtlCol="0" anchor="t"/>
          <a:lstStyle/>
          <a:p>
            <a:pPr marL="0" indent="0">
              <a:lnSpc>
                <a:spcPts val="1300"/>
              </a:lnSpc>
              <a:buNone/>
            </a:pPr>
            <a:r>
              <a:rPr lang="en-US" sz="850" dirty="0">
                <a:solidFill>
                  <a:srgbClr val="3A3A3A"/>
                </a:solidFill>
                <a:latin typeface="Yu Gothic" pitchFamily="34" charset="0"/>
                <a:ea typeface="Yu Gothic" pitchFamily="34" charset="-122"/>
                <a:cs typeface="Yu Gothic" pitchFamily="34" charset="-120"/>
              </a:rPr>
              <a:t>目標が高いこと自体は、期待をいただいている証と受け止めています。</a:t>
            </a:r>
            <a:endParaRPr lang="en-US" sz="850" dirty="0"/>
          </a:p>
          <a:p>
            <a:pPr marL="0" indent="0">
              <a:lnSpc>
                <a:spcPts val="1300"/>
              </a:lnSpc>
              <a:buNone/>
            </a:pPr>
            <a:r>
              <a:rPr lang="en-US" sz="850" dirty="0">
                <a:solidFill>
                  <a:srgbClr val="3A3A3A"/>
                </a:solidFill>
                <a:latin typeface="Yu Gothic" pitchFamily="34" charset="0"/>
                <a:ea typeface="Yu Gothic" pitchFamily="34" charset="-122"/>
                <a:cs typeface="Yu Gothic" pitchFamily="34" charset="-120"/>
              </a:rPr>
              <a:t>未達の言い訳とするものではなく、来期の目標設定にあたっての事実共有としてご覧ください。</a:t>
            </a:r>
            <a:endParaRPr lang="en-US" sz="850" dirty="0"/>
          </a:p>
        </p:txBody>
      </p:sp>
      <p:sp>
        <p:nvSpPr>
          <p:cNvPr id="14" name="Shape 11"/>
          <p:cNvSpPr/>
          <p:nvPr/>
        </p:nvSpPr>
        <p:spPr>
          <a:xfrm>
            <a:off x="4233672" y="3675888"/>
            <a:ext cx="3657600" cy="1371600"/>
          </a:xfrm>
          <a:prstGeom prst="rect">
            <a:avLst/>
          </a:prstGeom>
          <a:solidFill>
            <a:srgbClr val="FFFFFF"/>
          </a:solidFill>
          <a:ln w="9525">
            <a:solidFill>
              <a:srgbClr val="E0E0E0"/>
            </a:solidFill>
            <a:prstDash val="solid"/>
          </a:ln>
        </p:spPr>
        <p:txBody>
          <a:bodyPr/>
          <a:lstStyle/>
          <a:p>
            <a:endParaRPr lang="ja-JP" altLang="en-US"/>
          </a:p>
        </p:txBody>
      </p:sp>
      <p:sp>
        <p:nvSpPr>
          <p:cNvPr id="15" name="Shape 12"/>
          <p:cNvSpPr/>
          <p:nvPr/>
        </p:nvSpPr>
        <p:spPr>
          <a:xfrm>
            <a:off x="4233672" y="3675888"/>
            <a:ext cx="41148" cy="1371600"/>
          </a:xfrm>
          <a:prstGeom prst="rect">
            <a:avLst/>
          </a:prstGeom>
          <a:solidFill>
            <a:srgbClr val="CC0000"/>
          </a:solidFill>
          <a:ln/>
        </p:spPr>
        <p:txBody>
          <a:bodyPr/>
          <a:lstStyle/>
          <a:p>
            <a:endParaRPr lang="ja-JP" altLang="en-US"/>
          </a:p>
        </p:txBody>
      </p:sp>
      <p:sp>
        <p:nvSpPr>
          <p:cNvPr id="16" name="Text 13"/>
          <p:cNvSpPr/>
          <p:nvPr/>
        </p:nvSpPr>
        <p:spPr>
          <a:xfrm>
            <a:off x="4398264" y="3767328"/>
            <a:ext cx="3346704" cy="237744"/>
          </a:xfrm>
          <a:prstGeom prst="rect">
            <a:avLst/>
          </a:prstGeom>
          <a:noFill/>
          <a:ln/>
        </p:spPr>
        <p:txBody>
          <a:bodyPr wrap="square" lIns="0" tIns="0" rIns="0" bIns="0" rtlCol="0" anchor="ctr"/>
          <a:lstStyle/>
          <a:p>
            <a:pPr marL="0" indent="0">
              <a:buNone/>
            </a:pPr>
            <a:r>
              <a:rPr lang="en-US" sz="1000" b="1" dirty="0">
                <a:solidFill>
                  <a:srgbClr val="1A1A1A"/>
                </a:solidFill>
                <a:latin typeface="Yu Gothic" pitchFamily="34" charset="0"/>
                <a:ea typeface="Yu Gothic" pitchFamily="34" charset="-122"/>
                <a:cs typeface="Yu Gothic" pitchFamily="34" charset="-120"/>
              </a:rPr>
              <a:t>達成率で評価される場合の影響</a:t>
            </a:r>
            <a:endParaRPr lang="en-US" sz="1000" dirty="0"/>
          </a:p>
        </p:txBody>
      </p:sp>
      <p:sp>
        <p:nvSpPr>
          <p:cNvPr id="17" name="Text 14"/>
          <p:cNvSpPr/>
          <p:nvPr/>
        </p:nvSpPr>
        <p:spPr>
          <a:xfrm>
            <a:off x="4398264" y="4023360"/>
            <a:ext cx="3346704" cy="914400"/>
          </a:xfrm>
          <a:prstGeom prst="rect">
            <a:avLst/>
          </a:prstGeom>
          <a:noFill/>
          <a:ln/>
        </p:spPr>
        <p:txBody>
          <a:bodyPr wrap="square" lIns="0" tIns="0" rIns="0" bIns="0" rtlCol="0" anchor="t"/>
          <a:lstStyle/>
          <a:p>
            <a:pPr marL="0" indent="0">
              <a:lnSpc>
                <a:spcPts val="1300"/>
              </a:lnSpc>
              <a:buNone/>
            </a:pPr>
            <a:r>
              <a:rPr lang="en-US" sz="850" dirty="0">
                <a:solidFill>
                  <a:srgbClr val="3A3A3A"/>
                </a:solidFill>
                <a:latin typeface="Yu Gothic" pitchFamily="34" charset="0"/>
                <a:ea typeface="Yu Gothic" pitchFamily="34" charset="-122"/>
                <a:cs typeface="Yu Gothic" pitchFamily="34" charset="-120"/>
              </a:rPr>
              <a:t>推奨度⑤群の週次PI達成率は中央値105.6%、37件中21件が100%超。</a:t>
            </a:r>
            <a:endParaRPr lang="en-US" sz="850" dirty="0"/>
          </a:p>
          <a:p>
            <a:pPr marL="0" indent="0">
              <a:lnSpc>
                <a:spcPts val="1300"/>
              </a:lnSpc>
              <a:buNone/>
            </a:pPr>
            <a:r>
              <a:rPr lang="en-US" sz="850" dirty="0">
                <a:solidFill>
                  <a:srgbClr val="3A3A3A"/>
                </a:solidFill>
                <a:latin typeface="Yu Gothic" pitchFamily="34" charset="0"/>
                <a:ea typeface="Yu Gothic" pitchFamily="34" charset="-122"/>
                <a:cs typeface="Yu Gothic" pitchFamily="34" charset="-120"/>
              </a:rPr>
              <a:t>同じ実績量でも、目標水準の差がそのまま達成率の差として表れます。</a:t>
            </a:r>
            <a:endParaRPr lang="en-US" sz="850" dirty="0"/>
          </a:p>
        </p:txBody>
      </p:sp>
      <p:sp>
        <p:nvSpPr>
          <p:cNvPr id="18" name="Shape 15"/>
          <p:cNvSpPr/>
          <p:nvPr/>
        </p:nvSpPr>
        <p:spPr>
          <a:xfrm>
            <a:off x="8055864" y="3675888"/>
            <a:ext cx="3739896" cy="1371600"/>
          </a:xfrm>
          <a:prstGeom prst="rect">
            <a:avLst/>
          </a:prstGeom>
          <a:solidFill>
            <a:srgbClr val="FFFFFF"/>
          </a:solidFill>
          <a:ln w="9525">
            <a:solidFill>
              <a:srgbClr val="E0E0E0"/>
            </a:solidFill>
            <a:prstDash val="solid"/>
          </a:ln>
        </p:spPr>
        <p:txBody>
          <a:bodyPr/>
          <a:lstStyle/>
          <a:p>
            <a:endParaRPr lang="ja-JP" altLang="en-US"/>
          </a:p>
        </p:txBody>
      </p:sp>
      <p:sp>
        <p:nvSpPr>
          <p:cNvPr id="19" name="Shape 16"/>
          <p:cNvSpPr/>
          <p:nvPr/>
        </p:nvSpPr>
        <p:spPr>
          <a:xfrm>
            <a:off x="8055864" y="3675888"/>
            <a:ext cx="41148" cy="1371600"/>
          </a:xfrm>
          <a:prstGeom prst="rect">
            <a:avLst/>
          </a:prstGeom>
          <a:solidFill>
            <a:srgbClr val="CC0000"/>
          </a:solidFill>
          <a:ln/>
        </p:spPr>
        <p:txBody>
          <a:bodyPr/>
          <a:lstStyle/>
          <a:p>
            <a:endParaRPr lang="ja-JP" altLang="en-US"/>
          </a:p>
        </p:txBody>
      </p:sp>
      <p:sp>
        <p:nvSpPr>
          <p:cNvPr id="20" name="Text 17"/>
          <p:cNvSpPr/>
          <p:nvPr/>
        </p:nvSpPr>
        <p:spPr>
          <a:xfrm>
            <a:off x="8220456" y="3767328"/>
            <a:ext cx="3429000" cy="237744"/>
          </a:xfrm>
          <a:prstGeom prst="rect">
            <a:avLst/>
          </a:prstGeom>
          <a:noFill/>
          <a:ln/>
        </p:spPr>
        <p:txBody>
          <a:bodyPr wrap="square" lIns="0" tIns="0" rIns="0" bIns="0" rtlCol="0" anchor="ctr"/>
          <a:lstStyle/>
          <a:p>
            <a:pPr marL="0" indent="0">
              <a:buNone/>
            </a:pPr>
            <a:r>
              <a:rPr lang="en-US" sz="1000" b="1" dirty="0">
                <a:solidFill>
                  <a:srgbClr val="1A1A1A"/>
                </a:solidFill>
                <a:latin typeface="Yu Gothic" pitchFamily="34" charset="0"/>
                <a:ea typeface="Yu Gothic" pitchFamily="34" charset="-122"/>
                <a:cs typeface="Yu Gothic" pitchFamily="34" charset="-120"/>
              </a:rPr>
              <a:t>弊社としての姿勢</a:t>
            </a:r>
            <a:endParaRPr lang="en-US" sz="1000" dirty="0"/>
          </a:p>
        </p:txBody>
      </p:sp>
      <p:sp>
        <p:nvSpPr>
          <p:cNvPr id="21" name="Text 18"/>
          <p:cNvSpPr/>
          <p:nvPr/>
        </p:nvSpPr>
        <p:spPr>
          <a:xfrm>
            <a:off x="8220456" y="4023360"/>
            <a:ext cx="3429000" cy="914400"/>
          </a:xfrm>
          <a:prstGeom prst="rect">
            <a:avLst/>
          </a:prstGeom>
          <a:noFill/>
          <a:ln/>
        </p:spPr>
        <p:txBody>
          <a:bodyPr wrap="square" lIns="0" tIns="0" rIns="0" bIns="0" rtlCol="0" anchor="t"/>
          <a:lstStyle/>
          <a:p>
            <a:pPr marL="0" indent="0">
              <a:lnSpc>
                <a:spcPts val="1300"/>
              </a:lnSpc>
              <a:buNone/>
            </a:pPr>
            <a:r>
              <a:rPr lang="en-US" sz="850" dirty="0">
                <a:solidFill>
                  <a:srgbClr val="3A3A3A"/>
                </a:solidFill>
                <a:latin typeface="Yu Gothic" pitchFamily="34" charset="0"/>
                <a:ea typeface="Yu Gothic" pitchFamily="34" charset="-122"/>
                <a:cs typeface="Yu Gothic" pitchFamily="34" charset="-120"/>
              </a:rPr>
              <a:t>目標の引き下げを求めるものではありません。</a:t>
            </a:r>
            <a:endParaRPr lang="en-US" sz="850" dirty="0"/>
          </a:p>
          <a:p>
            <a:pPr marL="0" indent="0">
              <a:lnSpc>
                <a:spcPts val="1300"/>
              </a:lnSpc>
              <a:buNone/>
            </a:pPr>
            <a:r>
              <a:rPr lang="en-US" sz="850" dirty="0">
                <a:solidFill>
                  <a:srgbClr val="3A3A3A"/>
                </a:solidFill>
                <a:latin typeface="Yu Gothic" pitchFamily="34" charset="0"/>
                <a:ea typeface="Yu Gothic" pitchFamily="34" charset="-122"/>
                <a:cs typeface="Yu Gothic" pitchFamily="34" charset="-120"/>
              </a:rPr>
              <a:t>イエナカについては、home 5Gの登録対応スタッフ数とランプ台数の拡充をご相談させてください。実績を伸ばす方向で解決したいと考えています。</a:t>
            </a:r>
            <a:endParaRPr lang="en-US" sz="850" dirty="0"/>
          </a:p>
        </p:txBody>
      </p:sp>
      <p:sp>
        <p:nvSpPr>
          <p:cNvPr id="22" name="Shape 19"/>
          <p:cNvSpPr/>
          <p:nvPr/>
        </p:nvSpPr>
        <p:spPr>
          <a:xfrm>
            <a:off x="411480" y="5175504"/>
            <a:ext cx="11384280" cy="1024128"/>
          </a:xfrm>
          <a:prstGeom prst="rect">
            <a:avLst/>
          </a:prstGeom>
          <a:solidFill>
            <a:srgbClr val="FFFFFF"/>
          </a:solidFill>
          <a:ln w="12700">
            <a:solidFill>
              <a:srgbClr val="CC0000"/>
            </a:solidFill>
            <a:prstDash val="solid"/>
          </a:ln>
        </p:spPr>
        <p:txBody>
          <a:bodyPr/>
          <a:lstStyle/>
          <a:p>
            <a:endParaRPr lang="ja-JP" altLang="en-US"/>
          </a:p>
        </p:txBody>
      </p:sp>
      <p:sp>
        <p:nvSpPr>
          <p:cNvPr id="23" name="Text 20"/>
          <p:cNvSpPr/>
          <p:nvPr/>
        </p:nvSpPr>
        <p:spPr>
          <a:xfrm>
            <a:off x="621792" y="5266944"/>
            <a:ext cx="5486400" cy="237744"/>
          </a:xfrm>
          <a:prstGeom prst="rect">
            <a:avLst/>
          </a:prstGeom>
          <a:noFill/>
          <a:ln/>
        </p:spPr>
        <p:txBody>
          <a:bodyPr wrap="square" lIns="0" tIns="0" rIns="0" bIns="0" rtlCol="0" anchor="ctr"/>
          <a:lstStyle/>
          <a:p>
            <a:pPr marL="0" indent="0">
              <a:buNone/>
            </a:pPr>
            <a:r>
              <a:rPr lang="en-US" sz="1000" b="1" dirty="0">
                <a:solidFill>
                  <a:srgbClr val="CC0000"/>
                </a:solidFill>
                <a:latin typeface="Yu Gothic" pitchFamily="34" charset="0"/>
                <a:ea typeface="Yu Gothic" pitchFamily="34" charset="-122"/>
                <a:cs typeface="Yu Gothic" pitchFamily="34" charset="-120"/>
              </a:rPr>
              <a:t>総括 ── 特販がイベントに入る価値について</a:t>
            </a:r>
            <a:endParaRPr lang="en-US" sz="1000" dirty="0"/>
          </a:p>
        </p:txBody>
      </p:sp>
      <p:sp>
        <p:nvSpPr>
          <p:cNvPr id="24" name="Text 21"/>
          <p:cNvSpPr/>
          <p:nvPr/>
        </p:nvSpPr>
        <p:spPr>
          <a:xfrm>
            <a:off x="621792" y="5504688"/>
            <a:ext cx="10954512" cy="621792"/>
          </a:xfrm>
          <a:prstGeom prst="rect">
            <a:avLst/>
          </a:prstGeom>
          <a:noFill/>
          <a:ln/>
        </p:spPr>
        <p:txBody>
          <a:bodyPr wrap="square" lIns="0" tIns="0" rIns="0" bIns="0" rtlCol="0" anchor="t"/>
          <a:lstStyle/>
          <a:p>
            <a:pPr marL="0" indent="0">
              <a:lnSpc>
                <a:spcPts val="1300"/>
              </a:lnSpc>
              <a:buNone/>
            </a:pPr>
            <a:r>
              <a:rPr lang="en-US" sz="900" dirty="0">
                <a:solidFill>
                  <a:srgbClr val="3A3A3A"/>
                </a:solidFill>
                <a:latin typeface="Yu Gothic" pitchFamily="34" charset="0"/>
                <a:ea typeface="Yu Gothic" pitchFamily="34" charset="-122"/>
                <a:cs typeface="Yu Gothic" pitchFamily="34" charset="-120"/>
              </a:rPr>
              <a:t>同一条件（店舗推奨度⑤・3〜4名体制・5日稼働）で比較すると、DreamチームはPI・総販・取替・固定商材の4指標すべてで中央値を上回っています。とりわけ取替は39件中3位、固定商材は4位であり、常駐特販だからこそ可能な顧客照会と店舗様との関係値が実績に表れています。</a:t>
            </a:r>
            <a:endParaRPr lang="en-US" sz="900" dirty="0"/>
          </a:p>
          <a:p>
            <a:pPr marL="0" indent="0">
              <a:lnSpc>
                <a:spcPts val="1300"/>
              </a:lnSpc>
              <a:buNone/>
            </a:pPr>
            <a:r>
              <a:rPr lang="en-US" sz="900" dirty="0">
                <a:solidFill>
                  <a:srgbClr val="3A3A3A"/>
                </a:solidFill>
                <a:latin typeface="Yu Gothic" pitchFamily="34" charset="0"/>
                <a:ea typeface="Yu Gothic" pitchFamily="34" charset="-122"/>
                <a:cs typeface="Yu Gothic" pitchFamily="34" charset="-120"/>
              </a:rPr>
              <a:t>一方で7月2w三田のように、事前入店でイベントを実施できなかった週は明確に落ち込みます。事前入店の標準化が、この水準を安定させる条件です。</a:t>
            </a:r>
            <a:endParaRPr lang="en-US" sz="900" dirty="0"/>
          </a:p>
        </p:txBody>
      </p:sp>
      <p:sp>
        <p:nvSpPr>
          <p:cNvPr id="25" name="Shape 22"/>
          <p:cNvSpPr/>
          <p:nvPr/>
        </p:nvSpPr>
        <p:spPr>
          <a:xfrm>
            <a:off x="411480" y="6355080"/>
            <a:ext cx="11384280" cy="0"/>
          </a:xfrm>
          <a:prstGeom prst="line">
            <a:avLst/>
          </a:prstGeom>
          <a:noFill/>
          <a:ln w="9525">
            <a:solidFill>
              <a:srgbClr val="E0E0E0"/>
            </a:solidFill>
            <a:prstDash val="solid"/>
          </a:ln>
        </p:spPr>
        <p:txBody>
          <a:bodyPr/>
          <a:lstStyle/>
          <a:p>
            <a:endParaRPr lang="ja-JP" altLang="en-US"/>
          </a:p>
        </p:txBody>
      </p:sp>
      <p:sp>
        <p:nvSpPr>
          <p:cNvPr id="26" name="Text 23"/>
          <p:cNvSpPr/>
          <p:nvPr/>
        </p:nvSpPr>
        <p:spPr>
          <a:xfrm>
            <a:off x="411480" y="6400800"/>
            <a:ext cx="8778240" cy="274320"/>
          </a:xfrm>
          <a:prstGeom prst="rect">
            <a:avLst/>
          </a:prstGeom>
          <a:noFill/>
          <a:ln/>
        </p:spPr>
        <p:txBody>
          <a:bodyPr wrap="square" lIns="0" tIns="0" rIns="0" bIns="0" rtlCol="0" anchor="ctr"/>
          <a:lstStyle/>
          <a:p>
            <a:pPr marL="0" indent="0">
              <a:buNone/>
            </a:pPr>
            <a:r>
              <a:rPr lang="en-US" sz="750" dirty="0">
                <a:solidFill>
                  <a:srgbClr val="767676"/>
                </a:solidFill>
                <a:latin typeface="Yu Gothic" pitchFamily="34" charset="0"/>
                <a:ea typeface="Yu Gothic" pitchFamily="34" charset="-122"/>
                <a:cs typeface="Yu Gothic" pitchFamily="34" charset="-120"/>
              </a:rPr>
              <a:t>19 / 19　目標中央値は推奨度⑤イベント のべ38件のうち目標設定のあるものを母集団として算出。Dream週次目標は7月1w〜3wの設定値。</a:t>
            </a:r>
            <a:endParaRPr lang="en-US" sz="750" dirty="0"/>
          </a:p>
        </p:txBody>
      </p:sp>
      <p:sp>
        <p:nvSpPr>
          <p:cNvPr id="27" name="Text 24"/>
          <p:cNvSpPr/>
          <p:nvPr/>
        </p:nvSpPr>
        <p:spPr>
          <a:xfrm>
            <a:off x="9235440" y="6400800"/>
            <a:ext cx="2560320" cy="274320"/>
          </a:xfrm>
          <a:prstGeom prst="rect">
            <a:avLst/>
          </a:prstGeom>
          <a:noFill/>
          <a:ln/>
        </p:spPr>
        <p:txBody>
          <a:bodyPr wrap="square" lIns="0" tIns="0" rIns="0" bIns="0" rtlCol="0" anchor="ctr"/>
          <a:lstStyle/>
          <a:p>
            <a:pPr marL="0" indent="0" algn="r">
              <a:buNone/>
            </a:pPr>
            <a:r>
              <a:rPr lang="en-US" sz="750" dirty="0">
                <a:solidFill>
                  <a:srgbClr val="767676"/>
                </a:solidFill>
                <a:latin typeface="Yu Gothic" pitchFamily="34" charset="0"/>
                <a:ea typeface="Yu Gothic" pitchFamily="34" charset="-122"/>
                <a:cs typeface="Yu Gothic" pitchFamily="34" charset="-120"/>
              </a:rPr>
              <a:t>DREAM TEAM · JULY 2026</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2259</TotalTime>
  <Words>2407</Words>
  <Application>Microsoft Macintosh PowerPoint</Application>
  <PresentationFormat>ワイド画面</PresentationFormat>
  <Paragraphs>661</Paragraphs>
  <Slides>9</Slides>
  <Notes>9</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9</vt:i4>
      </vt:variant>
    </vt:vector>
  </HeadingPairs>
  <TitlesOfParts>
    <vt:vector size="12" baseType="lpstr">
      <vt:lpstr>Yu Gothic</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竹村英哲</cp:lastModifiedBy>
  <cp:revision>1</cp:revision>
  <dcterms:created xsi:type="dcterms:W3CDTF">2026-08-04T17:50:21Z</dcterms:created>
  <dcterms:modified xsi:type="dcterms:W3CDTF">2026-08-06T16:24:01Z</dcterms:modified>
</cp:coreProperties>
</file>