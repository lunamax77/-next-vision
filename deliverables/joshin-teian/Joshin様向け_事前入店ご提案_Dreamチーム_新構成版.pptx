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D9001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NTTドコモ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2062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BD9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Joshin様向け／店舗イベント ご提案資料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955280" y="1371600"/>
            <a:ext cx="5120640" cy="5120640"/>
          </a:xfrm>
          <a:prstGeom prst="ellipse">
            <a:avLst/>
          </a:prstGeom>
          <a:solidFill>
            <a:srgbClr val="FDF1F2"/>
          </a:solidFill>
          <a:ln/>
        </p:spPr>
      </p:sp>
      <p:sp>
        <p:nvSpPr>
          <p:cNvPr id="6" name="Shape 4"/>
          <p:cNvSpPr/>
          <p:nvPr/>
        </p:nvSpPr>
        <p:spPr>
          <a:xfrm>
            <a:off x="9692640" y="3474720"/>
            <a:ext cx="3108960" cy="3108960"/>
          </a:xfrm>
          <a:prstGeom prst="ellipse">
            <a:avLst/>
          </a:prstGeom>
          <a:solidFill>
            <a:srgbClr val="F1F5FD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25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00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Dreamチーム 事前入店のご提案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03504" y="1783080"/>
            <a:ext cx="11155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店舗様の負担ゼロ。</a:t>
            </a:r>
            <a:pPr indent="0" marL="0">
              <a:buNone/>
            </a:pPr>
            <a:r>
              <a:rPr lang="en-US" sz="3800" b="1" dirty="0">
                <a:solidFill>
                  <a:srgbClr val="D900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売場は“もっと売れる”へ。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640080" y="32004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事前入店だからこそ社員様の手間も減らし、当日は“売れる売場”に集中。ドコモイベント週(3名体制)の売上を最大化します。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4160520"/>
            <a:ext cx="75895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31596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00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対象店舗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4645152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アウトレット姫路東店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55848" y="431596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00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体制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55848" y="4645152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事前入店 1名 ＋ 本入店 3名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843016" y="431596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00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実施曜日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843016" y="4645152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水〜日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58521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※本資料は計画案です。店舗名・日程・運用詳細は、Joshin様と協議のうえ確定いたします。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D9001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NTTドコモ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2062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BD9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Joshin様向け／店舗イベント ご提案資料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217920" y="91440"/>
            <a:ext cx="55138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事前入店の意義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932688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なぜ、事前入店するのか ─ 店舗様・社員様への2つのメリット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426464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イベント週の前に、専任1名が先行入店します。目的はただ一つ ─ 店舗様・社員様の手間を増やさずに、当日の売場成果を最大化することです。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5486400" cy="2788920"/>
          </a:xfrm>
          <a:prstGeom prst="roundRect">
            <a:avLst>
              <a:gd name="adj" fmla="val 2623"/>
            </a:avLst>
          </a:prstGeom>
          <a:solidFill>
            <a:srgbClr val="FDECEE"/>
          </a:solidFill>
          <a:ln w="12700">
            <a:solidFill>
              <a:srgbClr val="F3C9C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331720"/>
            <a:ext cx="384048" cy="384048"/>
          </a:xfrm>
          <a:prstGeom prst="ellipse">
            <a:avLst/>
          </a:prstGeom>
          <a:solidFill>
            <a:srgbClr val="D9001B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331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2304288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D900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社員様への“質問”も減らせる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960" y="3200400"/>
            <a:ext cx="47548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事前入店で店舗を熟知した我々が、売場のご案内〜基本スペックのご説明までフォロー。お客様が社員様に聞きに行く回数が減り、社員様は本業に集中。店舗の効率・接客品質が高まります。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0" y="2011680"/>
            <a:ext cx="5486400" cy="2788920"/>
          </a:xfrm>
          <a:prstGeom prst="roundRect">
            <a:avLst>
              <a:gd name="adj" fmla="val 2623"/>
            </a:avLst>
          </a:prstGeom>
          <a:solidFill>
            <a:srgbClr val="FDECEE"/>
          </a:solidFill>
          <a:ln w="12700">
            <a:solidFill>
              <a:srgbClr val="F3C9C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20840" y="2331720"/>
            <a:ext cx="384048" cy="384048"/>
          </a:xfrm>
          <a:prstGeom prst="ellipse">
            <a:avLst/>
          </a:prstGeom>
          <a:solidFill>
            <a:srgbClr val="D9001B"/>
          </a:solidFill>
          <a:ln/>
        </p:spPr>
      </p:sp>
      <p:sp>
        <p:nvSpPr>
          <p:cNvPr id="15" name="Text 13"/>
          <p:cNvSpPr/>
          <p:nvPr/>
        </p:nvSpPr>
        <p:spPr>
          <a:xfrm>
            <a:off x="6720840" y="2331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15200" y="2304288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D900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イベント週の売上に“最大貢献”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766560" y="3200400"/>
            <a:ext cx="47548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準備の整った売場で機種変更・固定商材まで深くご提案。ドコモイベント週の総販を最大化します。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57200" y="5029200"/>
            <a:ext cx="11274552" cy="960120"/>
          </a:xfrm>
          <a:prstGeom prst="roundRect">
            <a:avLst>
              <a:gd name="adj" fmla="val 5714"/>
            </a:avLst>
          </a:prstGeom>
          <a:solidFill>
            <a:srgbClr val="FFF6F7"/>
          </a:solidFill>
          <a:ln w="12700">
            <a:solidFill>
              <a:srgbClr val="F3C9C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5029200"/>
            <a:ext cx="10698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要するに ─ </a:t>
            </a:r>
            <a:pPr indent="0" marL="0">
              <a:buNone/>
            </a:pPr>
            <a:r>
              <a:rPr lang="en-US" sz="1900" b="1" dirty="0">
                <a:solidFill>
                  <a:srgbClr val="D900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社員様は本業に集中</a:t>
            </a:r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でき、</a:t>
            </a:r>
            <a:pPr indent="0" marL="0">
              <a:buNone/>
            </a:pPr>
            <a:r>
              <a:rPr lang="en-US" sz="1900" b="1" dirty="0">
                <a:solidFill>
                  <a:srgbClr val="D900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イベント週の売上は最大に</a:t>
            </a:r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457200" y="6455664"/>
            <a:ext cx="11274552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事前入店＝イベント週の前に専任1名が先行入店。店舗様のご負担を最小化しつつ、当日の成果最大化を目指します。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9144000" y="6492240"/>
            <a:ext cx="2587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DREAM TEAM × Joshin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D9001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NTTドコモ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2062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BD9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Joshin様向け／店舗イベント ご提案資料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217920" y="91440"/>
            <a:ext cx="55138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入店するメンバー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932688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だから、こんな人が入ります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426464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イベント週の売上を最大化する、経験豊富なクローザー4名。だからJoshin様は、安心してお任せいただけます。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2697480" cy="3977640"/>
          </a:xfrm>
          <a:prstGeom prst="roundRect">
            <a:avLst>
              <a:gd name="adj" fmla="val 2034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pic>
        <p:nvPicPr>
          <p:cNvPr id="9" name="Image 0" descr="assets/p_hayakawa_s.png">    </p:cNvPr>
          <p:cNvPicPr>
            <a:picLocks noChangeAspect="1"/>
          </p:cNvPicPr>
          <p:nvPr/>
        </p:nvPicPr>
        <p:blipFill>
          <a:blip r:embed="rId1"/>
          <a:srcRect l="0" r="0" t="16676" b="16676"/>
          <a:stretch/>
        </p:blipFill>
        <p:spPr>
          <a:xfrm>
            <a:off x="777240" y="2221992"/>
            <a:ext cx="2057400" cy="18288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1520" y="2276856"/>
            <a:ext cx="1097280" cy="256032"/>
          </a:xfrm>
          <a:prstGeom prst="roundRect">
            <a:avLst>
              <a:gd name="adj" fmla="val 10714"/>
            </a:avLst>
          </a:prstGeom>
          <a:solidFill>
            <a:srgbClr val="D9001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事前入店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31520" y="4160520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早川　颯太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31520" y="4471416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900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事前入店担当｜ディレクター兼クローザー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31520" y="4965192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事前準備〜当日の連携を牽引。売場案内〜基本スペック説明まで対応し、社員様の本業集中を後押しします。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319272" y="1965960"/>
            <a:ext cx="2697480" cy="3977640"/>
          </a:xfrm>
          <a:prstGeom prst="roundRect">
            <a:avLst>
              <a:gd name="adj" fmla="val 2034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pic>
        <p:nvPicPr>
          <p:cNvPr id="15" name="Image 1" descr="assets/p_kataoka.png">    </p:cNvPr>
          <p:cNvPicPr>
            <a:picLocks noChangeAspect="1"/>
          </p:cNvPicPr>
          <p:nvPr/>
        </p:nvPicPr>
        <p:blipFill>
          <a:blip r:embed="rId2"/>
          <a:srcRect l="0" r="0" t="16676" b="16676"/>
          <a:stretch/>
        </p:blipFill>
        <p:spPr>
          <a:xfrm>
            <a:off x="3639312" y="2221992"/>
            <a:ext cx="2057400" cy="18288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593592" y="4160520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片岡　侑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3593592" y="4471416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900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ディレクター兼クローザー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3593592" y="4965192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円滑な導線づくりと店舗連携が得意。貴店と一体で最高の成果を目指します。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181344" y="1965960"/>
            <a:ext cx="2697480" cy="3977640"/>
          </a:xfrm>
          <a:prstGeom prst="roundRect">
            <a:avLst>
              <a:gd name="adj" fmla="val 2034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pic>
        <p:nvPicPr>
          <p:cNvPr id="20" name="Image 2" descr="assets/p_hidaka.png">    </p:cNvPr>
          <p:cNvPicPr>
            <a:picLocks noChangeAspect="1"/>
          </p:cNvPicPr>
          <p:nvPr/>
        </p:nvPicPr>
        <p:blipFill>
          <a:blip r:embed="rId3"/>
          <a:srcRect l="0" r="0" t="16676" b="16676"/>
          <a:stretch/>
        </p:blipFill>
        <p:spPr>
          <a:xfrm>
            <a:off x="6501384" y="2221992"/>
            <a:ext cx="2057400" cy="18288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455664" y="4160520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日高　悠弥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6455664" y="4471416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900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クローザー</a:t>
            </a:r>
            <a:endParaRPr lang="en-US" sz="950" dirty="0"/>
          </a:p>
        </p:txBody>
      </p:sp>
      <p:sp>
        <p:nvSpPr>
          <p:cNvPr id="23" name="Text 18"/>
          <p:cNvSpPr/>
          <p:nvPr/>
        </p:nvSpPr>
        <p:spPr>
          <a:xfrm>
            <a:off x="6455664" y="4965192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丁寧なヒアリングで潜在ニーズに対応。安心してお任せいただける接客を。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9043416" y="1965960"/>
            <a:ext cx="2697480" cy="3977640"/>
          </a:xfrm>
          <a:prstGeom prst="roundRect">
            <a:avLst>
              <a:gd name="adj" fmla="val 2034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pic>
        <p:nvPicPr>
          <p:cNvPr id="25" name="Image 3" descr="assets/p_hayakawa_d.png">    </p:cNvPr>
          <p:cNvPicPr>
            <a:picLocks noChangeAspect="1"/>
          </p:cNvPicPr>
          <p:nvPr/>
        </p:nvPicPr>
        <p:blipFill>
          <a:blip r:embed="rId4"/>
          <a:srcRect l="0" r="0" t="16676" b="16676"/>
          <a:stretch/>
        </p:blipFill>
        <p:spPr>
          <a:xfrm>
            <a:off x="9363456" y="2221992"/>
            <a:ext cx="2057400" cy="18288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317736" y="4160520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早川　大介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9317736" y="4471416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900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クローザー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9317736" y="4965192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豊富な現場経験と行動力。確実なクロージングで貴店の実績を積み上げます。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457200" y="6455664"/>
            <a:ext cx="11274552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事前入店1名＋本入店3名の体制で入店します。</a:t>
            </a:r>
            <a:endParaRPr lang="en-US" sz="800" dirty="0"/>
          </a:p>
        </p:txBody>
      </p:sp>
      <p:sp>
        <p:nvSpPr>
          <p:cNvPr id="31" name="Text 25"/>
          <p:cNvSpPr/>
          <p:nvPr/>
        </p:nvSpPr>
        <p:spPr>
          <a:xfrm>
            <a:off x="9144000" y="6492240"/>
            <a:ext cx="2587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DREAM TEAM × Joshin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D9001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NTTドコモ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2062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BD9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Joshin様向け／店舗イベント ご提案資料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217920" y="91440"/>
            <a:ext cx="55138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事前週にやること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932688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事前週の1名が、当日の“安心”をつくります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426464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すべて、Joshin様のご負担を最小化しながら実施します。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6492240" cy="3977640"/>
          </a:xfrm>
          <a:prstGeom prst="roundRect">
            <a:avLst>
              <a:gd name="adj" fmla="val 1379"/>
            </a:avLst>
          </a:prstGeom>
          <a:solidFill>
            <a:srgbClr val="F5F7FA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148840"/>
            <a:ext cx="6035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事前週にやること（チェックを見える化）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4871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9D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2468880"/>
            <a:ext cx="5577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売場・運営の現状確認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188720" y="2761488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導線／混雑ポイント／掲示位置を確認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77240" y="31592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9D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3140964"/>
            <a:ext cx="5577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協力範囲・当日役割のすり合わせ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88720" y="3433572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当日の役割・対応範囲を明確化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77240" y="38313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9D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3813048"/>
            <a:ext cx="5577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家電案内の対応範囲をすり合わせ（売場案内〜基本スペック）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88720" y="4105656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お客様対応で社員様が本業に集中→効率・接客品質UP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77240" y="45034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9D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88720" y="4485132"/>
            <a:ext cx="5577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要点共有（10〜15分）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88720" y="477774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案内フロー／想定Q&amp;A／キャンペーン要点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77240" y="51755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9D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88720" y="5157216"/>
            <a:ext cx="5577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備品・デモ・在庫の事前確認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88720" y="5449824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不足・懸念を早期に洗い出し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086600" y="1965960"/>
            <a:ext cx="4645152" cy="3977640"/>
          </a:xfrm>
          <a:prstGeom prst="roundRect">
            <a:avLst>
              <a:gd name="adj" fmla="val 1379"/>
            </a:avLst>
          </a:prstGeom>
          <a:solidFill>
            <a:srgbClr val="FDECEE"/>
          </a:solidFill>
          <a:ln w="12700">
            <a:solidFill>
              <a:srgbClr val="F3C9C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0" y="214884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900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社員様が“楽しく”参加できる仕掛け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315200" y="2487168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インナーキャンペーン（社員様振り）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315200" y="288036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社員様からのお客様お声がけ（振り）に応じて、</a:t>
            </a:r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D900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景品をプレゼント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315200" y="361188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00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Joshin様のメリット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315200" y="3913632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・スタッフ様のイベント参加意欲がUP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315200" y="4297680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・日常のコミュニケーションが増える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315200" y="4681728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・その“振り”が、そのまま貴店の売上に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315200" y="52120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※運用詳細はJoshin様と事前に相談のうえ決定します。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7200" y="6455664"/>
            <a:ext cx="11274552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事前週の実施内容は、Joshin様の運営状況・ご意向に合わせて調整いたします。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9144000" y="6492240"/>
            <a:ext cx="2587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DREAM TEAM × Joshin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D9001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NTTドコモ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2062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BD9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Joshin様向け／店舗イベント ご提案資料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217920" y="91440"/>
            <a:ext cx="55138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実績の見える化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11247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毎日、実績を“見える化”。貴店といっしょに数字を追います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74552" cy="960120"/>
          </a:xfrm>
          <a:prstGeom prst="roundRect">
            <a:avLst>
              <a:gd name="adj" fmla="val 5714"/>
            </a:avLst>
          </a:prstGeom>
          <a:solidFill>
            <a:srgbClr val="FFF6F7"/>
          </a:solidFill>
          <a:ln w="12700">
            <a:solidFill>
              <a:srgbClr val="F3C9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463040"/>
            <a:ext cx="10698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目標 ─ 貴店の総販 </a:t>
            </a:r>
            <a:pPr indent="0" marL="0">
              <a:buNone/>
            </a:pPr>
            <a:r>
              <a:rPr lang="en-US" sz="1600" b="1" u="sng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　</a:t>
            </a:r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件。</a:t>
            </a:r>
            <a:pPr indent="0" marL="0">
              <a:buNone/>
            </a:pPr>
            <a:r>
              <a:rPr lang="en-US" sz="1600" b="1" dirty="0">
                <a:solidFill>
                  <a:srgbClr val="D900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この達成が、そのままJoshin様の売上になります。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1883664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だからこそ、社員様からの“振り”にご協力ください ── </a:t>
            </a:r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振りは景品対象。そして貴店の総販そのものになります。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514600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00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事前入店週（水〜日）</a:t>
            </a:r>
            <a:endParaRPr lang="en-US" sz="12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52928"/>
          <a:ext cx="53949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713232"/>
                <a:gridCol w="713232"/>
                <a:gridCol w="713232"/>
                <a:gridCol w="713232"/>
                <a:gridCol w="713232"/>
              </a:tblGrid>
              <a:tr h="2423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項目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水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木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金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土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日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MNP</a:t>
                      </a:r>
                      <a:endParaRPr lang="en-US" sz="8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機種変更</a:t>
                      </a:r>
                      <a:endParaRPr lang="en-US" sz="8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純粋新規</a:t>
                      </a:r>
                      <a:endParaRPr lang="en-US" sz="8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ドコモ光1G</a:t>
                      </a:r>
                      <a:endParaRPr lang="en-US" sz="8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ドコモ光10G</a:t>
                      </a:r>
                      <a:endParaRPr lang="en-US" sz="8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Home5G</a:t>
                      </a:r>
                      <a:endParaRPr lang="en-US" sz="8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ドコモでんき</a:t>
                      </a:r>
                      <a:endParaRPr lang="en-US" sz="8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ドコモガス</a:t>
                      </a:r>
                      <a:endParaRPr lang="en-US" sz="8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dカードPLATINUM</a:t>
                      </a:r>
                      <a:endParaRPr lang="en-US" sz="8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dカードGOLD</a:t>
                      </a:r>
                      <a:endParaRPr lang="en-US" sz="8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dカードGOLD U</a:t>
                      </a:r>
                      <a:endParaRPr lang="en-US" sz="8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社員様からの振り数</a:t>
                      </a:r>
                      <a:endParaRPr lang="en-US" sz="8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6336792" y="2514600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00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本入店週（水〜日）</a:t>
            </a:r>
            <a:endParaRPr lang="en-US" sz="12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36792" y="2852928"/>
          <a:ext cx="53949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713232"/>
                <a:gridCol w="713232"/>
                <a:gridCol w="713232"/>
                <a:gridCol w="713232"/>
                <a:gridCol w="713232"/>
              </a:tblGrid>
              <a:tr h="2423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項目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水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木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金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土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日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MNP</a:t>
                      </a:r>
                      <a:endParaRPr lang="en-US" sz="8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機種変更</a:t>
                      </a:r>
                      <a:endParaRPr lang="en-US" sz="8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純粋新規</a:t>
                      </a:r>
                      <a:endParaRPr lang="en-US" sz="8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ドコモ光1G</a:t>
                      </a:r>
                      <a:endParaRPr lang="en-US" sz="8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ドコモ光10G</a:t>
                      </a:r>
                      <a:endParaRPr lang="en-US" sz="8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Home5G</a:t>
                      </a:r>
                      <a:endParaRPr lang="en-US" sz="8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ドコモでんき</a:t>
                      </a:r>
                      <a:endParaRPr lang="en-US" sz="8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ドコモガス</a:t>
                      </a:r>
                      <a:endParaRPr lang="en-US" sz="8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dカードPLATINUM</a:t>
                      </a:r>
                      <a:endParaRPr lang="en-US" sz="8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dカードGOLD</a:t>
                      </a:r>
                      <a:endParaRPr lang="en-US" sz="8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dカードGOLD U</a:t>
                      </a:r>
                      <a:endParaRPr lang="en-US" sz="8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社員様からの振り数</a:t>
                      </a:r>
                      <a:endParaRPr lang="en-US" sz="8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457200" y="6172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※各欄に「目標値／実績値」を手書きで追記してください（例：87/60）。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2026-08-10T17:19:08Z</dcterms:created>
  <dcterms:modified xsi:type="dcterms:W3CDTF">2026-08-10T17:19:08Z</dcterms:modified>
</cp:coreProperties>
</file>