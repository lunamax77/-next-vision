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制作費(税込)</c:v>
                </c:pt>
              </c:strCache>
            </c:strRef>
          </c:tx>
          <c:spPr>
            <a:solidFill>
              <a:srgbClr val="8FA0BC"/>
            </a:solidFill>
            <a:effectLst/>
          </c:spPr>
          <c:invertIfNegative val="0"/>
          <c:dLbls>
            <c:numFmt formatCode="¥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433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A0B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A0B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D5A8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F7D5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フリーランス</c:v>
                  </c:pt>
                  <c:pt idx="1">
                    <c:v>制作会社(小〜中)</c:v>
                  </c:pt>
                  <c:pt idx="2">
                    <c:v>制作会社 中央値</c:v>
                  </c:pt>
                  <c:pt idx="3">
                    <c:v>当社 DreamCreation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100000</c:v>
                </c:pt>
                <c:pt idx="1">
                  <c:v>300000</c:v>
                </c:pt>
                <c:pt idx="2">
                  <c:v>500000</c:v>
                </c:pt>
                <c:pt idx="3">
                  <c:v>238000</c:v>
                </c:pt>
              </c:numCache>
            </c:numRef>
          </c:val>
        </c:ser>
        <c:dLbls>
          <c:numFmt formatCode="¥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433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433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60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月額(税込)</c:v>
                </c:pt>
              </c:strCache>
            </c:strRef>
          </c:tx>
          <c:spPr>
            <a:solidFill>
              <a:srgbClr val="2F7D54"/>
            </a:solidFill>
            <a:effectLst/>
          </c:spPr>
          <c:invertIfNegative val="0"/>
          <c:dLbls>
            <c:numFmt formatCode="¥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433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7D5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A0B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A0B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当社 ライト保守</c:v>
                  </c:pt>
                  <c:pt idx="1">
                    <c:v>相場 中位</c:v>
                  </c:pt>
                  <c:pt idx="2">
                    <c:v>相場 上限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5500</c:v>
                </c:pt>
                <c:pt idx="1">
                  <c:v>12500</c:v>
                </c:pt>
                <c:pt idx="2">
                  <c:v>20000</c:v>
                </c:pt>
              </c:numCache>
            </c:numRef>
          </c:val>
        </c:ser>
        <c:dLbls>
          <c:numFmt formatCode="¥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433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433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御見積の根拠 表紙。合計¥329,000税込。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全体像：制作¥238,000/セットアップ¥25,000/保守¥66,000＝合計¥329,000。実費は別途。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HP制作¥238,000。制作会社中央値¥500,000の半額以下で妥当。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セットアップ¥25,000は制作会社一式¥20,000〜30,000の中位。妥当。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保守 月¥5,500は相場下限。割安。年¥66,000。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実費は別途実費請求・上乗せなし。実勢 年¥8,000〜16,000。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まとめ：合計¥329,000。納期8月中・先入金・著作権完済時移転・大阪地裁。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3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33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PRICING RATIONALE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86384" y="17830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御見積の根拠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各金額の積算根拠と、2025〜2026年の国内市場相場との比較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株式会社DreamCreation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　株式会社Xross Partners Realty 御中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B3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作成日：2026年8月6日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869680" y="201168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1B3A6B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4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69680" y="201168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B3A6B"/>
          </a:solidFill>
          <a:ln w="15875">
            <a:solidFill>
              <a:srgbClr val="3D5A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お見積 合計（税込）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78240" y="26974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¥329,000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869680" y="3703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消費税10%込・先入金（前払い一括）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88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3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お見積の全体像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044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727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3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ホームページ制作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ビジネスHPプラン(5〜7ページ)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¥238,000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6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制作会社中央値 約¥500,000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03020" y="3611880"/>
            <a:ext cx="2011680" cy="310896"/>
          </a:xfrm>
          <a:prstGeom prst="roundRect">
            <a:avLst>
              <a:gd name="adj" fmla="val 47059"/>
            </a:avLst>
          </a:prstGeom>
          <a:solidFill>
            <a:srgbClr val="EAF3EC"/>
          </a:solidFill>
          <a:ln w="9525">
            <a:solidFill>
              <a:srgbClr val="2F7D5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7D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中央値の半額以下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1371600"/>
            <a:ext cx="352044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4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15727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3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初期セットアップ代行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19385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サーバー/ドメイン/メール一式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34840" y="23317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¥25,000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480560" y="30632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6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一括代行 ¥10,000〜30,000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06340" y="3611880"/>
            <a:ext cx="2011680" cy="310896"/>
          </a:xfrm>
          <a:prstGeom prst="roundRect">
            <a:avLst>
              <a:gd name="adj" fmla="val 47059"/>
            </a:avLst>
          </a:prstGeom>
          <a:solidFill>
            <a:srgbClr val="EAF3EC"/>
          </a:solidFill>
          <a:ln w="9525">
            <a:solidFill>
              <a:srgbClr val="2F7D5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7D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相場中位・妥当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55280" y="1371600"/>
            <a:ext cx="352044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4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83880" y="15727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3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年間保守（ライト保守）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83880" y="19385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月¥5,500 × 12ヶ月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138160" y="23317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¥66,000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183880" y="30632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6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運用サポート 月¥5,000〜20,000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709660" y="3611880"/>
            <a:ext cx="2011680" cy="310896"/>
          </a:xfrm>
          <a:prstGeom prst="roundRect">
            <a:avLst>
              <a:gd name="adj" fmla="val 47059"/>
            </a:avLst>
          </a:prstGeom>
          <a:solidFill>
            <a:srgbClr val="EAF3EC"/>
          </a:solidFill>
          <a:ln w="9525">
            <a:solidFill>
              <a:srgbClr val="2F7D5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7D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相場下限＝割安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389120"/>
            <a:ext cx="7315200" cy="1051560"/>
          </a:xfrm>
          <a:prstGeom prst="roundRect">
            <a:avLst>
              <a:gd name="adj" fmla="val 6957"/>
            </a:avLst>
          </a:prstGeom>
          <a:solidFill>
            <a:srgbClr val="EAF1FB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4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4389120"/>
            <a:ext cx="7315200" cy="1051560"/>
          </a:xfrm>
          <a:prstGeom prst="roundRect">
            <a:avLst>
              <a:gd name="adj" fmla="val 6957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617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3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合計（税込）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206240" y="45262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1433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¥329,000</a:t>
            </a:r>
            <a:endParaRPr lang="en-US" sz="3400" dirty="0"/>
          </a:p>
        </p:txBody>
      </p:sp>
      <p:sp>
        <p:nvSpPr>
          <p:cNvPr id="26" name="Shape 24"/>
          <p:cNvSpPr/>
          <p:nvPr/>
        </p:nvSpPr>
        <p:spPr>
          <a:xfrm>
            <a:off x="8138160" y="4389120"/>
            <a:ext cx="3502152" cy="1051560"/>
          </a:xfrm>
          <a:prstGeom prst="roundRect">
            <a:avLst>
              <a:gd name="adj" fmla="val 6957"/>
            </a:avLst>
          </a:prstGeom>
          <a:solidFill>
            <a:srgbClr val="FBFAF5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4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38160" y="4389120"/>
            <a:ext cx="3502152" cy="1051560"/>
          </a:xfrm>
          <a:prstGeom prst="roundRect">
            <a:avLst>
              <a:gd name="adj" fmla="val 6957"/>
            </a:avLst>
          </a:prstGeom>
          <a:solidFill>
            <a:srgbClr val="FBFAF5"/>
          </a:solidFill>
          <a:ln w="12700">
            <a:solidFill>
              <a:srgbClr val="EAD6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45262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B88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年間実費は別途実費請求　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6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（ドメイン・サーバー・メール／上乗せなし・目安 年¥15,000〜25,000）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172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金額はすべて税込表示。市場相場は2025〜2026年の公開相場に基づく目安。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88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WEBSITE PRODUCTION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3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ホームページ制作　¥238,000 の根拠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554480"/>
            <a:ext cx="3959352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4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55280" y="1783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3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結論：妥当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955280" y="2331720"/>
            <a:ext cx="2011680" cy="310896"/>
          </a:xfrm>
          <a:prstGeom prst="roundRect">
            <a:avLst>
              <a:gd name="adj" fmla="val 47059"/>
            </a:avLst>
          </a:prstGeom>
          <a:solidFill>
            <a:srgbClr val="EAF3EC"/>
          </a:solidFill>
          <a:ln w="9525">
            <a:solidFill>
              <a:srgbClr val="2F7D5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7D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中央値の半額以下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955280" y="288036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「制作会社の品質を、フリーランス寄りの価格帯で」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6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制作会社の中央値（約¥50万）の半額以下。5〜7ページ規模でスマホ対応・基本SEO・内部SEO初期設定・公開設定まで一式を含みます。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80960" y="4892040"/>
            <a:ext cx="3959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433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大手・制作会社に頼むより明確に割安 ── を相場データで裏付け。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88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INITIAL 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3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初期セットアップ代行　¥25,000 の根拠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6420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3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簡易な設定代行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2996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クラウド個人・単発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5A66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数千円〜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4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66420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3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制作会社の一式代行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202996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初回一括の現実的レンジ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26280" y="260604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¥20,000〜30,000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813816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1F6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4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6760" y="166420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3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 DreamCreation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66760" y="202996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3点一式＋SSL・メール初期設定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21040" y="260604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433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¥25,000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548640" y="3977640"/>
            <a:ext cx="2011680" cy="310896"/>
          </a:xfrm>
          <a:prstGeom prst="roundRect">
            <a:avLst>
              <a:gd name="adj" fmla="val 47059"/>
            </a:avLst>
          </a:prstGeom>
          <a:solidFill>
            <a:srgbClr val="EAF3EC"/>
          </a:solidFill>
          <a:ln w="9525">
            <a:solidFill>
              <a:srgbClr val="2F7D5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7D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相場中位・妥当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1109167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4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433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結論：妥当（相場中位）。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括初期代行の実勢は¥10,000〜30,000、うち制作会社の一式代行は¥20,000〜30,000。¥25,000はそのちょうど中位に収まります。サーバー・独自ドメイン・独自メールの3点を、SSL・メール初期設定まで含めて一括代行する内容として、相場に対し無理なく説明できる水準です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88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MAINTENANCE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3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年間保守・運用（ライト保守）　月¥5,500 の根拠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4008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645920"/>
            <a:ext cx="432511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4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498080" y="18288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33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¥5,500 / 月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498080" y="2514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6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年間 ¥66,000（1年分一括）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71916" y="3063240"/>
            <a:ext cx="2011680" cy="310896"/>
          </a:xfrm>
          <a:prstGeom prst="roundRect">
            <a:avLst>
              <a:gd name="adj" fmla="val 47059"/>
            </a:avLst>
          </a:prstGeom>
          <a:solidFill>
            <a:srgbClr val="EAF3EC"/>
          </a:solidFill>
          <a:ln w="9525">
            <a:solidFill>
              <a:srgbClr val="2F7D5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7D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相場下限＝割安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0" y="3977640"/>
            <a:ext cx="4325112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4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543800" y="4160520"/>
            <a:ext cx="38862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サーバー・ドメイン管理／SSL確認／バックアップ／簡易保守。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6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運用サポート相場（月¥5,000〜20,000）の下限に設定。公開後も安心して任せられる最小構成を、無理のない月額で。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88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RUNNING COST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33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ドメイン・サーバー・メール 年間実費（別途）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459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3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独自ドメイン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.com 約¥2,000／.jp 約¥4,000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約¥2,000〜 / 年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4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6459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3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共用レンタルサーバー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20116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長期契約で割安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26280" y="265176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¥3,200〜9,800 / 年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38160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4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6760" y="16459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3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独自ドメインメール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66760" y="20116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サーバー付帯で無料の場合あり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21040" y="265176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¥1,200〜2,400 / 年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1F6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4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023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実勢の合計目安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3891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33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 ¥8,000〜16,000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77240" y="5257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.jp・法人上位プラン採用時で 〜¥30,000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3840480"/>
            <a:ext cx="5513832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4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55080" y="4023360"/>
            <a:ext cx="2011680" cy="310896"/>
          </a:xfrm>
          <a:prstGeom prst="roundRect">
            <a:avLst>
              <a:gd name="adj" fmla="val 47059"/>
            </a:avLst>
          </a:prstGeom>
          <a:solidFill>
            <a:srgbClr val="EAF3EC"/>
          </a:solidFill>
          <a:ln w="9525">
            <a:solidFill>
              <a:srgbClr val="2F7D5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7D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実費のみ・上乗せなし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4480560"/>
            <a:ext cx="5074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433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方針：実費のみを別途ご請求（手数料の上乗せなし）。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ドメイン・サーバー・メールの年間実費は制作費・保守料に含めず、かかった実費のみをそのままご請求します。選定プランに応じて実額でご案内します。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33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88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SUMMARY &amp; TERMS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ご発注条件とまとめ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1B3A6B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9FB0C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4023360" cy="2011680"/>
          </a:xfrm>
          <a:prstGeom prst="roundRect">
            <a:avLst>
              <a:gd name="adj" fmla="val 4545"/>
            </a:avLst>
          </a:prstGeom>
          <a:solidFill>
            <a:srgbClr val="1B3A6B"/>
          </a:solidFill>
          <a:ln w="15875">
            <a:solidFill>
              <a:srgbClr val="3D5A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お見積 合計（税込）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¥329,000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16002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2026年8月中（着手日 2026年8月6日）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37760" y="2350008"/>
            <a:ext cx="6720840" cy="0"/>
          </a:xfrm>
          <a:prstGeom prst="line">
            <a:avLst/>
          </a:prstGeom>
          <a:noFill/>
          <a:ln w="9525">
            <a:solidFill>
              <a:srgbClr val="3D5A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49631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お支払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496312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先入金（前払い・一括）／期限 2026年8月13日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37760" y="3246120"/>
            <a:ext cx="6720840" cy="0"/>
          </a:xfrm>
          <a:prstGeom prst="line">
            <a:avLst/>
          </a:prstGeom>
          <a:noFill/>
          <a:ln w="9525">
            <a:solidFill>
              <a:srgbClr val="3D5A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39242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著作権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3392424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委託料の完済時に御社へ移転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37760" y="4142232"/>
            <a:ext cx="6720840" cy="0"/>
          </a:xfrm>
          <a:prstGeom prst="line">
            <a:avLst/>
          </a:prstGeom>
          <a:noFill/>
          <a:ln w="9525">
            <a:solidFill>
              <a:srgbClr val="3D5A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4288536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4288536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大阪地方裁判所（第一審専属的合意管轄）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37760" y="5038344"/>
            <a:ext cx="6720840" cy="0"/>
          </a:xfrm>
          <a:prstGeom prst="line">
            <a:avLst/>
          </a:prstGeom>
          <a:noFill/>
          <a:ln w="9525">
            <a:solidFill>
              <a:srgbClr val="3D5A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株式会社DreamCreation　WEBSITE DESIGN STUDIO　｜　御見積書 Q-20260806-XPR-01 の補足資料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2026-08-06T17:40:34Z</dcterms:created>
  <dcterms:modified xsi:type="dcterms:W3CDTF">2026-08-06T17:40:34Z</dcterms:modified>
</cp:coreProperties>
</file>