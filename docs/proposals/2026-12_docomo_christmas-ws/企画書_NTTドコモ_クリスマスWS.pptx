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f93e01e8-1bb2-064e-1e6a-3282b96a3a0e}">
          <p14:sldIdLst>
            <p14:sldId id="256"/>
          </p14:sldIdLst>
        </p14:section>
        <p14:section name="ご提案の概要" id="{1ce7f68b-bd97-be12-940e-e3fc153e4684}">
          <p14:sldIdLst>
            <p14:sldId id="257"/>
            <p14:sldId id="258"/>
            <p14:sldId id="259"/>
          </p14:sldIdLst>
        </p14:section>
        <p14:section name="ワークショップ" id="{3759879a-f9b7-1f19-8da7-70730d5c7ba0}">
          <p14:sldIdLst>
            <p14:sldId id="260"/>
            <p14:sldId id="261"/>
            <p14:sldId id="262"/>
            <p14:sldId id="263"/>
            <p14:sldId id="264"/>
          </p14:sldIdLst>
        </p14:section>
        <p14:section name="店頭演出" id="{682051b3-3d80-7a2a-39a1-c63b66754d78}">
          <p14:sldIdLst>
            <p14:sldId id="265"/>
            <p14:sldId id="266"/>
            <p14:sldId id="267"/>
            <p14:sldId id="268"/>
          </p14:sldIdLst>
        </p14:section>
        <p14:section name="運用・お見積" id="{3a3118b5-26d6-3a0d-afbd-5d6c8bae61e9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株式会社DreamCreation ｜ ドコモイベント支援向けコンテンツ提案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926080" cy="3657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ドコモ様向け 提案書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ドコモイベント支援向け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コンテンツ提案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クリスマス限定ワークショップで、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家族の来店と商談のきっかけを毎週つくる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53035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株式会社NTTドコモ　チャネル統括部　イベントマネジメント担当 御中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2026年10月　株式会社DreamCreation</a:t>
            </a:r>
            <a:endParaRPr lang="en-US" sz="1200" dirty="0"/>
          </a:p>
        </p:txBody>
      </p:sp>
      <p:pic>
        <p:nvPicPr>
          <p:cNvPr id="6" name="cover_img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2026.11.28 ─ 12.25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ご依頼内容の整理</a:t>
            </a:r>
            <a:endParaRPr lang="en-US" sz="2400" dirty="0"/>
          </a:p>
        </p:txBody>
      </p:sp>
      <p:graphicFrame>
        <p:nvGraphicFramePr>
          <p:cNvPr id="3" name="reque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ご依頼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クリスマス仕様のスノードームワークショップパッケージ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コスプレ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サンタ・雪だるま・トナカイ ほか（全週で展開）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WSキット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4週実施分（1地区 300個／週）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開催中ツール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クリスマスアーチ ほか、開催中が伝わる装飾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ポスター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B0サイズ 10枚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数量・配送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上記10セット ／ 全国10地区へ配送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area_card"/>
          <p:cNvSpPr/>
          <p:nvPr/>
        </p:nvSpPr>
        <p:spPr>
          <a:xfrm>
            <a:off x="5852160" y="1051560"/>
            <a:ext cx="2834640" cy="3493008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468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配送先 10地区</a:t>
            </a:r>
            <a:endParaRPr lang="en-US" sz="1500" dirty="0"/>
          </a:p>
        </p:txBody>
      </p:sp>
      <p:sp>
        <p:nvSpPr>
          <p:cNvPr id="6" name="area_0"/>
          <p:cNvSpPr/>
          <p:nvPr/>
        </p:nvSpPr>
        <p:spPr>
          <a:xfrm>
            <a:off x="603504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北海道</a:t>
            </a:r>
            <a:endParaRPr lang="en-US" sz="1300" dirty="0"/>
          </a:p>
        </p:txBody>
      </p:sp>
      <p:sp>
        <p:nvSpPr>
          <p:cNvPr id="8" name="area_1"/>
          <p:cNvSpPr/>
          <p:nvPr/>
        </p:nvSpPr>
        <p:spPr>
          <a:xfrm>
            <a:off x="731520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東北</a:t>
            </a:r>
            <a:endParaRPr lang="en-US" sz="1300" dirty="0"/>
          </a:p>
        </p:txBody>
      </p:sp>
      <p:sp>
        <p:nvSpPr>
          <p:cNvPr id="10" name="area_2"/>
          <p:cNvSpPr/>
          <p:nvPr/>
        </p:nvSpPr>
        <p:spPr>
          <a:xfrm>
            <a:off x="603504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関信越</a:t>
            </a:r>
            <a:endParaRPr lang="en-US" sz="1300" dirty="0"/>
          </a:p>
        </p:txBody>
      </p:sp>
      <p:sp>
        <p:nvSpPr>
          <p:cNvPr id="12" name="area_3"/>
          <p:cNvSpPr/>
          <p:nvPr/>
        </p:nvSpPr>
        <p:spPr>
          <a:xfrm>
            <a:off x="731520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首都圏</a:t>
            </a:r>
            <a:endParaRPr lang="en-US" sz="1300" dirty="0"/>
          </a:p>
        </p:txBody>
      </p:sp>
      <p:sp>
        <p:nvSpPr>
          <p:cNvPr id="14" name="area_4"/>
          <p:cNvSpPr/>
          <p:nvPr/>
        </p:nvSpPr>
        <p:spPr>
          <a:xfrm>
            <a:off x="603504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東海</a:t>
            </a:r>
            <a:endParaRPr lang="en-US" sz="1300" dirty="0"/>
          </a:p>
        </p:txBody>
      </p:sp>
      <p:sp>
        <p:nvSpPr>
          <p:cNvPr id="16" name="area_5"/>
          <p:cNvSpPr/>
          <p:nvPr/>
        </p:nvSpPr>
        <p:spPr>
          <a:xfrm>
            <a:off x="731520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北陸</a:t>
            </a:r>
            <a:endParaRPr lang="en-US" sz="1300" dirty="0"/>
          </a:p>
        </p:txBody>
      </p:sp>
      <p:sp>
        <p:nvSpPr>
          <p:cNvPr id="18" name="area_6"/>
          <p:cNvSpPr/>
          <p:nvPr/>
        </p:nvSpPr>
        <p:spPr>
          <a:xfrm>
            <a:off x="603504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関西</a:t>
            </a:r>
            <a:endParaRPr lang="en-US" sz="1300" dirty="0"/>
          </a:p>
        </p:txBody>
      </p:sp>
      <p:sp>
        <p:nvSpPr>
          <p:cNvPr id="20" name="area_7"/>
          <p:cNvSpPr/>
          <p:nvPr/>
        </p:nvSpPr>
        <p:spPr>
          <a:xfrm>
            <a:off x="731520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中国</a:t>
            </a:r>
            <a:endParaRPr lang="en-US" sz="1300" dirty="0"/>
          </a:p>
        </p:txBody>
      </p:sp>
      <p:sp>
        <p:nvSpPr>
          <p:cNvPr id="22" name="area_8"/>
          <p:cNvSpPr/>
          <p:nvPr/>
        </p:nvSpPr>
        <p:spPr>
          <a:xfrm>
            <a:off x="603504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03504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四国</a:t>
            </a:r>
            <a:endParaRPr lang="en-US" sz="1300" dirty="0"/>
          </a:p>
        </p:txBody>
      </p:sp>
      <p:sp>
        <p:nvSpPr>
          <p:cNvPr id="24" name="area_9"/>
          <p:cNvSpPr/>
          <p:nvPr/>
        </p:nvSpPr>
        <p:spPr>
          <a:xfrm>
            <a:off x="731520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九州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本企画の3つの目的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無料のクリスマス体験で家族連れを惹きつけ、毎週の来店と商談機会を創出します。</a:t>
            </a:r>
            <a:endParaRPr lang="en-US" sz="1500" dirty="0"/>
          </a:p>
        </p:txBody>
      </p:sp>
      <p:sp>
        <p:nvSpPr>
          <p:cNvPr id="4" name="goal_1"/>
          <p:cNvSpPr/>
          <p:nvPr/>
        </p:nvSpPr>
        <p:spPr>
          <a:xfrm>
            <a:off x="457200" y="160020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oal_badge_1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家族連れが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自然に集まる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クリスマスアーチ＋コスプレ＋B0ボードPOPで、通行中のファミリー層をブースへ誘導。</a:t>
            </a:r>
            <a:endParaRPr lang="en-US" sz="1300" dirty="0"/>
          </a:p>
        </p:txBody>
      </p:sp>
      <p:sp>
        <p:nvSpPr>
          <p:cNvPr id="9" name="goal_2"/>
          <p:cNvSpPr/>
          <p:nvPr/>
        </p:nvSpPr>
        <p:spPr>
          <a:xfrm>
            <a:off x="3246120" y="160020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goal_badge_2"/>
          <p:cNvSpPr/>
          <p:nvPr/>
        </p:nvSpPr>
        <p:spPr>
          <a:xfrm>
            <a:off x="342900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毎週ちがう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作品で再来店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6060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スノードームとスクイーズを週替わりで。型・モチーフも変え、4週連続の来店動機に。</a:t>
            </a:r>
            <a:endParaRPr lang="en-US" sz="1300" dirty="0"/>
          </a:p>
        </p:txBody>
      </p:sp>
      <p:sp>
        <p:nvSpPr>
          <p:cNvPr id="14" name="goal_3"/>
          <p:cNvSpPr/>
          <p:nvPr/>
        </p:nvSpPr>
        <p:spPr>
          <a:xfrm>
            <a:off x="6035040" y="160020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goal_badge_3"/>
          <p:cNvSpPr/>
          <p:nvPr/>
        </p:nvSpPr>
        <p:spPr>
          <a:xfrm>
            <a:off x="621792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親子分離で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商談機会を創出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6060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お子様は約20分の制作に集中。その間に保護者様をカウンターへご案内できます。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1セットの中身（×10セット）</a:t>
            </a:r>
            <a:endParaRPr lang="en-US" sz="2400" dirty="0"/>
          </a:p>
        </p:txBody>
      </p:sp>
      <p:sp>
        <p:nvSpPr>
          <p:cNvPr id="3" name="part_0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rt_badge_0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WSキット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スノードーム／スクイーズ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300個／週 × 4週＝1,200個</a:t>
            </a:r>
            <a:endParaRPr lang="en-US" sz="1200" dirty="0"/>
          </a:p>
        </p:txBody>
      </p:sp>
      <p:sp>
        <p:nvSpPr>
          <p:cNvPr id="8" name="part_1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rt_badge_1"/>
          <p:cNvSpPr/>
          <p:nvPr/>
        </p:nvSpPr>
        <p:spPr>
          <a:xfrm>
            <a:off x="342900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装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クリスマスアーチ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エアーディスプレイ（期間中レンタル）</a:t>
            </a:r>
            <a:endParaRPr lang="en-US" sz="1200" dirty="0"/>
          </a:p>
        </p:txBody>
      </p:sp>
      <p:sp>
        <p:nvSpPr>
          <p:cNvPr id="13" name="part_2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art_badge_2"/>
          <p:cNvSpPr/>
          <p:nvPr/>
        </p:nvSpPr>
        <p:spPr>
          <a:xfrm>
            <a:off x="6217920" y="1234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衣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コスプレ衣装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サンタ・トナカイ・雪だるま・エルフ ほか</a:t>
            </a:r>
            <a:endParaRPr lang="en-US" sz="1200" dirty="0"/>
          </a:p>
        </p:txBody>
      </p:sp>
      <p:sp>
        <p:nvSpPr>
          <p:cNvPr id="18" name="part_3"/>
          <p:cNvSpPr/>
          <p:nvPr/>
        </p:nvSpPr>
        <p:spPr>
          <a:xfrm>
            <a:off x="45720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art_badge_3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B0ボードPOP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10枚。4週の内容がひと目でわかるデザイン</a:t>
            </a:r>
            <a:endParaRPr lang="en-US" sz="1200" dirty="0"/>
          </a:p>
        </p:txBody>
      </p:sp>
      <p:sp>
        <p:nvSpPr>
          <p:cNvPr id="23" name="part_4"/>
          <p:cNvSpPr/>
          <p:nvPr/>
        </p:nvSpPr>
        <p:spPr>
          <a:xfrm>
            <a:off x="324612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rt_badge_4"/>
          <p:cNvSpPr/>
          <p:nvPr/>
        </p:nvSpPr>
        <p:spPr>
          <a:xfrm>
            <a:off x="3429000" y="30175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290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飾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開催中ツール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スタンド看板・のぼり・テーブル装飾 ほか</a:t>
            </a:r>
            <a:endParaRPr lang="en-US" sz="1200" dirty="0"/>
          </a:p>
        </p:txBody>
      </p:sp>
      <p:sp>
        <p:nvSpPr>
          <p:cNvPr id="28" name="part_5"/>
          <p:cNvSpPr/>
          <p:nvPr/>
        </p:nvSpPr>
        <p:spPr>
          <a:xfrm>
            <a:off x="603504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art_badge_5"/>
          <p:cNvSpPr/>
          <p:nvPr/>
        </p:nvSpPr>
        <p:spPr>
          <a:xfrm>
            <a:off x="6217920" y="30175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運用マニュアル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店舗スタッフ様だけで運営できる手順書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目玉①　スノードーム作り</a:t>
            </a:r>
            <a:endParaRPr lang="en-US" sz="2400" dirty="0"/>
          </a:p>
        </p:txBody>
      </p:sp>
      <p:pic>
        <p:nvPicPr>
          <p:cNvPr id="3" name="img_snowdome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292608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" y="402336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完成イメージ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内容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09728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ミニフィギュア（サンタ・ツリー・雪だるま等）とラメ雪を選んで、自分だけのスノードームを制作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所要時間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約15〜20分／人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83464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対象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3歳〜小学生（未就学児は保護者様と一緒に）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370332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持ち帰り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冬のインテリアとして飾れる。記念性が高く、家族の会話が続く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目玉②　スクイーズ作り（ぷにラボ）</a:t>
            </a:r>
            <a:endParaRPr lang="en-US" sz="2400" dirty="0"/>
          </a:p>
        </p:txBody>
      </p:sp>
      <p:pic>
        <p:nvPicPr>
          <p:cNvPr id="3" name="img_squeeze_event" descr="ドコモ店頭でのスクイーズ作成体験ブー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2057400" cy="2743200"/>
          </a:xfrm>
          <a:prstGeom prst="rect">
            <a:avLst/>
          </a:prstGeom>
        </p:spPr>
      </p:pic>
      <p:pic>
        <p:nvPicPr>
          <p:cNvPr id="4" name="img_punilab_paw" descr="肉球スクイーズの完成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05840"/>
            <a:ext cx="2743200" cy="2743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794760"/>
            <a:ext cx="2057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ドコモ店頭での実施風景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（ヨドバシ梅田）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265176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完成品（肉球スクイーズ）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5623560" y="1005840"/>
            <a:ext cx="3063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内容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623560" y="1280160"/>
            <a:ext cx="306324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型とカラーを選び、液を混ぜて型に流し込む。型のまま持ち帰り、おうちで完成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623560" y="1874520"/>
            <a:ext cx="3063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クリスマス仕様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623560" y="2148840"/>
            <a:ext cx="306324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ツリー・ブーツ・雪だるま・プレゼント型／赤・緑・白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623560" y="2743200"/>
            <a:ext cx="3063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623560" y="3017520"/>
            <a:ext cx="306324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会場作業 約20分（＋自宅仕上げ）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3611880"/>
            <a:ext cx="3063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実績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623560" y="3886200"/>
            <a:ext cx="306324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ドコモショップ・量販店のドコモブースで実施済み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ワークショップキット（イメージ）</a:t>
            </a:r>
            <a:endParaRPr lang="en-US" sz="2400" dirty="0"/>
          </a:p>
        </p:txBody>
      </p:sp>
      <p:pic>
        <p:nvPicPr>
          <p:cNvPr id="3" name="img_kit_snowdome" descr="スノードーム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2240280" cy="2240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788920" y="1005840"/>
            <a:ext cx="1737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スノードームキット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788920" y="1417320"/>
            <a:ext cx="17373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ドーム・台座・ミニフィギュア（サンタ/ツリー/雪だるま）・ラメ雪・のり</a:t>
            </a:r>
            <a:endParaRPr lang="en-US" sz="1100" dirty="0"/>
          </a:p>
        </p:txBody>
      </p:sp>
      <p:pic>
        <p:nvPicPr>
          <p:cNvPr id="6" name="img_kit_squeeze" descr="スクイーズキットのイメー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60120"/>
            <a:ext cx="2240280" cy="2240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995160" y="1005840"/>
            <a:ext cx="1737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スクイーズキット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995160" y="1417320"/>
            <a:ext cx="17373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クリスマス型モールド・計量カップ・カラー液（赤/緑/白）・マジックパウダー</a:t>
            </a:r>
            <a:endParaRPr lang="en-US" sz="1100" dirty="0"/>
          </a:p>
        </p:txBody>
      </p:sp>
      <p:sp>
        <p:nvSpPr>
          <p:cNvPr id="9" name="kit_qty"/>
          <p:cNvSpPr/>
          <p:nvPr/>
        </p:nvSpPr>
        <p:spPr>
          <a:xfrm>
            <a:off x="457200" y="342900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3493008"/>
            <a:ext cx="786384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1地区 300個／週 × 4週 ＝ 1,200個（10地区で計12,000個）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週ごとに仕分けて納品。手順カード・見本1点を同梱。※画像はAI生成のイメージ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4週ローテーション計画（11月最終週〜12月）</a:t>
            </a:r>
            <a:endParaRPr lang="en-US" sz="2400" dirty="0"/>
          </a:p>
        </p:txBody>
      </p:sp>
      <p:sp>
        <p:nvSpPr>
          <p:cNvPr id="3" name="wk_head_0"/>
          <p:cNvSpPr/>
          <p:nvPr/>
        </p:nvSpPr>
        <p:spPr>
          <a:xfrm>
            <a:off x="45720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第1週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11/28(土)〜12/4(金)</a:t>
            </a:r>
            <a:endParaRPr lang="en-US" sz="1400" dirty="0"/>
          </a:p>
        </p:txBody>
      </p:sp>
      <p:sp>
        <p:nvSpPr>
          <p:cNvPr id="5" name="wk_body_0"/>
          <p:cNvSpPr/>
          <p:nvPr/>
        </p:nvSpPr>
        <p:spPr>
          <a:xfrm>
            <a:off x="45720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サンタ／トナカイ</a:t>
            </a:r>
            <a:endParaRPr lang="en-US" sz="1400" dirty="0"/>
          </a:p>
        </p:txBody>
      </p:sp>
      <p:sp>
        <p:nvSpPr>
          <p:cNvPr id="7" name="wk_head_1"/>
          <p:cNvSpPr/>
          <p:nvPr/>
        </p:nvSpPr>
        <p:spPr>
          <a:xfrm>
            <a:off x="256032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第2週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12/5(土)〜12/11(金)</a:t>
            </a:r>
            <a:endParaRPr lang="en-US" sz="1400" dirty="0"/>
          </a:p>
        </p:txBody>
      </p:sp>
      <p:sp>
        <p:nvSpPr>
          <p:cNvPr id="9" name="wk_body_1"/>
          <p:cNvSpPr/>
          <p:nvPr/>
        </p:nvSpPr>
        <p:spPr>
          <a:xfrm>
            <a:off x="256032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ツリー・ブーツ型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雪だるま／エルフ</a:t>
            </a:r>
            <a:endParaRPr lang="en-US" sz="1400" dirty="0"/>
          </a:p>
        </p:txBody>
      </p:sp>
      <p:sp>
        <p:nvSpPr>
          <p:cNvPr id="11" name="wk_head_2"/>
          <p:cNvSpPr/>
          <p:nvPr/>
        </p:nvSpPr>
        <p:spPr>
          <a:xfrm>
            <a:off x="466344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第3週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12/12(土)〜12/18(金)</a:t>
            </a:r>
            <a:endParaRPr lang="en-US" sz="1400" dirty="0"/>
          </a:p>
        </p:txBody>
      </p:sp>
      <p:sp>
        <p:nvSpPr>
          <p:cNvPr id="13" name="wk_body_2"/>
          <p:cNvSpPr/>
          <p:nvPr/>
        </p:nvSpPr>
        <p:spPr>
          <a:xfrm>
            <a:off x="466344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雪だるま・プレゼント型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トナカイ／ジンジャーブレッド</a:t>
            </a:r>
            <a:endParaRPr lang="en-US" sz="1400" dirty="0"/>
          </a:p>
        </p:txBody>
      </p:sp>
      <p:sp>
        <p:nvSpPr>
          <p:cNvPr id="15" name="wk_head_3"/>
          <p:cNvSpPr/>
          <p:nvPr/>
        </p:nvSpPr>
        <p:spPr>
          <a:xfrm>
            <a:off x="676656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第4週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12/19(土)〜12/25(金)</a:t>
            </a:r>
            <a:endParaRPr lang="en-US" sz="1400" dirty="0"/>
          </a:p>
        </p:txBody>
      </p:sp>
      <p:sp>
        <p:nvSpPr>
          <p:cNvPr id="17" name="wk_body_3"/>
          <p:cNvSpPr/>
          <p:nvPr/>
        </p:nvSpPr>
        <p:spPr>
          <a:xfrm>
            <a:off x="676656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雪だるま・トナカイモチーフ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サンタ（男女）／ツリー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同じワークショップが続く週も、型・モチーフ・衣装を変えて“新作”として訴求。毎週来ても新しい体験になります。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親子分離の運用設計</a:t>
            </a:r>
            <a:endParaRPr lang="en-US" sz="2400" dirty="0"/>
          </a:p>
        </p:txBody>
      </p:sp>
      <p:sp>
        <p:nvSpPr>
          <p:cNvPr id="3" name="pc_head_0"/>
          <p:cNvSpPr/>
          <p:nvPr/>
        </p:nvSpPr>
        <p:spPr>
          <a:xfrm>
            <a:off x="457200" y="1005840"/>
            <a:ext cx="402336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お子様　約20分</a:t>
            </a:r>
            <a:endParaRPr lang="en-US" sz="1600" dirty="0"/>
          </a:p>
        </p:txBody>
      </p:sp>
      <p:sp>
        <p:nvSpPr>
          <p:cNvPr id="5" name="pc_0_0"/>
          <p:cNvSpPr/>
          <p:nvPr/>
        </p:nvSpPr>
        <p:spPr>
          <a:xfrm>
            <a:off x="457200" y="1691640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c_b_0_0"/>
          <p:cNvSpPr/>
          <p:nvPr/>
        </p:nvSpPr>
        <p:spPr>
          <a:xfrm>
            <a:off x="566928" y="1773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スノードーム／スクイーズを選ぶ</a:t>
            </a:r>
            <a:endParaRPr lang="en-US" sz="1300" dirty="0"/>
          </a:p>
        </p:txBody>
      </p:sp>
      <p:sp>
        <p:nvSpPr>
          <p:cNvPr id="9" name="pc_0_1"/>
          <p:cNvSpPr/>
          <p:nvPr/>
        </p:nvSpPr>
        <p:spPr>
          <a:xfrm>
            <a:off x="457200" y="2313432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c_b_0_1"/>
          <p:cNvSpPr/>
          <p:nvPr/>
        </p:nvSpPr>
        <p:spPr>
          <a:xfrm>
            <a:off x="566928" y="239572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313432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見本と手順カードを見ながら制作に集中</a:t>
            </a:r>
            <a:endParaRPr lang="en-US" sz="1300" dirty="0"/>
          </a:p>
        </p:txBody>
      </p:sp>
      <p:sp>
        <p:nvSpPr>
          <p:cNvPr id="13" name="pc_0_2"/>
          <p:cNvSpPr/>
          <p:nvPr/>
        </p:nvSpPr>
        <p:spPr>
          <a:xfrm>
            <a:off x="457200" y="2935224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c_b_0_2"/>
          <p:cNvSpPr/>
          <p:nvPr/>
        </p:nvSpPr>
        <p:spPr>
          <a:xfrm>
            <a:off x="566928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935224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完成（スクイーズは型のまま袋へ）</a:t>
            </a:r>
            <a:endParaRPr lang="en-US" sz="1300" dirty="0"/>
          </a:p>
        </p:txBody>
      </p:sp>
      <p:sp>
        <p:nvSpPr>
          <p:cNvPr id="17" name="pc_0_3"/>
          <p:cNvSpPr/>
          <p:nvPr/>
        </p:nvSpPr>
        <p:spPr>
          <a:xfrm>
            <a:off x="457200" y="3557016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c_b_0_3"/>
          <p:cNvSpPr/>
          <p:nvPr/>
        </p:nvSpPr>
        <p:spPr>
          <a:xfrm>
            <a:off x="566928" y="36393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557016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作品を持って保護者様と合流</a:t>
            </a:r>
            <a:endParaRPr lang="en-US" sz="1300" dirty="0"/>
          </a:p>
        </p:txBody>
      </p:sp>
      <p:sp>
        <p:nvSpPr>
          <p:cNvPr id="21" name="pc_head_1"/>
          <p:cNvSpPr/>
          <p:nvPr/>
        </p:nvSpPr>
        <p:spPr>
          <a:xfrm>
            <a:off x="4663440" y="1005840"/>
            <a:ext cx="402336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63440" y="1005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保護者様　約20分</a:t>
            </a:r>
            <a:endParaRPr lang="en-US" sz="1600" dirty="0"/>
          </a:p>
        </p:txBody>
      </p:sp>
      <p:sp>
        <p:nvSpPr>
          <p:cNvPr id="23" name="pc_1_0"/>
          <p:cNvSpPr/>
          <p:nvPr/>
        </p:nvSpPr>
        <p:spPr>
          <a:xfrm>
            <a:off x="4663440" y="1691640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c_b_1_0"/>
          <p:cNvSpPr/>
          <p:nvPr/>
        </p:nvSpPr>
        <p:spPr>
          <a:xfrm>
            <a:off x="4773168" y="177393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691640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隣接の商談カウンターへご案内</a:t>
            </a:r>
            <a:endParaRPr lang="en-US" sz="1300" dirty="0"/>
          </a:p>
        </p:txBody>
      </p:sp>
      <p:sp>
        <p:nvSpPr>
          <p:cNvPr id="27" name="pc_1_1"/>
          <p:cNvSpPr/>
          <p:nvPr/>
        </p:nvSpPr>
        <p:spPr>
          <a:xfrm>
            <a:off x="4663440" y="2313432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c_b_1_1"/>
          <p:cNvSpPr/>
          <p:nvPr/>
        </p:nvSpPr>
        <p:spPr>
          <a:xfrm>
            <a:off x="4773168" y="23957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73168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257800" y="2313432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料金プラン・機種変更のご相談</a:t>
            </a:r>
            <a:endParaRPr lang="en-US" sz="1300" dirty="0"/>
          </a:p>
        </p:txBody>
      </p:sp>
      <p:sp>
        <p:nvSpPr>
          <p:cNvPr id="31" name="pc_1_2"/>
          <p:cNvSpPr/>
          <p:nvPr/>
        </p:nvSpPr>
        <p:spPr>
          <a:xfrm>
            <a:off x="4663440" y="2935224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pc_b_1_2"/>
          <p:cNvSpPr/>
          <p:nvPr/>
        </p:nvSpPr>
        <p:spPr>
          <a:xfrm>
            <a:off x="4773168" y="30175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935224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見積ご依頼でクリスマス特典をご案内</a:t>
            </a:r>
            <a:endParaRPr lang="en-US" sz="1300" dirty="0"/>
          </a:p>
        </p:txBody>
      </p:sp>
      <p:sp>
        <p:nvSpPr>
          <p:cNvPr id="35" name="pc_1_3"/>
          <p:cNvSpPr/>
          <p:nvPr/>
        </p:nvSpPr>
        <p:spPr>
          <a:xfrm>
            <a:off x="4663440" y="3557016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c_b_1_3"/>
          <p:cNvSpPr/>
          <p:nvPr/>
        </p:nvSpPr>
        <p:spPr>
          <a:xfrm>
            <a:off x="4773168" y="36393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73168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257800" y="3557016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お子様の完成作品を一緒に確認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運営スタッフの派遣はなし。店舗スタッフ様1名でも回せるよう、手順カードと運用マニュアルを同梱します。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クリスマスアーチ（開催中ツールの主役）</a:t>
            </a:r>
            <a:endParaRPr lang="en-US" sz="2400" dirty="0"/>
          </a:p>
        </p:txBody>
      </p:sp>
      <p:pic>
        <p:nvPicPr>
          <p:cNvPr id="3" name="img_arch" descr="店頭に設置したクリスマスアーチ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4290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62272"/>
            <a:ext cx="3429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設置イメージ（AI生成）</a:t>
            </a:r>
            <a:endParaRPr lang="en-US" sz="1000" dirty="0"/>
          </a:p>
        </p:txBody>
      </p:sp>
      <p:pic>
        <p:nvPicPr>
          <p:cNvPr id="5" name="img_arch_ref" descr="アーチ参考商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3429000"/>
            <a:ext cx="1143000" cy="11338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67512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参考商品</a:t>
            </a:r>
            <a:endParaRPr lang="en-US" sz="1000" dirty="0"/>
          </a:p>
        </p:txBody>
      </p:sp>
      <p:sp>
        <p:nvSpPr>
          <p:cNvPr id="7" name="arch_badge_0"/>
          <p:cNvSpPr/>
          <p:nvPr/>
        </p:nvSpPr>
        <p:spPr>
          <a:xfrm>
            <a:off x="420624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2062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102412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遠くからでも目立つ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134416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サンタ＆スノーマン付きのエアーアーチを入口に設置。開催中がひと目で伝わる。</a:t>
            </a:r>
            <a:endParaRPr lang="en-US" sz="1200" dirty="0"/>
          </a:p>
        </p:txBody>
      </p:sp>
      <p:sp>
        <p:nvSpPr>
          <p:cNvPr id="11" name="arch_badge_1"/>
          <p:cNvSpPr/>
          <p:nvPr/>
        </p:nvSpPr>
        <p:spPr>
          <a:xfrm>
            <a:off x="420624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2062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180136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フォトスポットに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12140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アーチ前での記念撮影がSNS投稿のきっかけに。</a:t>
            </a:r>
            <a:endParaRPr lang="en-US" sz="1200" dirty="0"/>
          </a:p>
        </p:txBody>
      </p:sp>
      <p:sp>
        <p:nvSpPr>
          <p:cNvPr id="15" name="arch_badge_2"/>
          <p:cNvSpPr/>
          <p:nvPr/>
        </p:nvSpPr>
        <p:spPr>
          <a:xfrm>
            <a:off x="4206240" y="2606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期間中レンタル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709160" y="289864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4週の期間中は返却不要。終了後に着払いで返送。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ワークショップ開催中ツール（デザイン案）</a:t>
            </a:r>
            <a:endParaRPr lang="en-US" sz="2400" dirty="0"/>
          </a:p>
        </p:txBody>
      </p:sp>
      <p:pic>
        <p:nvPicPr>
          <p:cNvPr id="3" name="img_tablecloth" descr="テーブルクロスデザイン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2560320" cy="2331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テーブルクロス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赤地に雪の結晶とヒイラギ柄。ミニツリー・LEDライトと一緒に</a:t>
            </a:r>
            <a:endParaRPr lang="en-US" sz="1100" dirty="0"/>
          </a:p>
        </p:txBody>
      </p:sp>
      <p:pic>
        <p:nvPicPr>
          <p:cNvPr id="6" name="img_nobori" descr="のぼりデザイン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960120"/>
            <a:ext cx="1554480" cy="2331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ク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リ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マ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407408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W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S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開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催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中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のぼり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薄い赤×雪の結晶。遠目でも開催がわかる縦型</a:t>
            </a:r>
            <a:endParaRPr lang="en-US" sz="1100" dirty="0"/>
          </a:p>
        </p:txBody>
      </p:sp>
      <p:pic>
        <p:nvPicPr>
          <p:cNvPr id="11" name="img_stand_sign" descr="スタンド看板デザイン案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960120"/>
            <a:ext cx="2560320" cy="2331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40880" y="16459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ただいま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開催中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スタンド看板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ツリー型A型看板「ただいまワークショップ開催中」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その他：吊り下げPOP（雪の結晶）／作品ディスプレイ台／週替わり告知カード「来週はこれがつくれる！」　※画像はAI生成のイメージ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コスプレ（全週で週替わり展開・Amazon調達）</a:t>
            </a:r>
            <a:endParaRPr lang="en-US" sz="2400" dirty="0"/>
          </a:p>
        </p:txBody>
      </p:sp>
      <p:sp>
        <p:nvSpPr>
          <p:cNvPr id="3" name="cos_0"/>
          <p:cNvSpPr/>
          <p:nvPr/>
        </p:nvSpPr>
        <p:spPr>
          <a:xfrm>
            <a:off x="45720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_cos_santa" descr="サンタ（男女）の衣装イメージ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51560"/>
            <a:ext cx="1143000" cy="1417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8308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サンタ（男女）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78308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サンタ コスプレ 大人 セット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2,000〜5,000円</a:t>
            </a:r>
            <a:endParaRPr lang="en-US" sz="1400" dirty="0"/>
          </a:p>
        </p:txBody>
      </p:sp>
      <p:sp>
        <p:nvSpPr>
          <p:cNvPr id="7" name="cos_1"/>
          <p:cNvSpPr/>
          <p:nvPr/>
        </p:nvSpPr>
        <p:spPr>
          <a:xfrm>
            <a:off x="324612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_cos_reindeer" descr="トナカイの衣装イメー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051560"/>
            <a:ext cx="114300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トナカイ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トナカイ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1" name="cos_2"/>
          <p:cNvSpPr/>
          <p:nvPr/>
        </p:nvSpPr>
        <p:spPr>
          <a:xfrm>
            <a:off x="603504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g_cos_snowman" descr="雪だるまの衣装イメージ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051560"/>
            <a:ext cx="114300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雪だるま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雪だるま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5" name="cos_3"/>
          <p:cNvSpPr/>
          <p:nvPr/>
        </p:nvSpPr>
        <p:spPr>
          <a:xfrm>
            <a:off x="45720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g_cos_elf" descr="エルフの衣装イメー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" y="2788920"/>
            <a:ext cx="1143000" cy="1417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エルフ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78308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エルフ コスプレ 大人 クリスマス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2,500〜5,000円</a:t>
            </a:r>
            <a:endParaRPr lang="en-US" sz="1400" dirty="0"/>
          </a:p>
        </p:txBody>
      </p:sp>
      <p:sp>
        <p:nvSpPr>
          <p:cNvPr id="19" name="cos_4"/>
          <p:cNvSpPr/>
          <p:nvPr/>
        </p:nvSpPr>
        <p:spPr>
          <a:xfrm>
            <a:off x="324612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g_cos_gingerbread" descr="ジンジャー ブレッドの衣装イメージ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337560" y="2788920"/>
            <a:ext cx="1143000" cy="1417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57200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ジンジャー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ブレッド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57200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ジンジャーブレッドマン 着ぐるみ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4,000〜8,000円</a:t>
            </a:r>
            <a:endParaRPr lang="en-US" sz="1400" dirty="0"/>
          </a:p>
        </p:txBody>
      </p:sp>
      <p:sp>
        <p:nvSpPr>
          <p:cNvPr id="23" name="cos_5"/>
          <p:cNvSpPr/>
          <p:nvPr/>
        </p:nvSpPr>
        <p:spPr>
          <a:xfrm>
            <a:off x="603504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g_cos_tree" descr="ツリーの衣装イメージ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26480" y="2788920"/>
            <a:ext cx="1143000" cy="1417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36092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ツリー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736092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クリスマスツリー ポンチョ 仮装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2,000〜4,000円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画像はAI生成のイメージ。価格は想定（税込・1着）で、Amazonの実商品・在庫は発注前に確認します。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B0ボードPOP　デザイン案</a:t>
            </a:r>
            <a:endParaRPr lang="en-US" sz="2400" dirty="0"/>
          </a:p>
        </p:txBody>
      </p:sp>
      <p:pic>
        <p:nvPicPr>
          <p:cNvPr id="3" name="img_poster_a" descr="B0ボードPOP A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14400"/>
            <a:ext cx="196596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207008"/>
            <a:ext cx="1783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あなただけの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スノードームを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つくろう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A案　スノードーム主役</a:t>
            </a:r>
            <a:endParaRPr lang="en-US" sz="1300" dirty="0"/>
          </a:p>
        </p:txBody>
      </p:sp>
      <p:pic>
        <p:nvPicPr>
          <p:cNvPr id="7" name="img_poster_b" descr="B0ボードPOP B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914400"/>
            <a:ext cx="1965960" cy="2926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0" y="1016813"/>
            <a:ext cx="1783080" cy="298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毎週かわる！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B案　4週カレンダー型（推奨）</a:t>
            </a:r>
            <a:endParaRPr lang="en-US" sz="1300" dirty="0"/>
          </a:p>
        </p:txBody>
      </p:sp>
      <p:pic>
        <p:nvPicPr>
          <p:cNvPr id="11" name="img_poster_c" descr="B0ボードPOP C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914400"/>
            <a:ext cx="1965960" cy="2926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46520" y="1207008"/>
            <a:ext cx="1783080" cy="737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クリスマス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ワークショップ開催中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44652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C案　キャラクター型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共通：開催日時・対象年齢・参加条件・店舗名記入欄（手書き可）　※背景はAI生成のイメージ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運用フロー・スケジュール</a:t>
            </a:r>
            <a:endParaRPr lang="en-US" sz="2400" dirty="0"/>
          </a:p>
        </p:txBody>
      </p:sp>
      <p:sp>
        <p:nvSpPr>
          <p:cNvPr id="3" name="step_0"/>
          <p:cNvSpPr/>
          <p:nvPr/>
        </p:nvSpPr>
        <p:spPr>
          <a:xfrm>
            <a:off x="457200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ご発注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10月下旬〜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11月上旬</a:t>
            </a:r>
            <a:endParaRPr lang="en-US" sz="1200" dirty="0"/>
          </a:p>
        </p:txBody>
      </p:sp>
      <p:sp>
        <p:nvSpPr>
          <p:cNvPr id="6" name="step_1"/>
          <p:cNvSpPr/>
          <p:nvPr/>
        </p:nvSpPr>
        <p:spPr>
          <a:xfrm>
            <a:off x="2139696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22576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制作・調達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139696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キット・ポスター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衣装・ツール</a:t>
            </a:r>
            <a:endParaRPr lang="en-US" sz="1200" dirty="0"/>
          </a:p>
        </p:txBody>
      </p:sp>
      <p:sp>
        <p:nvSpPr>
          <p:cNvPr id="9" name="step_2"/>
          <p:cNvSpPr/>
          <p:nvPr/>
        </p:nvSpPr>
        <p:spPr>
          <a:xfrm>
            <a:off x="3822192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05072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配送・検品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22192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11月下旬着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検品確認書を返送</a:t>
            </a:r>
            <a:endParaRPr lang="en-US" sz="1200" dirty="0"/>
          </a:p>
        </p:txBody>
      </p:sp>
      <p:sp>
        <p:nvSpPr>
          <p:cNvPr id="12" name="step_3"/>
          <p:cNvSpPr/>
          <p:nvPr/>
        </p:nvSpPr>
        <p:spPr>
          <a:xfrm>
            <a:off x="5504688" y="1188720"/>
            <a:ext cx="160020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87568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店舗で実施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11/28〜12/25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4週間</a:t>
            </a:r>
            <a:endParaRPr lang="en-US" sz="1200" dirty="0"/>
          </a:p>
        </p:txBody>
      </p:sp>
      <p:sp>
        <p:nvSpPr>
          <p:cNvPr id="15" name="step_4"/>
          <p:cNvSpPr/>
          <p:nvPr/>
        </p:nvSpPr>
        <p:spPr>
          <a:xfrm>
            <a:off x="7187184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返却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87184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アーチを梱包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着払い伝票で返送</a:t>
            </a:r>
            <a:endParaRPr lang="en-US" sz="1200" dirty="0"/>
          </a:p>
        </p:txBody>
      </p:sp>
      <p:sp>
        <p:nvSpPr>
          <p:cNvPr id="18" name="ops_note"/>
          <p:cNvSpPr/>
          <p:nvPr/>
        </p:nvSpPr>
        <p:spPr>
          <a:xfrm>
            <a:off x="457200" y="2926080"/>
            <a:ext cx="82296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017520"/>
            <a:ext cx="78638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店舗スタッフ様だけで運営できる体制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運営スタッフの派遣はなし。キット・物品と運用マニュアル（準備・受付・制作手順・片付け）をお届けします。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週替わりの内容に合わせ、キットは週ごとに仕分けして納品します。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アーチの返却は箱・緩衝材を再利用し、同梱の着払い伝票で発送いただくだけです。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御見積書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株式会社NTTドコモ 御中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5303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件名：クリスマスワークショップパッケージについて（10セット）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実施期間：2026年11月28日〜12月25日（4週間）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914400"/>
            <a:ext cx="29260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株式会社DreamCreation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〒550-0015 大阪府大阪市西区南堀江1-10-1 KT堀江801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TEL 06-4967-1038　担当：竹村</a:t>
            </a:r>
            <a:endParaRPr lang="en-US" sz="900" dirty="0"/>
          </a:p>
        </p:txBody>
      </p:sp>
      <p:graphicFrame>
        <p:nvGraphicFramePr>
          <p:cNvPr id="16" name="quote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457200"/>
                <a:gridCol w="457200"/>
                <a:gridCol w="777240"/>
                <a:gridCol w="96012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御見積内容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数量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日数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単価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摘要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ワークショップキット（スノードーム／スクイーズ）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1地区300個/週×4週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販促物一式（クリスマスアーチ・B0ボードPOP10枚・開催中ツール・コスプレ）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アーチは期間中レンタル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企画・ディレクション・運用マニュアル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配送料（10地区 往復）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別途請求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実費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ot_0"/>
          <p:cNvSpPr/>
          <p:nvPr/>
        </p:nvSpPr>
        <p:spPr>
          <a:xfrm>
            <a:off x="5577840" y="3703320"/>
            <a:ext cx="3108960" cy="3108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0" y="37033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703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￥5,000,000</a:t>
            </a:r>
            <a:endParaRPr lang="en-US" sz="1200" dirty="0"/>
          </a:p>
        </p:txBody>
      </p:sp>
      <p:sp>
        <p:nvSpPr>
          <p:cNvPr id="10" name="tot_1"/>
          <p:cNvSpPr/>
          <p:nvPr/>
        </p:nvSpPr>
        <p:spPr>
          <a:xfrm>
            <a:off x="5577840" y="4032504"/>
            <a:ext cx="3108960" cy="3108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403250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消費税（10%）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4032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￥500,000</a:t>
            </a:r>
            <a:endParaRPr lang="en-US" sz="1200" dirty="0"/>
          </a:p>
        </p:txBody>
      </p:sp>
      <p:sp>
        <p:nvSpPr>
          <p:cNvPr id="13" name="tot_2"/>
          <p:cNvSpPr/>
          <p:nvPr/>
        </p:nvSpPr>
        <p:spPr>
          <a:xfrm>
            <a:off x="5577840" y="4361688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0" y="43616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合計金額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3616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￥5,500,000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749040"/>
            <a:ext cx="4937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※金額は税別表示。配送料は別途、実費にてご請求いたします。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※運営スタッフの派遣は含みません。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株式会社DreamCreation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こどもが夢中になる体験を、企画から当日の準備物まで一社でお届けします。</a:t>
            </a:r>
            <a:endParaRPr lang="en-US" sz="1500" dirty="0"/>
          </a:p>
        </p:txBody>
      </p:sp>
      <p:pic>
        <p:nvPicPr>
          <p:cNvPr id="4" name="end_img" descr="肉球スクイー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主な実績：ドコモショップ・量販店ドコモブース・大型商業施設でのイベント（全国対応）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 070-1319-2126　／　MAIL data@d-creation-o.com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como Light Red">
  <a:themeElements>
    <a:clrScheme name="Docomo Light Red">
      <a:dk1>
        <a:srgbClr val="333333"/>
      </a:dk1>
      <a:lt1>
        <a:srgbClr val="FFFFFF"/>
      </a:lt1>
      <a:dk2>
        <a:srgbClr val="B8283A"/>
      </a:dk2>
      <a:lt2>
        <a:srgbClr val="FDEFF1"/>
      </a:lt2>
      <a:accent1>
        <a:srgbClr val="E0485A"/>
      </a:accent1>
      <a:accent2>
        <a:srgbClr val="2E7D4F"/>
      </a:accent2>
      <a:accent3>
        <a:srgbClr val="D9A21B"/>
      </a:accent3>
      <a:accent4>
        <a:srgbClr val="8A6A6E"/>
      </a:accent4>
      <a:accent5>
        <a:srgbClr val="FBE3E6"/>
      </a:accent5>
      <a:accent6>
        <a:srgbClr val="8E1F2C"/>
      </a:accent6>
      <a:hlink>
        <a:srgbClr val="B8283A"/>
      </a:hlink>
      <a:folHlink>
        <a:srgbClr val="8E1F2C"/>
      </a:folHlink>
    </a:clrScheme>
    <a:fontScheme name="Docomo Light Red">
      <a:majorFont>
        <a:latin typeface="メイリオ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ドコモイベント支援向けコンテンツ提案</dc:title>
  <dc:subject>PptxGenJS Presentation</dc:subject>
  <dc:creator>株式会社DreamCreation</dc:creator>
  <cp:lastModifiedBy>株式会社DreamCreation</cp:lastModifiedBy>
  <cp:revision>1</cp:revision>
  <dcterms:created xsi:type="dcterms:W3CDTF">2026-10-20T08:59:52Z</dcterms:created>
  <dcterms:modified xsi:type="dcterms:W3CDTF">2026-10-20T08:59:52Z</dcterms:modified>
</cp:coreProperties>
</file>