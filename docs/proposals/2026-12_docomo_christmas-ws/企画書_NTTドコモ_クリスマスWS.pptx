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表紙" id="{ce4b90e2-39c5-0d34-ea73-b118a829293d}">
          <p14:sldIdLst>
            <p14:sldId id="256"/>
          </p14:sldIdLst>
        </p14:section>
        <p14:section name="ご提案の概要" id="{e604de96-f654-67c2-f081-3392b8ea9275}">
          <p14:sldIdLst>
            <p14:sldId id="257"/>
            <p14:sldId id="258"/>
            <p14:sldId id="259"/>
          </p14:sldIdLst>
        </p14:section>
        <p14:section name="ワークショップ" id="{a835a302-4aaa-d8f0-226f-0ebcffbf2675}">
          <p14:sldIdLst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店頭演出" id="{0b4f5905-0675-4046-1b3e-204b2b3727d5}">
          <p14:sldIdLst>
            <p14:sldId id="266"/>
            <p14:sldId id="267"/>
            <p14:sldId id="268"/>
            <p14:sldId id="269"/>
          </p14:sldIdLst>
        </p14:section>
        <p14:section name="運用・お見積" id="{bdca3d4d-79e1-b9c9-66e8-75d57c5512bf}">
          <p14:sldIdLst>
            <p14:sldId id="270"/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accent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512064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51206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株式会社DreamCreation ｜ ドコモイベント支援向けコンテンツ提案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image" Target="../media/image-4-4.jpg"/><Relationship Id="rId5" Type="http://schemas.openxmlformats.org/officeDocument/2006/relationships/image" Target="../media/image-4-5.jpg"/><Relationship Id="rId6" Type="http://schemas.openxmlformats.org/officeDocument/2006/relationships/image" Target="../media/image-4-6.jpg"/><Relationship Id="rId7" Type="http://schemas.openxmlformats.org/officeDocument/2006/relationships/image" Target="../media/image-4-7.jp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image" Target="../media/image-13-3.jpg"/><Relationship Id="rId4" Type="http://schemas.openxmlformats.org/officeDocument/2006/relationships/image" Target="../media/image-13-4.jpg"/><Relationship Id="rId5" Type="http://schemas.openxmlformats.org/officeDocument/2006/relationships/image" Target="../media/image-13-5.jpg"/><Relationship Id="rId6" Type="http://schemas.openxmlformats.org/officeDocument/2006/relationships/image" Target="../media/image-13-6.jp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image" Target="../media/image-14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image" Target="../media/image-15-3.jpg"/><Relationship Id="rId4" Type="http://schemas.openxmlformats.org/officeDocument/2006/relationships/image" Target="../media/image-15-4.jpg"/><Relationship Id="rId5" Type="http://schemas.openxmlformats.org/officeDocument/2006/relationships/image" Target="../media/image-15-5.jp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926080" cy="36576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ドコモ様向け 提案書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37160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ドコモイベント支援向け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コンテンツ提案</a:t>
            </a:r>
            <a:endParaRPr lang="en-US" sz="3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743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クリスマス限定ワークショップで、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家族の来店と商談のきっかけを毎週つくる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977640"/>
            <a:ext cx="530352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株式会社NTTドコモ　チャネル統括部　イベントマネジメント担当 御中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2026年10月　株式会社DreamCreation</a:t>
            </a:r>
            <a:endParaRPr lang="en-US" sz="1200" dirty="0"/>
          </a:p>
        </p:txBody>
      </p:sp>
      <p:pic>
        <p:nvPicPr>
          <p:cNvPr id="6" name="cover_img" descr="スノードームの完成イメー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914400"/>
            <a:ext cx="2743200" cy="2743200"/>
          </a:xfrm>
          <a:prstGeom prst="ellipse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0" y="3794760"/>
            <a:ext cx="27432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2026.11.28 ─ 12.25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ご依頼内容の整理</a:t>
            </a:r>
            <a:endParaRPr lang="en-US" sz="2400" dirty="0"/>
          </a:p>
        </p:txBody>
      </p:sp>
      <p:graphicFrame>
        <p:nvGraphicFramePr>
          <p:cNvPr id="3" name="request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51206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7490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ご依頼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クリスマス仕様のスノードームワークショップパッケージ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コスプレ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サンタ・雪だるま・トナカイ ほか（全週で展開）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WSキット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4週実施分（1地区 300個／週）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開催中ツール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クリスマスアーチ ほか、開催中が伝わる装飾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ポスター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B0サイズ 10枚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数量・配送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上記10セット ／ 全国10地区へ配送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pic>
        <p:nvPicPr>
          <p:cNvPr id="4" name="img_ship" descr="全国10地区への配送イラスト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52160" y="1005840"/>
            <a:ext cx="2834640" cy="16002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852160" y="2697480"/>
            <a:ext cx="28346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配送先 10地区</a:t>
            </a:r>
            <a:endParaRPr lang="en-US" sz="1400" dirty="0"/>
          </a:p>
        </p:txBody>
      </p:sp>
      <p:sp>
        <p:nvSpPr>
          <p:cNvPr id="6" name="area_0"/>
          <p:cNvSpPr/>
          <p:nvPr/>
        </p:nvSpPr>
        <p:spPr>
          <a:xfrm>
            <a:off x="5852160" y="3063240"/>
            <a:ext cx="1371600" cy="265176"/>
          </a:xfrm>
          <a:prstGeom prst="roundRect">
            <a:avLst>
              <a:gd name="adj" fmla="val 17241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5852160" y="3063240"/>
            <a:ext cx="1371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北海道</a:t>
            </a:r>
            <a:endParaRPr lang="en-US" sz="1100" dirty="0"/>
          </a:p>
        </p:txBody>
      </p:sp>
      <p:sp>
        <p:nvSpPr>
          <p:cNvPr id="8" name="area_1"/>
          <p:cNvSpPr/>
          <p:nvPr/>
        </p:nvSpPr>
        <p:spPr>
          <a:xfrm>
            <a:off x="7315200" y="3063240"/>
            <a:ext cx="1371600" cy="265176"/>
          </a:xfrm>
          <a:prstGeom prst="roundRect">
            <a:avLst>
              <a:gd name="adj" fmla="val 17241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315200" y="3063240"/>
            <a:ext cx="1371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東北</a:t>
            </a:r>
            <a:endParaRPr lang="en-US" sz="1100" dirty="0"/>
          </a:p>
        </p:txBody>
      </p:sp>
      <p:sp>
        <p:nvSpPr>
          <p:cNvPr id="10" name="area_2"/>
          <p:cNvSpPr/>
          <p:nvPr/>
        </p:nvSpPr>
        <p:spPr>
          <a:xfrm>
            <a:off x="5852160" y="3374136"/>
            <a:ext cx="1371600" cy="265176"/>
          </a:xfrm>
          <a:prstGeom prst="roundRect">
            <a:avLst>
              <a:gd name="adj" fmla="val 17241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852160" y="3374136"/>
            <a:ext cx="1371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関信越</a:t>
            </a:r>
            <a:endParaRPr lang="en-US" sz="1100" dirty="0"/>
          </a:p>
        </p:txBody>
      </p:sp>
      <p:sp>
        <p:nvSpPr>
          <p:cNvPr id="12" name="area_3"/>
          <p:cNvSpPr/>
          <p:nvPr/>
        </p:nvSpPr>
        <p:spPr>
          <a:xfrm>
            <a:off x="7315200" y="3374136"/>
            <a:ext cx="1371600" cy="265176"/>
          </a:xfrm>
          <a:prstGeom prst="roundRect">
            <a:avLst>
              <a:gd name="adj" fmla="val 17241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315200" y="3374136"/>
            <a:ext cx="1371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首都圏</a:t>
            </a:r>
            <a:endParaRPr lang="en-US" sz="1100" dirty="0"/>
          </a:p>
        </p:txBody>
      </p:sp>
      <p:sp>
        <p:nvSpPr>
          <p:cNvPr id="14" name="area_4"/>
          <p:cNvSpPr/>
          <p:nvPr/>
        </p:nvSpPr>
        <p:spPr>
          <a:xfrm>
            <a:off x="5852160" y="3685032"/>
            <a:ext cx="1371600" cy="265176"/>
          </a:xfrm>
          <a:prstGeom prst="roundRect">
            <a:avLst>
              <a:gd name="adj" fmla="val 17241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852160" y="3685032"/>
            <a:ext cx="1371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東海</a:t>
            </a:r>
            <a:endParaRPr lang="en-US" sz="1100" dirty="0"/>
          </a:p>
        </p:txBody>
      </p:sp>
      <p:sp>
        <p:nvSpPr>
          <p:cNvPr id="16" name="area_5"/>
          <p:cNvSpPr/>
          <p:nvPr/>
        </p:nvSpPr>
        <p:spPr>
          <a:xfrm>
            <a:off x="7315200" y="3685032"/>
            <a:ext cx="1371600" cy="265176"/>
          </a:xfrm>
          <a:prstGeom prst="roundRect">
            <a:avLst>
              <a:gd name="adj" fmla="val 17241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315200" y="3685032"/>
            <a:ext cx="1371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北陸</a:t>
            </a:r>
            <a:endParaRPr lang="en-US" sz="1100" dirty="0"/>
          </a:p>
        </p:txBody>
      </p:sp>
      <p:sp>
        <p:nvSpPr>
          <p:cNvPr id="18" name="area_6"/>
          <p:cNvSpPr/>
          <p:nvPr/>
        </p:nvSpPr>
        <p:spPr>
          <a:xfrm>
            <a:off x="5852160" y="3995928"/>
            <a:ext cx="1371600" cy="265176"/>
          </a:xfrm>
          <a:prstGeom prst="roundRect">
            <a:avLst>
              <a:gd name="adj" fmla="val 17241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852160" y="3995928"/>
            <a:ext cx="1371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関西</a:t>
            </a:r>
            <a:endParaRPr lang="en-US" sz="1100" dirty="0"/>
          </a:p>
        </p:txBody>
      </p:sp>
      <p:sp>
        <p:nvSpPr>
          <p:cNvPr id="20" name="area_7"/>
          <p:cNvSpPr/>
          <p:nvPr/>
        </p:nvSpPr>
        <p:spPr>
          <a:xfrm>
            <a:off x="7315200" y="3995928"/>
            <a:ext cx="1371600" cy="265176"/>
          </a:xfrm>
          <a:prstGeom prst="roundRect">
            <a:avLst>
              <a:gd name="adj" fmla="val 17241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315200" y="3995928"/>
            <a:ext cx="1371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中国</a:t>
            </a:r>
            <a:endParaRPr lang="en-US" sz="1100" dirty="0"/>
          </a:p>
        </p:txBody>
      </p:sp>
      <p:sp>
        <p:nvSpPr>
          <p:cNvPr id="22" name="area_8"/>
          <p:cNvSpPr/>
          <p:nvPr/>
        </p:nvSpPr>
        <p:spPr>
          <a:xfrm>
            <a:off x="5852160" y="4306824"/>
            <a:ext cx="1371600" cy="265176"/>
          </a:xfrm>
          <a:prstGeom prst="roundRect">
            <a:avLst>
              <a:gd name="adj" fmla="val 17241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852160" y="4306824"/>
            <a:ext cx="1371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四国</a:t>
            </a:r>
            <a:endParaRPr lang="en-US" sz="1100" dirty="0"/>
          </a:p>
        </p:txBody>
      </p:sp>
      <p:sp>
        <p:nvSpPr>
          <p:cNvPr id="24" name="area_9"/>
          <p:cNvSpPr/>
          <p:nvPr/>
        </p:nvSpPr>
        <p:spPr>
          <a:xfrm>
            <a:off x="7315200" y="4306824"/>
            <a:ext cx="1371600" cy="265176"/>
          </a:xfrm>
          <a:prstGeom prst="roundRect">
            <a:avLst>
              <a:gd name="adj" fmla="val 17241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315200" y="4306824"/>
            <a:ext cx="1371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九州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本企画の3つの目的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無料のクリスマス体験で家族連れを惹きつけ、毎週の来店と商談機会を創出します。</a:t>
            </a:r>
            <a:endParaRPr lang="en-US" sz="1500" dirty="0"/>
          </a:p>
        </p:txBody>
      </p:sp>
      <p:sp>
        <p:nvSpPr>
          <p:cNvPr id="4" name="goal_1"/>
          <p:cNvSpPr/>
          <p:nvPr/>
        </p:nvSpPr>
        <p:spPr>
          <a:xfrm>
            <a:off x="457200" y="1508760"/>
            <a:ext cx="2606040" cy="310896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goal_img_1" descr="家族連れが自然に集まるのイラスト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00200"/>
            <a:ext cx="2423160" cy="1325880"/>
          </a:xfrm>
          <a:prstGeom prst="rect">
            <a:avLst/>
          </a:prstGeom>
        </p:spPr>
      </p:pic>
      <p:sp>
        <p:nvSpPr>
          <p:cNvPr id="6" name="goal_badge_1"/>
          <p:cNvSpPr/>
          <p:nvPr/>
        </p:nvSpPr>
        <p:spPr>
          <a:xfrm>
            <a:off x="594360" y="303580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3035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143000" y="2990088"/>
            <a:ext cx="18288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家族連れが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自然に集まる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3611880"/>
            <a:ext cx="233172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クリスマスアーチ＋コスプレ＋B0ボードPOPで、通行中のファミリー層をブースへ誘導。</a:t>
            </a:r>
            <a:endParaRPr lang="en-US" sz="1100" dirty="0"/>
          </a:p>
        </p:txBody>
      </p:sp>
      <p:sp>
        <p:nvSpPr>
          <p:cNvPr id="10" name="goal_2"/>
          <p:cNvSpPr/>
          <p:nvPr/>
        </p:nvSpPr>
        <p:spPr>
          <a:xfrm>
            <a:off x="3246120" y="1508760"/>
            <a:ext cx="2606040" cy="310896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1" name="goal_img_2" descr="毎週ちがう作品で再来店のイラスト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337560" y="1600200"/>
            <a:ext cx="2423160" cy="1325880"/>
          </a:xfrm>
          <a:prstGeom prst="rect">
            <a:avLst/>
          </a:prstGeom>
        </p:spPr>
      </p:pic>
      <p:sp>
        <p:nvSpPr>
          <p:cNvPr id="12" name="goal_badge_2"/>
          <p:cNvSpPr/>
          <p:nvPr/>
        </p:nvSpPr>
        <p:spPr>
          <a:xfrm>
            <a:off x="3383280" y="303580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3383280" y="3035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3931920" y="2990088"/>
            <a:ext cx="18288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毎週ちがう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作品で再来店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3383280" y="3611880"/>
            <a:ext cx="233172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スノードームとスクイーズを週替わりで。型・モチーフも変え、4週連続の来店動機に。</a:t>
            </a:r>
            <a:endParaRPr lang="en-US" sz="1100" dirty="0"/>
          </a:p>
        </p:txBody>
      </p:sp>
      <p:sp>
        <p:nvSpPr>
          <p:cNvPr id="16" name="goal_3"/>
          <p:cNvSpPr/>
          <p:nvPr/>
        </p:nvSpPr>
        <p:spPr>
          <a:xfrm>
            <a:off x="6035040" y="1508760"/>
            <a:ext cx="2606040" cy="310896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7" name="goal_img_3" descr="親子分離で商談機会を創出のイラスト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126480" y="1600200"/>
            <a:ext cx="2423160" cy="1325880"/>
          </a:xfrm>
          <a:prstGeom prst="rect">
            <a:avLst/>
          </a:prstGeom>
        </p:spPr>
      </p:pic>
      <p:sp>
        <p:nvSpPr>
          <p:cNvPr id="18" name="goal_badge_3"/>
          <p:cNvSpPr/>
          <p:nvPr/>
        </p:nvSpPr>
        <p:spPr>
          <a:xfrm>
            <a:off x="6172200" y="303580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172200" y="3035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6720840" y="2990088"/>
            <a:ext cx="18288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親子分離で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商談機会を創出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6172200" y="3611880"/>
            <a:ext cx="233172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お子様は約20分の制作に集中。その間に保護者様をカウンターへご案内できます。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1セットの中身（×10セット）</a:t>
            </a:r>
            <a:endParaRPr lang="en-US" sz="2400" dirty="0"/>
          </a:p>
        </p:txBody>
      </p:sp>
      <p:pic>
        <p:nvPicPr>
          <p:cNvPr id="3" name="img_store_scene" descr="店頭ブースの完成イメー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60120"/>
            <a:ext cx="3611880" cy="36118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572000"/>
            <a:ext cx="3611880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店頭ブースの完成イメージ</a:t>
            </a:r>
            <a:endParaRPr lang="en-US" sz="900" dirty="0"/>
          </a:p>
        </p:txBody>
      </p:sp>
      <p:sp>
        <p:nvSpPr>
          <p:cNvPr id="5" name="part_0"/>
          <p:cNvSpPr/>
          <p:nvPr/>
        </p:nvSpPr>
        <p:spPr>
          <a:xfrm>
            <a:off x="4297680" y="960120"/>
            <a:ext cx="438912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6" name="part_img_0" descr="WSキット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52544" y="1005840"/>
            <a:ext cx="457200" cy="4572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937760" y="9875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WSキット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4937760" y="124358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1週に1種類（スノードーム週／スクイーズ週）</a:t>
            </a:r>
            <a:endParaRPr lang="en-US" sz="1000" dirty="0"/>
          </a:p>
        </p:txBody>
      </p:sp>
      <p:sp>
        <p:nvSpPr>
          <p:cNvPr id="9" name="part_1"/>
          <p:cNvSpPr/>
          <p:nvPr/>
        </p:nvSpPr>
        <p:spPr>
          <a:xfrm>
            <a:off x="4297680" y="1572768"/>
            <a:ext cx="438912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0" name="part_img_1" descr="クリスマスアーチ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352544" y="1618488"/>
            <a:ext cx="457200" cy="4572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937760" y="16002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クリスマスアーチ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4937760" y="185623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エアーディスプレイ（期間中レンタル）</a:t>
            </a:r>
            <a:endParaRPr lang="en-US" sz="1000" dirty="0"/>
          </a:p>
        </p:txBody>
      </p:sp>
      <p:sp>
        <p:nvSpPr>
          <p:cNvPr id="13" name="part_2"/>
          <p:cNvSpPr/>
          <p:nvPr/>
        </p:nvSpPr>
        <p:spPr>
          <a:xfrm>
            <a:off x="4297680" y="2185416"/>
            <a:ext cx="438912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4" name="part_img_2" descr="コスプレ衣装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352544" y="2231136"/>
            <a:ext cx="457200" cy="4572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937760" y="22128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コスプレ衣装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4937760" y="246888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サンタ・トナカイ・雪だるま・エルフ ほか</a:t>
            </a:r>
            <a:endParaRPr lang="en-US" sz="1000" dirty="0"/>
          </a:p>
        </p:txBody>
      </p:sp>
      <p:sp>
        <p:nvSpPr>
          <p:cNvPr id="17" name="part_3"/>
          <p:cNvSpPr/>
          <p:nvPr/>
        </p:nvSpPr>
        <p:spPr>
          <a:xfrm>
            <a:off x="4297680" y="2798064"/>
            <a:ext cx="438912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8" name="part_img_3" descr="B0ボードPOP 10枚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352544" y="2843784"/>
            <a:ext cx="457200" cy="4572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4937760" y="282549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B0ボードPOP 10枚</a:t>
            </a:r>
            <a:endParaRPr 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4937760" y="308152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4週の内容がひと目でわかるデザイン</a:t>
            </a:r>
            <a:endParaRPr lang="en-US" sz="1000" dirty="0"/>
          </a:p>
        </p:txBody>
      </p:sp>
      <p:sp>
        <p:nvSpPr>
          <p:cNvPr id="21" name="part_4"/>
          <p:cNvSpPr/>
          <p:nvPr/>
        </p:nvSpPr>
        <p:spPr>
          <a:xfrm>
            <a:off x="4297680" y="3410712"/>
            <a:ext cx="438912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2" name="part_img_4" descr="開催中ツール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4352544" y="3456432"/>
            <a:ext cx="457200" cy="45720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4937760" y="343814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開催中ツール</a:t>
            </a:r>
            <a:endParaRPr lang="en-US" sz="1300" dirty="0"/>
          </a:p>
        </p:txBody>
      </p:sp>
      <p:sp>
        <p:nvSpPr>
          <p:cNvPr id="24" name="Text 16"/>
          <p:cNvSpPr txBox="1"/>
          <p:nvPr/>
        </p:nvSpPr>
        <p:spPr>
          <a:xfrm>
            <a:off x="4937760" y="369417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のぼり・スタンド看板・テーブルクロス ほか</a:t>
            </a:r>
            <a:endParaRPr lang="en-US" sz="1000" dirty="0"/>
          </a:p>
        </p:txBody>
      </p:sp>
      <p:sp>
        <p:nvSpPr>
          <p:cNvPr id="25" name="part_5"/>
          <p:cNvSpPr/>
          <p:nvPr/>
        </p:nvSpPr>
        <p:spPr>
          <a:xfrm>
            <a:off x="4297680" y="4023360"/>
            <a:ext cx="438912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6" name="part_img_5" descr="運用マニュアル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4352544" y="4069080"/>
            <a:ext cx="457200" cy="45720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4937760" y="405079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運用マニュアル</a:t>
            </a:r>
            <a:endParaRPr lang="en-US" sz="1300" dirty="0"/>
          </a:p>
        </p:txBody>
      </p:sp>
      <p:sp>
        <p:nvSpPr>
          <p:cNvPr id="28" name="Text 19"/>
          <p:cNvSpPr txBox="1"/>
          <p:nvPr/>
        </p:nvSpPr>
        <p:spPr>
          <a:xfrm>
            <a:off x="4937760" y="430682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店舗スタッフ様だけで運営できる手順書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4週ローテーション（1週1コンテンツ）</a:t>
            </a:r>
            <a:endParaRPr lang="en-US" sz="2400" dirty="0"/>
          </a:p>
        </p:txBody>
      </p:sp>
      <p:sp>
        <p:nvSpPr>
          <p:cNvPr id="3" name="wk_head_0"/>
          <p:cNvSpPr/>
          <p:nvPr/>
        </p:nvSpPr>
        <p:spPr>
          <a:xfrm>
            <a:off x="457200" y="1005840"/>
            <a:ext cx="1920240" cy="685800"/>
          </a:xfrm>
          <a:prstGeom prst="roundRect">
            <a:avLst>
              <a:gd name="adj" fmla="val 1066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0584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第1週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11/28(土)〜12/4(金)</a:t>
            </a:r>
            <a:endParaRPr lang="en-US" sz="1400" dirty="0"/>
          </a:p>
        </p:txBody>
      </p:sp>
      <p:sp>
        <p:nvSpPr>
          <p:cNvPr id="5" name="wk_body_0"/>
          <p:cNvSpPr/>
          <p:nvPr/>
        </p:nvSpPr>
        <p:spPr>
          <a:xfrm>
            <a:off x="457200" y="1783080"/>
            <a:ext cx="1920240" cy="205740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6" name="wk_img_0" descr="スノードームのイラスト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810512"/>
            <a:ext cx="1005840" cy="10058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2816352"/>
            <a:ext cx="1737360" cy="9875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スノードーム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サンタモチーフ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コスプレ：サンタ／トナカイ</a:t>
            </a:r>
            <a:endParaRPr lang="en-US" sz="1400" dirty="0"/>
          </a:p>
        </p:txBody>
      </p:sp>
      <p:sp>
        <p:nvSpPr>
          <p:cNvPr id="8" name="wk_head_1"/>
          <p:cNvSpPr/>
          <p:nvPr/>
        </p:nvSpPr>
        <p:spPr>
          <a:xfrm>
            <a:off x="2560320" y="1005840"/>
            <a:ext cx="192024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560320" y="100584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第2週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12/5(土)〜12/11(金)</a:t>
            </a:r>
            <a:endParaRPr lang="en-US" sz="1400" dirty="0"/>
          </a:p>
        </p:txBody>
      </p:sp>
      <p:sp>
        <p:nvSpPr>
          <p:cNvPr id="10" name="wk_body_1"/>
          <p:cNvSpPr/>
          <p:nvPr/>
        </p:nvSpPr>
        <p:spPr>
          <a:xfrm>
            <a:off x="2560320" y="1783080"/>
            <a:ext cx="1920240" cy="205740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1" name="wk_img_1" descr="スクイーズのイラスト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0" y="1810512"/>
            <a:ext cx="1005840" cy="10058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651760" y="2816352"/>
            <a:ext cx="1737360" cy="9875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スクイーズ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ツリー・ブーツ型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コスプレ：雪だるま／エルフ</a:t>
            </a:r>
            <a:endParaRPr lang="en-US" sz="1400" dirty="0"/>
          </a:p>
        </p:txBody>
      </p:sp>
      <p:sp>
        <p:nvSpPr>
          <p:cNvPr id="13" name="wk_head_2"/>
          <p:cNvSpPr/>
          <p:nvPr/>
        </p:nvSpPr>
        <p:spPr>
          <a:xfrm>
            <a:off x="4663440" y="1005840"/>
            <a:ext cx="192024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663440" y="100584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第3週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12/12(土)〜12/18(金)</a:t>
            </a:r>
            <a:endParaRPr lang="en-US" sz="1400" dirty="0"/>
          </a:p>
        </p:txBody>
      </p:sp>
      <p:sp>
        <p:nvSpPr>
          <p:cNvPr id="15" name="wk_body_2"/>
          <p:cNvSpPr/>
          <p:nvPr/>
        </p:nvSpPr>
        <p:spPr>
          <a:xfrm>
            <a:off x="4663440" y="1783080"/>
            <a:ext cx="1920240" cy="205740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6" name="wk_img_2" descr="スクイーズのイラスト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1810512"/>
            <a:ext cx="1005840" cy="10058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754880" y="2816352"/>
            <a:ext cx="1737360" cy="9875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スクイーズ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雪だるま・プレゼント型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コスプレ：トナカイ／ジンジャーブレッド</a:t>
            </a:r>
            <a:endParaRPr lang="en-US" sz="1400" dirty="0"/>
          </a:p>
        </p:txBody>
      </p:sp>
      <p:sp>
        <p:nvSpPr>
          <p:cNvPr id="18" name="wk_head_3"/>
          <p:cNvSpPr/>
          <p:nvPr/>
        </p:nvSpPr>
        <p:spPr>
          <a:xfrm>
            <a:off x="6766560" y="1005840"/>
            <a:ext cx="1920240" cy="685800"/>
          </a:xfrm>
          <a:prstGeom prst="roundRect">
            <a:avLst>
              <a:gd name="adj" fmla="val 1066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766560" y="100584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第4週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12/19(土)〜12/25(金)</a:t>
            </a:r>
            <a:endParaRPr lang="en-US" sz="1400" dirty="0"/>
          </a:p>
        </p:txBody>
      </p:sp>
      <p:sp>
        <p:nvSpPr>
          <p:cNvPr id="20" name="wk_body_3"/>
          <p:cNvSpPr/>
          <p:nvPr/>
        </p:nvSpPr>
        <p:spPr>
          <a:xfrm>
            <a:off x="6766560" y="1783080"/>
            <a:ext cx="1920240" cy="205740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1" name="wk_img_3" descr="スノードームのイラスト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0" y="1810512"/>
            <a:ext cx="1005840" cy="100584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858000" y="2816352"/>
            <a:ext cx="1737360" cy="9875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スノードーム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雪だるま・トナカイモチーフ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コスプレ：サンタ（男女）／ツリー</a:t>
            </a:r>
            <a:endParaRPr lang="en-US" sz="1400" dirty="0"/>
          </a:p>
        </p:txBody>
      </p:sp>
      <p:sp>
        <p:nvSpPr>
          <p:cNvPr id="23" name="rot_note"/>
          <p:cNvSpPr/>
          <p:nvPr/>
        </p:nvSpPr>
        <p:spPr>
          <a:xfrm>
            <a:off x="457200" y="3931920"/>
            <a:ext cx="8229600" cy="685800"/>
          </a:xfrm>
          <a:prstGeom prst="roundRect">
            <a:avLst>
              <a:gd name="adj" fmla="val 10667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94360" y="3959352"/>
            <a:ext cx="795528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1週間に実施するのは1種類だけ。スノードーム週（第1・4週）とスクイーズ週（第2・3週）で、キットを入れ替えます。モチーフ・衣装も毎週変えて“新作”として訴求します。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スノードーム作り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96112"/>
            <a:ext cx="2011680" cy="292608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第1週・第4週に実施</a:t>
            </a:r>
            <a:endParaRPr lang="en-US" sz="1100" dirty="0"/>
          </a:p>
        </p:txBody>
      </p:sp>
      <p:pic>
        <p:nvPicPr>
          <p:cNvPr id="4" name="img_snowdome" descr="スノードームの完成イメー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3200400" cy="3200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526280"/>
            <a:ext cx="3200400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完成イメージ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3931920" y="1325880"/>
            <a:ext cx="11887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内容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120640" y="1325880"/>
            <a:ext cx="356616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ミニフィギュアとラメ雪を選んで、自分だけのスノードームを制作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3931920" y="1965960"/>
            <a:ext cx="11887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モチーフ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120640" y="1965960"/>
            <a:ext cx="356616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第1週：サンタ／第4週：雪だるま・トナカイ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3931920" y="2606040"/>
            <a:ext cx="11887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所要時間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120640" y="2606040"/>
            <a:ext cx="356616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約15〜20分／人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3931920" y="3246120"/>
            <a:ext cx="11887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対象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120640" y="3246120"/>
            <a:ext cx="356616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3歳〜小学生（未就学児は保護者様と一緒に）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931920" y="3886200"/>
            <a:ext cx="11887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持ち帰り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5120640" y="3886200"/>
            <a:ext cx="356616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冬のインテリアとして飾れる記念品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スノードームキット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96112"/>
            <a:ext cx="2011680" cy="292608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第1週・第4週に実施</a:t>
            </a:r>
            <a:endParaRPr lang="en-US" sz="1100" dirty="0"/>
          </a:p>
        </p:txBody>
      </p:sp>
      <p:pic>
        <p:nvPicPr>
          <p:cNvPr id="4" name="img_kit_snowdome" descr="スノードームキットのイメー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3200400" cy="3200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526280"/>
            <a:ext cx="3200400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※AI生成のイメージ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3931920" y="1325880"/>
            <a:ext cx="475488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キット内容（1人分）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931920" y="1691640"/>
            <a:ext cx="475488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ドーム・台座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ミニフィギュア（サンタ／ツリー／雪だるま等）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ラメ雪・シルバーフレーク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のり・手順カード</a:t>
            </a:r>
            <a:endParaRPr lang="en-US" sz="1300" dirty="0"/>
          </a:p>
        </p:txBody>
      </p:sp>
      <p:sp>
        <p:nvSpPr>
          <p:cNvPr id="8" name="kit_qty_kit_snowdome"/>
          <p:cNvSpPr/>
          <p:nvPr/>
        </p:nvSpPr>
        <p:spPr>
          <a:xfrm>
            <a:off x="3931920" y="3291840"/>
            <a:ext cx="475488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069080" y="3346704"/>
            <a:ext cx="4480560" cy="7132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1地区 300個／週 × 2週 ＝ 600個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4週分を開始前に一括配送（10地区で計6,000個）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スクイーズ作り（ぷにラボ）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96112"/>
            <a:ext cx="2011680" cy="292608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第2週・第3週に実施</a:t>
            </a:r>
            <a:endParaRPr lang="en-US" sz="1100" dirty="0"/>
          </a:p>
        </p:txBody>
      </p:sp>
      <p:pic>
        <p:nvPicPr>
          <p:cNvPr id="4" name="img_squeeze_event" descr="ドコモ店頭でのスクイーズ作成体験ブー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2194560" cy="2926080"/>
          </a:xfrm>
          <a:prstGeom prst="rect">
            <a:avLst/>
          </a:prstGeom>
        </p:spPr>
      </p:pic>
      <p:pic>
        <p:nvPicPr>
          <p:cNvPr id="5" name="img_punilab_paw" descr="肉球スクイーズの完成品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325880"/>
            <a:ext cx="2194560" cy="219456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57200" y="4297680"/>
            <a:ext cx="21945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ドコモ店頭での実施風景（ヨドバシ梅田）</a:t>
            </a:r>
            <a:endParaRPr lang="en-US" sz="900" dirty="0"/>
          </a:p>
        </p:txBody>
      </p:sp>
      <p:sp>
        <p:nvSpPr>
          <p:cNvPr id="7" name="Text 3"/>
          <p:cNvSpPr txBox="1"/>
          <p:nvPr/>
        </p:nvSpPr>
        <p:spPr>
          <a:xfrm>
            <a:off x="2743200" y="3566160"/>
            <a:ext cx="219456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完成品（肉球スクイーズ）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5120640" y="1325880"/>
            <a:ext cx="35661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内容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5120640" y="1600200"/>
            <a:ext cx="35661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型とカラーを選び、液を流し込む。型のまま持ち帰り、おうちで完成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5120640" y="2130552"/>
            <a:ext cx="35661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モチーフ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5120640" y="2404872"/>
            <a:ext cx="35661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第2週：ツリー・ブーツ型／第3週：雪だるま・プレゼント型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5120640" y="2935224"/>
            <a:ext cx="35661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所要時間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5120640" y="3209544"/>
            <a:ext cx="35661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会場作業 約20分（＋自宅仕上げ）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120640" y="3739896"/>
            <a:ext cx="35661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実績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120640" y="4014216"/>
            <a:ext cx="35661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ドコモショップ・量販店のドコモブースで実施済み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スクイーズキット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96112"/>
            <a:ext cx="2011680" cy="292608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第2週・第3週に実施</a:t>
            </a:r>
            <a:endParaRPr lang="en-US" sz="1100" dirty="0"/>
          </a:p>
        </p:txBody>
      </p:sp>
      <p:pic>
        <p:nvPicPr>
          <p:cNvPr id="4" name="img_kit_squeeze" descr="スクイーズキットのイメー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3200400" cy="3200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526280"/>
            <a:ext cx="3200400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※AI生成のイメージ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3931920" y="1325880"/>
            <a:ext cx="475488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キット内容（1人分）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931920" y="1691640"/>
            <a:ext cx="475488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クリスマス型シリコンモールド（ツリー／ブーツ／雪だるま／プレゼント）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計量カップ・カラー液（赤／緑／白）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マジックパウダー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お持ち帰り袋・手順カード</a:t>
            </a:r>
            <a:endParaRPr lang="en-US" sz="1300" dirty="0"/>
          </a:p>
        </p:txBody>
      </p:sp>
      <p:sp>
        <p:nvSpPr>
          <p:cNvPr id="8" name="kit_qty_kit_squeeze"/>
          <p:cNvSpPr/>
          <p:nvPr/>
        </p:nvSpPr>
        <p:spPr>
          <a:xfrm>
            <a:off x="3931920" y="3291840"/>
            <a:ext cx="475488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069080" y="3346704"/>
            <a:ext cx="4480560" cy="7132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1地区 300個／週 × 2週 ＝ 600個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4週分を開始前に一括配送（10地区で計6,000個）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親子分離の運用設計</a:t>
            </a:r>
            <a:endParaRPr lang="en-US" sz="2400" dirty="0"/>
          </a:p>
        </p:txBody>
      </p:sp>
      <p:pic>
        <p:nvPicPr>
          <p:cNvPr id="3" name="img_parent_child" descr="お子様は制作、保護者様は商談のイラスト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3017520" cy="3017520"/>
          </a:xfrm>
          <a:prstGeom prst="rect">
            <a:avLst/>
          </a:prstGeom>
        </p:spPr>
      </p:pic>
      <p:sp>
        <p:nvSpPr>
          <p:cNvPr id="4" name="pc_head_0"/>
          <p:cNvSpPr/>
          <p:nvPr/>
        </p:nvSpPr>
        <p:spPr>
          <a:xfrm>
            <a:off x="3657600" y="1005840"/>
            <a:ext cx="246888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3657600" y="1005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お子様　約20分</a:t>
            </a:r>
            <a:endParaRPr lang="en-US" sz="1400" dirty="0"/>
          </a:p>
        </p:txBody>
      </p:sp>
      <p:sp>
        <p:nvSpPr>
          <p:cNvPr id="6" name="pc_0_0"/>
          <p:cNvSpPr/>
          <p:nvPr/>
        </p:nvSpPr>
        <p:spPr>
          <a:xfrm>
            <a:off x="3657600" y="1572768"/>
            <a:ext cx="246888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pc_b_0_0"/>
          <p:cNvSpPr/>
          <p:nvPr/>
        </p:nvSpPr>
        <p:spPr>
          <a:xfrm>
            <a:off x="3730752" y="169164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730752" y="16916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4114800" y="1572768"/>
            <a:ext cx="196596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その週の作品の型・モチーフを選ぶ</a:t>
            </a:r>
            <a:endParaRPr lang="en-US" sz="1100" dirty="0"/>
          </a:p>
        </p:txBody>
      </p:sp>
      <p:sp>
        <p:nvSpPr>
          <p:cNvPr id="10" name="pc_0_1"/>
          <p:cNvSpPr/>
          <p:nvPr/>
        </p:nvSpPr>
        <p:spPr>
          <a:xfrm>
            <a:off x="3657600" y="2212848"/>
            <a:ext cx="246888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pc_b_0_1"/>
          <p:cNvSpPr/>
          <p:nvPr/>
        </p:nvSpPr>
        <p:spPr>
          <a:xfrm>
            <a:off x="3730752" y="233172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730752" y="2331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4114800" y="2212848"/>
            <a:ext cx="196596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見本と手順カードを見ながら制作に集中</a:t>
            </a:r>
            <a:endParaRPr lang="en-US" sz="1100" dirty="0"/>
          </a:p>
        </p:txBody>
      </p:sp>
      <p:sp>
        <p:nvSpPr>
          <p:cNvPr id="14" name="pc_0_2"/>
          <p:cNvSpPr/>
          <p:nvPr/>
        </p:nvSpPr>
        <p:spPr>
          <a:xfrm>
            <a:off x="3657600" y="2852928"/>
            <a:ext cx="246888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pc_b_0_2"/>
          <p:cNvSpPr/>
          <p:nvPr/>
        </p:nvSpPr>
        <p:spPr>
          <a:xfrm>
            <a:off x="3730752" y="297180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730752" y="2971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4114800" y="2852928"/>
            <a:ext cx="196596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完成した作品を袋に入れて受け取る</a:t>
            </a:r>
            <a:endParaRPr lang="en-US" sz="1100" dirty="0"/>
          </a:p>
        </p:txBody>
      </p:sp>
      <p:sp>
        <p:nvSpPr>
          <p:cNvPr id="18" name="pc_0_3"/>
          <p:cNvSpPr/>
          <p:nvPr/>
        </p:nvSpPr>
        <p:spPr>
          <a:xfrm>
            <a:off x="3657600" y="3493008"/>
            <a:ext cx="246888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pc_b_0_3"/>
          <p:cNvSpPr/>
          <p:nvPr/>
        </p:nvSpPr>
        <p:spPr>
          <a:xfrm>
            <a:off x="3730752" y="361188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730752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4114800" y="3493008"/>
            <a:ext cx="196596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作品を持って保護者様と合流</a:t>
            </a:r>
            <a:endParaRPr lang="en-US" sz="1100" dirty="0"/>
          </a:p>
        </p:txBody>
      </p:sp>
      <p:sp>
        <p:nvSpPr>
          <p:cNvPr id="22" name="pc_head_1"/>
          <p:cNvSpPr/>
          <p:nvPr/>
        </p:nvSpPr>
        <p:spPr>
          <a:xfrm>
            <a:off x="6217920" y="1005840"/>
            <a:ext cx="2468880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217920" y="1005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保護者様　約20分</a:t>
            </a:r>
            <a:endParaRPr lang="en-US" sz="1400" dirty="0"/>
          </a:p>
        </p:txBody>
      </p:sp>
      <p:sp>
        <p:nvSpPr>
          <p:cNvPr id="24" name="pc_1_0"/>
          <p:cNvSpPr/>
          <p:nvPr/>
        </p:nvSpPr>
        <p:spPr>
          <a:xfrm>
            <a:off x="6217920" y="1572768"/>
            <a:ext cx="246888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pc_b_1_0"/>
          <p:cNvSpPr/>
          <p:nvPr/>
        </p:nvSpPr>
        <p:spPr>
          <a:xfrm>
            <a:off x="6291072" y="1691640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291072" y="16916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6675120" y="1572768"/>
            <a:ext cx="196596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隣接の商談カウンターへご案内</a:t>
            </a:r>
            <a:endParaRPr lang="en-US" sz="1100" dirty="0"/>
          </a:p>
        </p:txBody>
      </p:sp>
      <p:sp>
        <p:nvSpPr>
          <p:cNvPr id="28" name="pc_1_1"/>
          <p:cNvSpPr/>
          <p:nvPr/>
        </p:nvSpPr>
        <p:spPr>
          <a:xfrm>
            <a:off x="6217920" y="2212848"/>
            <a:ext cx="246888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pc_b_1_1"/>
          <p:cNvSpPr/>
          <p:nvPr/>
        </p:nvSpPr>
        <p:spPr>
          <a:xfrm>
            <a:off x="6291072" y="2331720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291072" y="2331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6675120" y="2212848"/>
            <a:ext cx="196596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料金プラン・機種変更のご相談</a:t>
            </a:r>
            <a:endParaRPr lang="en-US" sz="1100" dirty="0"/>
          </a:p>
        </p:txBody>
      </p:sp>
      <p:sp>
        <p:nvSpPr>
          <p:cNvPr id="32" name="pc_1_2"/>
          <p:cNvSpPr/>
          <p:nvPr/>
        </p:nvSpPr>
        <p:spPr>
          <a:xfrm>
            <a:off x="6217920" y="2852928"/>
            <a:ext cx="246888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pc_b_1_2"/>
          <p:cNvSpPr/>
          <p:nvPr/>
        </p:nvSpPr>
        <p:spPr>
          <a:xfrm>
            <a:off x="6291072" y="2971800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291072" y="2971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6675120" y="2852928"/>
            <a:ext cx="196596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見積ご依頼でクリスマス特典をご案内</a:t>
            </a:r>
            <a:endParaRPr lang="en-US" sz="1100" dirty="0"/>
          </a:p>
        </p:txBody>
      </p:sp>
      <p:sp>
        <p:nvSpPr>
          <p:cNvPr id="36" name="pc_1_3"/>
          <p:cNvSpPr/>
          <p:nvPr/>
        </p:nvSpPr>
        <p:spPr>
          <a:xfrm>
            <a:off x="6217920" y="3493008"/>
            <a:ext cx="246888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pc_b_1_3"/>
          <p:cNvSpPr/>
          <p:nvPr/>
        </p:nvSpPr>
        <p:spPr>
          <a:xfrm>
            <a:off x="6291072" y="3611880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6291072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6675120" y="3493008"/>
            <a:ext cx="196596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お子様の完成作品を一緒に確認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457200" y="4224528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運営スタッフの派遣はなし。店舗スタッフ様1名でも回せるよう、手順カードと運用マニュアルを同梱します。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クリスマスアーチ（開催中ツールの主役）</a:t>
            </a:r>
            <a:endParaRPr lang="en-US" sz="2400" dirty="0"/>
          </a:p>
        </p:txBody>
      </p:sp>
      <p:pic>
        <p:nvPicPr>
          <p:cNvPr id="3" name="img_arch" descr="店頭に設置したクリスマスアーチのイメー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3429000" cy="3429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462272"/>
            <a:ext cx="342900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設置イメージ（AI生成）</a:t>
            </a:r>
            <a:endParaRPr lang="en-US" sz="1000" dirty="0"/>
          </a:p>
        </p:txBody>
      </p:sp>
      <p:pic>
        <p:nvPicPr>
          <p:cNvPr id="5" name="img_arch_ref" descr="アーチ参考商品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3429000"/>
            <a:ext cx="1143000" cy="113385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675120" y="4297680"/>
            <a:ext cx="8229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参考商品</a:t>
            </a:r>
            <a:endParaRPr lang="en-US" sz="1000" dirty="0"/>
          </a:p>
        </p:txBody>
      </p:sp>
      <p:sp>
        <p:nvSpPr>
          <p:cNvPr id="7" name="arch_badge_0"/>
          <p:cNvSpPr/>
          <p:nvPr/>
        </p:nvSpPr>
        <p:spPr>
          <a:xfrm>
            <a:off x="4206240" y="10515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4206240" y="1051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4709160" y="1024128"/>
            <a:ext cx="39776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遠くからでも目立つ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4709160" y="1344168"/>
            <a:ext cx="39776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サンタ＆スノーマン付きのエアーアーチを入口に設置。開催中がひと目で伝わる。</a:t>
            </a:r>
            <a:endParaRPr lang="en-US" sz="1200" dirty="0"/>
          </a:p>
        </p:txBody>
      </p:sp>
      <p:sp>
        <p:nvSpPr>
          <p:cNvPr id="11" name="arch_badge_1"/>
          <p:cNvSpPr/>
          <p:nvPr/>
        </p:nvSpPr>
        <p:spPr>
          <a:xfrm>
            <a:off x="4206240" y="18288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20624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4709160" y="1801368"/>
            <a:ext cx="39776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フォトスポットに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709160" y="2121408"/>
            <a:ext cx="39776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アーチ前での記念撮影がSNS投稿のきっかけに。</a:t>
            </a:r>
            <a:endParaRPr lang="en-US" sz="1200" dirty="0"/>
          </a:p>
        </p:txBody>
      </p:sp>
      <p:sp>
        <p:nvSpPr>
          <p:cNvPr id="15" name="arch_badge_2"/>
          <p:cNvSpPr/>
          <p:nvPr/>
        </p:nvSpPr>
        <p:spPr>
          <a:xfrm>
            <a:off x="4206240" y="26060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206240" y="2606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4709160" y="2578608"/>
            <a:ext cx="39776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期間中レンタル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4709160" y="2898648"/>
            <a:ext cx="39776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4週の期間中は返却不要。終了後に着払いで返送。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ワークショップ開催中ツール（デザイン案）</a:t>
            </a:r>
            <a:endParaRPr lang="en-US" sz="2400" dirty="0"/>
          </a:p>
        </p:txBody>
      </p:sp>
      <p:pic>
        <p:nvPicPr>
          <p:cNvPr id="3" name="img_tablecloth" descr="テーブルクロスデザイン案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960120"/>
            <a:ext cx="2560320" cy="23317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383280"/>
            <a:ext cx="256032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テーブルクロス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703320"/>
            <a:ext cx="25603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赤地に雪の結晶とヒイラギ柄。ミニツリー・LEDライトと一緒に</a:t>
            </a:r>
            <a:endParaRPr lang="en-US" sz="1100" dirty="0"/>
          </a:p>
        </p:txBody>
      </p:sp>
      <p:pic>
        <p:nvPicPr>
          <p:cNvPr id="6" name="img_nobori" descr="のぼりデザイン案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760" y="960120"/>
            <a:ext cx="1554480" cy="23317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617720" y="1325880"/>
            <a:ext cx="2194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chemeClr val="tx2"/>
                </a:solidFill>
              </a:rPr>
              <a:t>ク</a:t>
            </a:r>
            <a:endParaRPr lang="en-US" sz="1000" dirty="0"/>
          </a:p>
          <a:p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chemeClr val="tx2"/>
                </a:solidFill>
              </a:rPr>
              <a:t>リ</a:t>
            </a:r>
            <a:endParaRPr lang="en-US" sz="1000" dirty="0"/>
          </a:p>
          <a:p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chemeClr val="tx2"/>
                </a:solidFill>
              </a:rPr>
              <a:t>ス</a:t>
            </a:r>
            <a:endParaRPr lang="en-US" sz="1000" dirty="0"/>
          </a:p>
          <a:p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chemeClr val="tx2"/>
                </a:solidFill>
              </a:rPr>
              <a:t>マ</a:t>
            </a:r>
            <a:endParaRPr lang="en-US" sz="1000" dirty="0"/>
          </a:p>
          <a:p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chemeClr val="tx2"/>
                </a:solidFill>
              </a:rPr>
              <a:t>ス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4407408" y="1325880"/>
            <a:ext cx="2194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chemeClr val="tx2"/>
                </a:solidFill>
              </a:rPr>
              <a:t>W</a:t>
            </a:r>
            <a:endParaRPr lang="en-US" sz="1000" dirty="0"/>
          </a:p>
          <a:p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chemeClr val="tx2"/>
                </a:solidFill>
              </a:rPr>
              <a:t>S</a:t>
            </a:r>
            <a:endParaRPr lang="en-US" sz="1000" dirty="0"/>
          </a:p>
          <a:p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chemeClr val="tx2"/>
                </a:solidFill>
              </a:rPr>
              <a:t>開</a:t>
            </a:r>
            <a:endParaRPr lang="en-US" sz="1000" dirty="0"/>
          </a:p>
          <a:p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chemeClr val="tx2"/>
                </a:solidFill>
              </a:rPr>
              <a:t>催</a:t>
            </a:r>
            <a:endParaRPr lang="en-US" sz="1000" dirty="0"/>
          </a:p>
          <a:p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chemeClr val="tx2"/>
                </a:solidFill>
              </a:rPr>
              <a:t>中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3291840" y="3383280"/>
            <a:ext cx="256032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のぼり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3291840" y="3703320"/>
            <a:ext cx="25603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薄い赤×雪の結晶。遠目でも開催がわかる縦型</a:t>
            </a:r>
            <a:endParaRPr lang="en-US" sz="1100" dirty="0"/>
          </a:p>
        </p:txBody>
      </p:sp>
      <p:pic>
        <p:nvPicPr>
          <p:cNvPr id="11" name="img_stand_sign" descr="スタンド看板デザイン案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126480" y="960120"/>
            <a:ext cx="2560320" cy="23317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040880" y="1645920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ただいま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開催中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6126480" y="3383280"/>
            <a:ext cx="256032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スタンド看板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6126480" y="3703320"/>
            <a:ext cx="25603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ツリー型A型看板「ただいまワークショップ開催中」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457200" y="4315968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その他：吊り下げPOP（雪の結晶）／作品ディスプレイ台／週替わり告知カード「来週はこれがつくれる！」　※画像はAI生成のイメージ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コスプレ（全週で週替わり展開・Amazon調達）</a:t>
            </a:r>
            <a:endParaRPr lang="en-US" sz="2400" dirty="0"/>
          </a:p>
        </p:txBody>
      </p:sp>
      <p:sp>
        <p:nvSpPr>
          <p:cNvPr id="3" name="cos_0"/>
          <p:cNvSpPr/>
          <p:nvPr/>
        </p:nvSpPr>
        <p:spPr>
          <a:xfrm>
            <a:off x="457200" y="96012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img_cos_santa" descr="サンタ（男女）の衣装イメージ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051560"/>
            <a:ext cx="1143000" cy="1417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783080" y="1069848"/>
            <a:ext cx="1234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サンタ（男女）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1783080" y="1527048"/>
            <a:ext cx="123444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検索語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サンタ コスプレ 大人 セット</a:t>
            </a:r>
            <a:endParaRPr lang="en-US" sz="14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2,000〜5,000円</a:t>
            </a:r>
            <a:endParaRPr lang="en-US" sz="1400" dirty="0"/>
          </a:p>
        </p:txBody>
      </p:sp>
      <p:sp>
        <p:nvSpPr>
          <p:cNvPr id="7" name="cos_1"/>
          <p:cNvSpPr/>
          <p:nvPr/>
        </p:nvSpPr>
        <p:spPr>
          <a:xfrm>
            <a:off x="3246120" y="96012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8" name="img_cos_reindeer" descr="トナカイの衣装イメージ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337560" y="1051560"/>
            <a:ext cx="1143000" cy="1417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0" y="1069848"/>
            <a:ext cx="1234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トナカイ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4572000" y="1527048"/>
            <a:ext cx="123444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検索語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トナカイ 着ぐるみ 大人</a:t>
            </a:r>
            <a:endParaRPr lang="en-US" sz="14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3,000〜6,000円</a:t>
            </a:r>
            <a:endParaRPr lang="en-US" sz="1400" dirty="0"/>
          </a:p>
        </p:txBody>
      </p:sp>
      <p:sp>
        <p:nvSpPr>
          <p:cNvPr id="11" name="cos_2"/>
          <p:cNvSpPr/>
          <p:nvPr/>
        </p:nvSpPr>
        <p:spPr>
          <a:xfrm>
            <a:off x="6035040" y="96012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2" name="img_cos_snowman" descr="雪だるまの衣装イメージ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126480" y="1051560"/>
            <a:ext cx="1143000" cy="1417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360920" y="1069848"/>
            <a:ext cx="1234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雪だるま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7360920" y="1527048"/>
            <a:ext cx="123444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検索語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雪だるま 着ぐるみ 大人</a:t>
            </a:r>
            <a:endParaRPr lang="en-US" sz="14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3,000〜6,000円</a:t>
            </a:r>
            <a:endParaRPr lang="en-US" sz="1400" dirty="0"/>
          </a:p>
        </p:txBody>
      </p:sp>
      <p:sp>
        <p:nvSpPr>
          <p:cNvPr id="15" name="cos_3"/>
          <p:cNvSpPr/>
          <p:nvPr/>
        </p:nvSpPr>
        <p:spPr>
          <a:xfrm>
            <a:off x="457200" y="26974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6" name="img_cos_elf" descr="エルフの衣装イメージ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48640" y="2788920"/>
            <a:ext cx="1143000" cy="1417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783080" y="2807208"/>
            <a:ext cx="1234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エルフ</a:t>
            </a:r>
            <a:endParaRPr lang="en-US" sz="1300" dirty="0"/>
          </a:p>
        </p:txBody>
      </p:sp>
      <p:sp>
        <p:nvSpPr>
          <p:cNvPr id="18" name="Text 12"/>
          <p:cNvSpPr txBox="1"/>
          <p:nvPr/>
        </p:nvSpPr>
        <p:spPr>
          <a:xfrm>
            <a:off x="1783080" y="3264408"/>
            <a:ext cx="123444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検索語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エルフ コスプレ 大人 クリスマス</a:t>
            </a:r>
            <a:endParaRPr lang="en-US" sz="14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2,500〜5,000円</a:t>
            </a:r>
            <a:endParaRPr lang="en-US" sz="1400" dirty="0"/>
          </a:p>
        </p:txBody>
      </p:sp>
      <p:sp>
        <p:nvSpPr>
          <p:cNvPr id="19" name="cos_4"/>
          <p:cNvSpPr/>
          <p:nvPr/>
        </p:nvSpPr>
        <p:spPr>
          <a:xfrm>
            <a:off x="3246120" y="26974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0" name="img_cos_gingerbread" descr="ジンジャー ブレッドの衣装イメージ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3337560" y="2788920"/>
            <a:ext cx="1143000" cy="1417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4572000" y="2807208"/>
            <a:ext cx="1234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ジンジャー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ブレッド</a:t>
            </a:r>
            <a:endParaRPr lang="en-US" sz="1300" dirty="0"/>
          </a:p>
        </p:txBody>
      </p:sp>
      <p:sp>
        <p:nvSpPr>
          <p:cNvPr id="22" name="Text 15"/>
          <p:cNvSpPr txBox="1"/>
          <p:nvPr/>
        </p:nvSpPr>
        <p:spPr>
          <a:xfrm>
            <a:off x="4572000" y="3264408"/>
            <a:ext cx="123444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検索語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ジンジャーブレッドマン 着ぐるみ</a:t>
            </a:r>
            <a:endParaRPr lang="en-US" sz="14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4,000〜8,000円</a:t>
            </a:r>
            <a:endParaRPr lang="en-US" sz="1400" dirty="0"/>
          </a:p>
        </p:txBody>
      </p:sp>
      <p:sp>
        <p:nvSpPr>
          <p:cNvPr id="23" name="cos_5"/>
          <p:cNvSpPr/>
          <p:nvPr/>
        </p:nvSpPr>
        <p:spPr>
          <a:xfrm>
            <a:off x="6035040" y="26974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4" name="img_cos_tree" descr="ツリーの衣装イメージ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126480" y="2788920"/>
            <a:ext cx="1143000" cy="141732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7360920" y="2807208"/>
            <a:ext cx="1234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ツリー</a:t>
            </a:r>
            <a:endParaRPr lang="en-US" sz="1300" dirty="0"/>
          </a:p>
        </p:txBody>
      </p:sp>
      <p:sp>
        <p:nvSpPr>
          <p:cNvPr id="26" name="Text 18"/>
          <p:cNvSpPr txBox="1"/>
          <p:nvPr/>
        </p:nvSpPr>
        <p:spPr>
          <a:xfrm>
            <a:off x="7360920" y="3264408"/>
            <a:ext cx="123444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検索語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クリスマスツリー ポンチョ 仮装</a:t>
            </a:r>
            <a:endParaRPr lang="en-US" sz="14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2,000〜4,000円</a:t>
            </a:r>
            <a:endParaRPr lang="en-US" sz="1400" dirty="0"/>
          </a:p>
        </p:txBody>
      </p:sp>
      <p:sp>
        <p:nvSpPr>
          <p:cNvPr id="27" name="Text 19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画像はAI生成のイメージ。価格は想定（税込・1着）で、Amazonの実商品・在庫は発注前に確認します。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B0ボードPOP　デザイン案</a:t>
            </a:r>
            <a:endParaRPr lang="en-US" sz="2400" dirty="0"/>
          </a:p>
        </p:txBody>
      </p:sp>
      <p:pic>
        <p:nvPicPr>
          <p:cNvPr id="3" name="img_poster_a" descr="B0ボードPOP A案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914400"/>
            <a:ext cx="1965960" cy="29260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68680" y="1207008"/>
            <a:ext cx="17830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あなただけの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スノードームを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つくろう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868680" y="3456432"/>
            <a:ext cx="1783080" cy="27432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11/28〜12/25　参加無料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931920"/>
            <a:ext cx="26060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A案　スノードーム主役</a:t>
            </a:r>
            <a:endParaRPr lang="en-US" sz="1300" dirty="0"/>
          </a:p>
        </p:txBody>
      </p:sp>
      <p:pic>
        <p:nvPicPr>
          <p:cNvPr id="7" name="img_poster_b" descr="B0ボードPOP B案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914400"/>
            <a:ext cx="1965960" cy="29260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657600" y="1016813"/>
            <a:ext cx="1783080" cy="298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毎週かわる！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3657600" y="3456432"/>
            <a:ext cx="1783080" cy="27432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11/28〜12/25　参加無料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3246120" y="3931920"/>
            <a:ext cx="26060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B案　4週カレンダー型（推奨）</a:t>
            </a:r>
            <a:endParaRPr lang="en-US" sz="1300" dirty="0"/>
          </a:p>
        </p:txBody>
      </p:sp>
      <p:pic>
        <p:nvPicPr>
          <p:cNvPr id="11" name="img_poster_c" descr="B0ボードPOP C案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914400"/>
            <a:ext cx="1965960" cy="29260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446520" y="1207008"/>
            <a:ext cx="1783080" cy="7373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クリスマス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ワークショップ開催中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6446520" y="3456432"/>
            <a:ext cx="1783080" cy="27432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11/28〜12/25　参加無料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6035040" y="3931920"/>
            <a:ext cx="26060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C案　キャラクター型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共通：開催日時・対象年齢・参加条件・店舗名記入欄（手書き可）　※背景はAI生成のイメージ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運用フロー・スケジュール</a:t>
            </a:r>
            <a:endParaRPr lang="en-US" sz="2400" dirty="0"/>
          </a:p>
        </p:txBody>
      </p:sp>
      <p:sp>
        <p:nvSpPr>
          <p:cNvPr id="3" name="step_0"/>
          <p:cNvSpPr/>
          <p:nvPr/>
        </p:nvSpPr>
        <p:spPr>
          <a:xfrm>
            <a:off x="457200" y="960120"/>
            <a:ext cx="1600200" cy="594360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ご発注</a:t>
            </a:r>
            <a:endParaRPr lang="en-US" sz="1200" dirty="0"/>
          </a:p>
        </p:txBody>
      </p:sp>
      <p:pic>
        <p:nvPicPr>
          <p:cNvPr id="5" name="step_img_0" descr="ご発注のイラスト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45920"/>
            <a:ext cx="1188720" cy="11887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2880360"/>
            <a:ext cx="16002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10月下旬〜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11月上旬</a:t>
            </a:r>
            <a:endParaRPr lang="en-US" sz="1100" dirty="0"/>
          </a:p>
        </p:txBody>
      </p:sp>
      <p:sp>
        <p:nvSpPr>
          <p:cNvPr id="7" name="step_1"/>
          <p:cNvSpPr/>
          <p:nvPr/>
        </p:nvSpPr>
        <p:spPr>
          <a:xfrm>
            <a:off x="2139696" y="960120"/>
            <a:ext cx="1600200" cy="594360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322576" y="96012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制作・調達</a:t>
            </a:r>
            <a:endParaRPr lang="en-US" sz="1200" dirty="0"/>
          </a:p>
        </p:txBody>
      </p:sp>
      <p:pic>
        <p:nvPicPr>
          <p:cNvPr id="9" name="step_img_1" descr="制作・調達のイラスト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2576" y="1645920"/>
            <a:ext cx="1188720" cy="11887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139696" y="2880360"/>
            <a:ext cx="16002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キット・ポスター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衣装・ツール</a:t>
            </a:r>
            <a:endParaRPr lang="en-US" sz="1100" dirty="0"/>
          </a:p>
        </p:txBody>
      </p:sp>
      <p:sp>
        <p:nvSpPr>
          <p:cNvPr id="11" name="step_2"/>
          <p:cNvSpPr/>
          <p:nvPr/>
        </p:nvSpPr>
        <p:spPr>
          <a:xfrm>
            <a:off x="3822192" y="960120"/>
            <a:ext cx="1600200" cy="594360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005072" y="96012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一括配送</a:t>
            </a:r>
            <a:endParaRPr lang="en-US" sz="1200" dirty="0"/>
          </a:p>
        </p:txBody>
      </p:sp>
      <p:pic>
        <p:nvPicPr>
          <p:cNvPr id="13" name="step_img_2" descr="一括配送のイラスト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5072" y="1645920"/>
            <a:ext cx="1188720" cy="11887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822192" y="2880360"/>
            <a:ext cx="16002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4週分を11月下旬に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一括配送・検品</a:t>
            </a:r>
            <a:endParaRPr lang="en-US" sz="1100" dirty="0"/>
          </a:p>
        </p:txBody>
      </p:sp>
      <p:sp>
        <p:nvSpPr>
          <p:cNvPr id="15" name="step_3"/>
          <p:cNvSpPr/>
          <p:nvPr/>
        </p:nvSpPr>
        <p:spPr>
          <a:xfrm>
            <a:off x="5504688" y="960120"/>
            <a:ext cx="1600200" cy="594360"/>
          </a:xfrm>
          <a:prstGeom prst="chevron">
            <a:avLst/>
          </a:prstGeom>
          <a:solidFill>
            <a:schemeClr val="tx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687568" y="96012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店舗で実施</a:t>
            </a:r>
            <a:endParaRPr lang="en-US" sz="1200" dirty="0"/>
          </a:p>
        </p:txBody>
      </p:sp>
      <p:pic>
        <p:nvPicPr>
          <p:cNvPr id="17" name="step_img_3" descr="店舗で実施のイラスト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7568" y="1645920"/>
            <a:ext cx="1188720" cy="11887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504688" y="2880360"/>
            <a:ext cx="16002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11/28〜12/25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4週間</a:t>
            </a:r>
            <a:endParaRPr lang="en-US" sz="1100" dirty="0"/>
          </a:p>
        </p:txBody>
      </p:sp>
      <p:sp>
        <p:nvSpPr>
          <p:cNvPr id="19" name="step_4"/>
          <p:cNvSpPr/>
          <p:nvPr/>
        </p:nvSpPr>
        <p:spPr>
          <a:xfrm>
            <a:off x="7187184" y="960120"/>
            <a:ext cx="1600200" cy="594360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7370064" y="96012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返却</a:t>
            </a:r>
            <a:endParaRPr lang="en-US" sz="1200" dirty="0"/>
          </a:p>
        </p:txBody>
      </p:sp>
      <p:pic>
        <p:nvPicPr>
          <p:cNvPr id="21" name="step_img_4" descr="返却のイラスト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70064" y="1645920"/>
            <a:ext cx="1188720" cy="118872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187184" y="2880360"/>
            <a:ext cx="16002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アーチを梱包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着払い伝票で返送</a:t>
            </a:r>
            <a:endParaRPr lang="en-US" sz="1100" dirty="0"/>
          </a:p>
        </p:txBody>
      </p:sp>
      <p:sp>
        <p:nvSpPr>
          <p:cNvPr id="23" name="ops_note"/>
          <p:cNvSpPr/>
          <p:nvPr/>
        </p:nvSpPr>
        <p:spPr>
          <a:xfrm>
            <a:off x="457200" y="3520440"/>
            <a:ext cx="822960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594360" y="3566160"/>
            <a:ext cx="795528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店舗スタッフ様だけで運営できる体制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運営スタッフの派遣はなし。キット・物品と運用マニュアル（準備・受付・制作手順・片付け）をお届けします。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4週分のキット・物品は開始前に一括配送（週ごとに仕分けて梱包）。アーチは箱を再利用し、同梱の着払い伝票で返送いただくだけです。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御見積書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45720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株式会社NTTドコモ 御中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4440"/>
            <a:ext cx="53035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件名：クリスマスワークショップパッケージについて（10セット）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実施期間：2026年11月28日〜12月25日（4週間）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760720" y="914400"/>
            <a:ext cx="292608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株式会社DreamCreation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〒550-0015 大阪府大阪市西区南堀江1-10-1 KT堀江801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TEL 06-4967-1038　担当：竹村</a:t>
            </a:r>
            <a:endParaRPr lang="en-US" sz="900" dirty="0"/>
          </a:p>
        </p:txBody>
      </p:sp>
      <p:graphicFrame>
        <p:nvGraphicFramePr>
          <p:cNvPr id="17" name="quote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28800"/>
          <a:ext cx="822960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3200400"/>
                <a:gridCol w="457200"/>
                <a:gridCol w="457200"/>
                <a:gridCol w="777240"/>
                <a:gridCol w="960120"/>
                <a:gridCol w="2011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No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御見積内容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数量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日数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単価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金額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摘要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スノードームキット（第1・4週）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200,000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2,000,000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1地区300個/週×2週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スクイーズキット（第2・3週）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200,000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2,000,000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1地区300個/週×2週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販促物一式（クリスマスアーチ・B0ボードPOP10枚・開催中ツール・コスプレ）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80,000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800,000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アーチは期間中レンタル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管理運営費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20,000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200,000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配送料（10地区 往復）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別途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別途請求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実費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ot_0"/>
          <p:cNvSpPr/>
          <p:nvPr/>
        </p:nvSpPr>
        <p:spPr>
          <a:xfrm>
            <a:off x="5577840" y="3767328"/>
            <a:ext cx="3108960" cy="28346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69280" y="3767328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小計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040880" y="3767328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￥5,000,000</a:t>
            </a:r>
            <a:endParaRPr lang="en-US" sz="1200" dirty="0"/>
          </a:p>
        </p:txBody>
      </p:sp>
      <p:sp>
        <p:nvSpPr>
          <p:cNvPr id="10" name="tot_1"/>
          <p:cNvSpPr/>
          <p:nvPr/>
        </p:nvSpPr>
        <p:spPr>
          <a:xfrm>
            <a:off x="5577840" y="4069080"/>
            <a:ext cx="3108960" cy="28346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669280" y="4069080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消費税（10%）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040880" y="4069080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￥500,000</a:t>
            </a:r>
            <a:endParaRPr lang="en-US" sz="1200" dirty="0"/>
          </a:p>
        </p:txBody>
      </p:sp>
      <p:sp>
        <p:nvSpPr>
          <p:cNvPr id="13" name="tot_2"/>
          <p:cNvSpPr/>
          <p:nvPr/>
        </p:nvSpPr>
        <p:spPr>
          <a:xfrm>
            <a:off x="5577840" y="4370832"/>
            <a:ext cx="3108960" cy="28346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669280" y="4370832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合計金額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4370832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￥5,500,000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3794760"/>
            <a:ext cx="493776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※金額は税別表示。配送料は別途、実費にてご請求いたします。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※運営スタッフの派遣は含みません。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株式会社DreamCreation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こどもが夢中になる体験を、企画から当日の準備物まで一社でお届けします。</a:t>
            </a:r>
            <a:endParaRPr lang="en-US" sz="1500" dirty="0"/>
          </a:p>
        </p:txBody>
      </p:sp>
      <p:pic>
        <p:nvPicPr>
          <p:cNvPr id="4" name="end_img" descr="肉球スクイーズ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914400"/>
            <a:ext cx="2743200" cy="2743200"/>
          </a:xfrm>
          <a:prstGeom prst="ellipse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3749040"/>
            <a:ext cx="80467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主な実績：ドコモショップ・量販店ドコモブース・大型商業施設でのイベント（全国対応）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TEL 070-1319-2126　／　MAIL data@d-creation-o.com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ocomo Light Red">
  <a:themeElements>
    <a:clrScheme name="Docomo Light Red">
      <a:dk1>
        <a:srgbClr val="333333"/>
      </a:dk1>
      <a:lt1>
        <a:srgbClr val="FFFFFF"/>
      </a:lt1>
      <a:dk2>
        <a:srgbClr val="B8283A"/>
      </a:dk2>
      <a:lt2>
        <a:srgbClr val="FDEFF1"/>
      </a:lt2>
      <a:accent1>
        <a:srgbClr val="E0485A"/>
      </a:accent1>
      <a:accent2>
        <a:srgbClr val="2E7D4F"/>
      </a:accent2>
      <a:accent3>
        <a:srgbClr val="D9A21B"/>
      </a:accent3>
      <a:accent4>
        <a:srgbClr val="8A6A6E"/>
      </a:accent4>
      <a:accent5>
        <a:srgbClr val="FBE3E6"/>
      </a:accent5>
      <a:accent6>
        <a:srgbClr val="8E1F2C"/>
      </a:accent6>
      <a:hlink>
        <a:srgbClr val="B8283A"/>
      </a:hlink>
      <a:folHlink>
        <a:srgbClr val="8E1F2C"/>
      </a:folHlink>
    </a:clrScheme>
    <a:fontScheme name="Docomo Light Red">
      <a:majorFont>
        <a:latin typeface="メイリオ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メイリオ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ドコモイベント支援向けコンテンツ提案</dc:title>
  <dc:subject>PptxGenJS Presentation</dc:subject>
  <dc:creator>株式会社DreamCreation</dc:creator>
  <cp:lastModifiedBy>株式会社DreamCreation</cp:lastModifiedBy>
  <cp:revision>1</cp:revision>
  <dcterms:created xsi:type="dcterms:W3CDTF">2026-10-20T19:53:22Z</dcterms:created>
  <dcterms:modified xsi:type="dcterms:W3CDTF">2026-10-20T19:53:22Z</dcterms:modified>
</cp:coreProperties>
</file>