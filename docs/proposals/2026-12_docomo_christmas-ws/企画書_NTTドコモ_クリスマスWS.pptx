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38bc42ca-3c7a-c7db-42e7-584e65740de3}">
          <p14:sldIdLst>
            <p14:sldId id="256"/>
          </p14:sldIdLst>
        </p14:section>
        <p14:section name="ご提案の概要" id="{416a15d6-13c7-8b1e-80ce-ff6e21cf841b}">
          <p14:sldIdLst>
            <p14:sldId id="257"/>
            <p14:sldId id="258"/>
            <p14:sldId id="259"/>
          </p14:sldIdLst>
        </p14:section>
        <p14:section name="ワークショップ" id="{12ef634c-08a4-2f4d-e831-b7ab2b2508ff}">
          <p14:sldIdLst>
            <p14:sldId id="260"/>
            <p14:sldId id="261"/>
            <p14:sldId id="262"/>
          </p14:sldIdLst>
        </p14:section>
        <p14:section name="店頭演出" id="{56d4b8be-cea4-2172-15d0-bb5323860158}">
          <p14:sldIdLst>
            <p14:sldId id="263"/>
            <p14:sldId id="264"/>
            <p14:sldId id="265"/>
            <p14:sldId id="266"/>
          </p14:sldIdLst>
        </p14:section>
        <p14:section name="運用・お見積" id="{51178683-dd99-7fd1-92b7-21d72e0ee0c2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クリスマスワークショップパッケージ ご提案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ドコモショップ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クリスマスワークショップパッケージ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毎週ちがう“つくる体験”で、12月の来店を4回に。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株式会社NTTドコモ　チャネル統括部　イベントマネジメント担当 御中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2026年10月　株式会社DreamCreation</a:t>
            </a:r>
            <a:endParaRPr lang="en-US" sz="1400" dirty="0"/>
          </a:p>
        </p:txBody>
      </p:sp>
      <p:sp>
        <p:nvSpPr>
          <p:cNvPr id="6" name="cover_globe"/>
          <p:cNvSpPr/>
          <p:nvPr/>
        </p:nvSpPr>
        <p:spPr>
          <a:xfrm>
            <a:off x="7406640" y="3429000"/>
            <a:ext cx="1005840" cy="1005840"/>
          </a:xfrm>
          <a:prstGeom prst="ellipse">
            <a:avLst/>
          </a:prstGeom>
          <a:solidFill>
            <a:srgbClr val="DDEFF7"/>
          </a:solidFill>
          <a:ln w="19050">
            <a:solidFill>
              <a:srgbClr val="9CC9DD"/>
            </a:solidFill>
            <a:prstDash val="solid"/>
          </a:ln>
        </p:spPr>
      </p:sp>
      <p:sp>
        <p:nvSpPr>
          <p:cNvPr id="7" name="cover_tree"/>
          <p:cNvSpPr/>
          <p:nvPr/>
        </p:nvSpPr>
        <p:spPr>
          <a:xfrm>
            <a:off x="7738567" y="3730752"/>
            <a:ext cx="341986" cy="452628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cover_snow0"/>
          <p:cNvSpPr/>
          <p:nvPr/>
        </p:nvSpPr>
        <p:spPr>
          <a:xfrm>
            <a:off x="7607808" y="368046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9" name="cover_snow1"/>
          <p:cNvSpPr/>
          <p:nvPr/>
        </p:nvSpPr>
        <p:spPr>
          <a:xfrm>
            <a:off x="8110728" y="3630168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0" name="cover_snow2"/>
          <p:cNvSpPr/>
          <p:nvPr/>
        </p:nvSpPr>
        <p:spPr>
          <a:xfrm>
            <a:off x="7658100" y="403250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1" name="cover_snow3"/>
          <p:cNvSpPr/>
          <p:nvPr/>
        </p:nvSpPr>
        <p:spPr>
          <a:xfrm>
            <a:off x="8161020" y="398221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2" name="cover_snow4"/>
          <p:cNvSpPr/>
          <p:nvPr/>
        </p:nvSpPr>
        <p:spPr>
          <a:xfrm>
            <a:off x="7909560" y="3579876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3" name="cover_snow5"/>
          <p:cNvSpPr/>
          <p:nvPr/>
        </p:nvSpPr>
        <p:spPr>
          <a:xfrm>
            <a:off x="8030261" y="4133088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4" name="cover_base"/>
          <p:cNvSpPr/>
          <p:nvPr/>
        </p:nvSpPr>
        <p:spPr>
          <a:xfrm>
            <a:off x="7507224" y="4314139"/>
            <a:ext cx="804672" cy="25146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area_card"/>
          <p:cNvSpPr/>
          <p:nvPr/>
        </p:nvSpPr>
        <p:spPr>
          <a:xfrm>
            <a:off x="5852160" y="1051560"/>
            <a:ext cx="2834640" cy="3493008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配送先 10地区</a:t>
            </a:r>
            <a:endParaRPr lang="en-US" sz="1500" dirty="0"/>
          </a:p>
        </p:txBody>
      </p:sp>
      <p:sp>
        <p:nvSpPr>
          <p:cNvPr id="6" name="area_0"/>
          <p:cNvSpPr/>
          <p:nvPr/>
        </p:nvSpPr>
        <p:spPr>
          <a:xfrm>
            <a:off x="603504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北海道</a:t>
            </a:r>
            <a:endParaRPr lang="en-US" sz="1300" dirty="0"/>
          </a:p>
        </p:txBody>
      </p:sp>
      <p:sp>
        <p:nvSpPr>
          <p:cNvPr id="8" name="area_1"/>
          <p:cNvSpPr/>
          <p:nvPr/>
        </p:nvSpPr>
        <p:spPr>
          <a:xfrm>
            <a:off x="731520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東北</a:t>
            </a:r>
            <a:endParaRPr lang="en-US" sz="1300" dirty="0"/>
          </a:p>
        </p:txBody>
      </p:sp>
      <p:sp>
        <p:nvSpPr>
          <p:cNvPr id="10" name="area_2"/>
          <p:cNvSpPr/>
          <p:nvPr/>
        </p:nvSpPr>
        <p:spPr>
          <a:xfrm>
            <a:off x="603504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関信越</a:t>
            </a:r>
            <a:endParaRPr lang="en-US" sz="1300" dirty="0"/>
          </a:p>
        </p:txBody>
      </p:sp>
      <p:sp>
        <p:nvSpPr>
          <p:cNvPr id="12" name="area_3"/>
          <p:cNvSpPr/>
          <p:nvPr/>
        </p:nvSpPr>
        <p:spPr>
          <a:xfrm>
            <a:off x="731520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首都圏</a:t>
            </a:r>
            <a:endParaRPr lang="en-US" sz="1300" dirty="0"/>
          </a:p>
        </p:txBody>
      </p:sp>
      <p:sp>
        <p:nvSpPr>
          <p:cNvPr id="14" name="area_4"/>
          <p:cNvSpPr/>
          <p:nvPr/>
        </p:nvSpPr>
        <p:spPr>
          <a:xfrm>
            <a:off x="603504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東海</a:t>
            </a:r>
            <a:endParaRPr lang="en-US" sz="1300" dirty="0"/>
          </a:p>
        </p:txBody>
      </p:sp>
      <p:sp>
        <p:nvSpPr>
          <p:cNvPr id="16" name="area_5"/>
          <p:cNvSpPr/>
          <p:nvPr/>
        </p:nvSpPr>
        <p:spPr>
          <a:xfrm>
            <a:off x="731520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北陸</a:t>
            </a:r>
            <a:endParaRPr lang="en-US" sz="1300" dirty="0"/>
          </a:p>
        </p:txBody>
      </p:sp>
      <p:sp>
        <p:nvSpPr>
          <p:cNvPr id="18" name="area_6"/>
          <p:cNvSpPr/>
          <p:nvPr/>
        </p:nvSpPr>
        <p:spPr>
          <a:xfrm>
            <a:off x="603504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関西</a:t>
            </a:r>
            <a:endParaRPr lang="en-US" sz="1300" dirty="0"/>
          </a:p>
        </p:txBody>
      </p:sp>
      <p:sp>
        <p:nvSpPr>
          <p:cNvPr id="20" name="area_7"/>
          <p:cNvSpPr/>
          <p:nvPr/>
        </p:nvSpPr>
        <p:spPr>
          <a:xfrm>
            <a:off x="731520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中国</a:t>
            </a:r>
            <a:endParaRPr lang="en-US" sz="1300" dirty="0"/>
          </a:p>
        </p:txBody>
      </p:sp>
      <p:sp>
        <p:nvSpPr>
          <p:cNvPr id="22" name="area_8"/>
          <p:cNvSpPr/>
          <p:nvPr/>
        </p:nvSpPr>
        <p:spPr>
          <a:xfrm>
            <a:off x="603504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3504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四国</a:t>
            </a:r>
            <a:endParaRPr lang="en-US" sz="1300" dirty="0"/>
          </a:p>
        </p:txBody>
      </p:sp>
      <p:sp>
        <p:nvSpPr>
          <p:cNvPr id="24" name="area_9"/>
          <p:cNvSpPr/>
          <p:nvPr/>
        </p:nvSpPr>
        <p:spPr>
          <a:xfrm>
            <a:off x="731520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九州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企画コンセプト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毎週ちがう“つくる体験”で、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12月の来店を4回に。</a:t>
            </a:r>
            <a:endParaRPr lang="en-US" sz="2400" dirty="0"/>
          </a:p>
        </p:txBody>
      </p:sp>
      <p:sp>
        <p:nvSpPr>
          <p:cNvPr id="4" name="concept_1"/>
          <p:cNvSpPr/>
          <p:nvPr/>
        </p:nvSpPr>
        <p:spPr>
          <a:xfrm>
            <a:off x="45720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ept_badge_1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飽きさせない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6324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スノードームとスクイーズを週替わりで実施。型・モチーフも毎週変えて「来週は何がつくれる？」をつくる。</a:t>
            </a:r>
            <a:endParaRPr lang="en-US" sz="1300" dirty="0"/>
          </a:p>
        </p:txBody>
      </p:sp>
      <p:sp>
        <p:nvSpPr>
          <p:cNvPr id="9" name="concept_2"/>
          <p:cNvSpPr/>
          <p:nvPr/>
        </p:nvSpPr>
        <p:spPr>
          <a:xfrm>
            <a:off x="324612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oncept_badge_2"/>
          <p:cNvSpPr/>
          <p:nvPr/>
        </p:nvSpPr>
        <p:spPr>
          <a:xfrm>
            <a:off x="3429000" y="2487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足を止める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06324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クリスマスアーチ＋スタッフのコスプレ（全週・週替わり）で、通行客に開催中がひと目で伝わる。</a:t>
            </a:r>
            <a:endParaRPr lang="en-US" sz="1300" dirty="0"/>
          </a:p>
        </p:txBody>
      </p:sp>
      <p:sp>
        <p:nvSpPr>
          <p:cNvPr id="14" name="concept_3"/>
          <p:cNvSpPr/>
          <p:nvPr/>
        </p:nvSpPr>
        <p:spPr>
          <a:xfrm>
            <a:off x="603504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oncept_badge_3"/>
          <p:cNvSpPr/>
          <p:nvPr/>
        </p:nvSpPr>
        <p:spPr>
          <a:xfrm>
            <a:off x="6217920" y="2487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着座につなげる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06324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制作時間（約15〜20分）が保護者様との会話・商談時間になる。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sp>
        <p:nvSpPr>
          <p:cNvPr id="3" name="part_0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rt_badge_0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WSキット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スノードーム／スクイーズ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300個／週 × 4週＝1,200個</a:t>
            </a:r>
            <a:endParaRPr lang="en-US" sz="1200" dirty="0"/>
          </a:p>
        </p:txBody>
      </p:sp>
      <p:sp>
        <p:nvSpPr>
          <p:cNvPr id="8" name="part_1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rt_badge_1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装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クリスマスアーチ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200" dirty="0"/>
          </a:p>
        </p:txBody>
      </p:sp>
      <p:sp>
        <p:nvSpPr>
          <p:cNvPr id="13" name="part_2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rt_badge_2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衣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コスプレ衣装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200" dirty="0"/>
          </a:p>
        </p:txBody>
      </p:sp>
      <p:sp>
        <p:nvSpPr>
          <p:cNvPr id="18" name="part_3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art_badge_3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B0ポスター 10枚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4週の内容がひと目でわかるデザイン</a:t>
            </a:r>
            <a:endParaRPr lang="en-US" sz="1200" dirty="0"/>
          </a:p>
        </p:txBody>
      </p:sp>
      <p:sp>
        <p:nvSpPr>
          <p:cNvPr id="23" name="part_4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rt_badge_4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飾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開催中ツール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スタンド看板・のぼり・テーブル装飾 ほか</a:t>
            </a:r>
            <a:endParaRPr lang="en-US" sz="1200" dirty="0"/>
          </a:p>
        </p:txBody>
      </p:sp>
      <p:sp>
        <p:nvSpPr>
          <p:cNvPr id="28" name="part_5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art_badge_5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運用マニュアル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目玉①　スノードーム作り</a:t>
            </a:r>
            <a:endParaRPr lang="en-US" sz="2400" dirty="0"/>
          </a:p>
        </p:txBody>
      </p:sp>
      <p:sp>
        <p:nvSpPr>
          <p:cNvPr id="3" name="main_globe"/>
          <p:cNvSpPr/>
          <p:nvPr/>
        </p:nvSpPr>
        <p:spPr>
          <a:xfrm>
            <a:off x="822960" y="1234440"/>
            <a:ext cx="2103120" cy="2103120"/>
          </a:xfrm>
          <a:prstGeom prst="ellipse">
            <a:avLst/>
          </a:prstGeom>
          <a:solidFill>
            <a:srgbClr val="DDEFF7"/>
          </a:solidFill>
          <a:ln w="19050">
            <a:solidFill>
              <a:srgbClr val="9CC9DD"/>
            </a:solidFill>
            <a:prstDash val="solid"/>
          </a:ln>
        </p:spPr>
      </p:sp>
      <p:sp>
        <p:nvSpPr>
          <p:cNvPr id="4" name="main_tree"/>
          <p:cNvSpPr/>
          <p:nvPr/>
        </p:nvSpPr>
        <p:spPr>
          <a:xfrm>
            <a:off x="1516990" y="1865376"/>
            <a:ext cx="715061" cy="946404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main_snow0"/>
          <p:cNvSpPr/>
          <p:nvPr/>
        </p:nvSpPr>
        <p:spPr>
          <a:xfrm>
            <a:off x="1243584" y="1760220"/>
            <a:ext cx="126187" cy="126187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6" name="main_snow1"/>
          <p:cNvSpPr/>
          <p:nvPr/>
        </p:nvSpPr>
        <p:spPr>
          <a:xfrm>
            <a:off x="2295144" y="1655064"/>
            <a:ext cx="126187" cy="126187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7" name="main_snow2"/>
          <p:cNvSpPr/>
          <p:nvPr/>
        </p:nvSpPr>
        <p:spPr>
          <a:xfrm>
            <a:off x="1348740" y="2496312"/>
            <a:ext cx="126187" cy="126187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8" name="main_snow3"/>
          <p:cNvSpPr/>
          <p:nvPr/>
        </p:nvSpPr>
        <p:spPr>
          <a:xfrm>
            <a:off x="2400300" y="2391156"/>
            <a:ext cx="126187" cy="126187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9" name="main_snow4"/>
          <p:cNvSpPr/>
          <p:nvPr/>
        </p:nvSpPr>
        <p:spPr>
          <a:xfrm>
            <a:off x="1874520" y="1549908"/>
            <a:ext cx="126187" cy="126187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0" name="main_snow5"/>
          <p:cNvSpPr/>
          <p:nvPr/>
        </p:nvSpPr>
        <p:spPr>
          <a:xfrm>
            <a:off x="2126894" y="2706624"/>
            <a:ext cx="126187" cy="126187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1" name="main_base"/>
          <p:cNvSpPr/>
          <p:nvPr/>
        </p:nvSpPr>
        <p:spPr>
          <a:xfrm>
            <a:off x="1033272" y="3085186"/>
            <a:ext cx="1682496" cy="525780"/>
          </a:xfrm>
          <a:prstGeom prst="roundRect">
            <a:avLst>
              <a:gd name="adj" fmla="val 869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93192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クリスマス専用の新コンテンツ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内容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109728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ミニフィギュア（サンタ・ツリー・雪だるま等）とラメ雪を選んで、自分だけのスノードームを制作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所要時間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約15〜20分／人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対象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70332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持ち帰り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冬のインテリアとして飾れる。記念性が高く、家族の会話が続く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目玉②　スクイーズ作り</a:t>
            </a:r>
            <a:endParaRPr lang="en-US" sz="2400" dirty="0"/>
          </a:p>
        </p:txBody>
      </p:sp>
      <p:pic>
        <p:nvPicPr>
          <p:cNvPr id="3" name="img_squeeze" descr="スクイーズ作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828800" cy="1828800"/>
          </a:xfrm>
          <a:prstGeom prst="ellipse">
            <a:avLst/>
          </a:prstGeom>
        </p:spPr>
      </p:pic>
      <p:pic>
        <p:nvPicPr>
          <p:cNvPr id="4" name="img_punilab" descr="ぷにラボの動物型スクイー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514600"/>
            <a:ext cx="1828800" cy="1828800"/>
          </a:xfrm>
          <a:prstGeom prst="ellipse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749040" y="10972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内容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212080" y="109728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型とカラーを選び、型から剥がしてマジックパウダーで仕上げる人気コンテンツ「ぷにラボ」をクリスマス仕様に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74904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クリスマス仕様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212080" y="196596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ツリー・ブーツ・雪だるま・プレゼント型／赤・緑・白カラー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所要時間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212080" y="283464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約20分／人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70332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実績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2120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ドコモショップ店頭で実施実績あり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4週ローテーション計画（11月最終週〜12月）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サンタ／トナカイ</a:t>
            </a:r>
            <a:endParaRPr lang="en-US" sz="1400" dirty="0"/>
          </a:p>
        </p:txBody>
      </p:sp>
      <p:sp>
        <p:nvSpPr>
          <p:cNvPr id="7" name="wk_head_1"/>
          <p:cNvSpPr/>
          <p:nvPr/>
        </p:nvSpPr>
        <p:spPr>
          <a:xfrm>
            <a:off x="256032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9" name="wk_body_1"/>
          <p:cNvSpPr/>
          <p:nvPr/>
        </p:nvSpPr>
        <p:spPr>
          <a:xfrm>
            <a:off x="256032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雪だるま／エルフ</a:t>
            </a:r>
            <a:endParaRPr lang="en-US" sz="1400" dirty="0"/>
          </a:p>
        </p:txBody>
      </p:sp>
      <p:sp>
        <p:nvSpPr>
          <p:cNvPr id="11" name="wk_head_2"/>
          <p:cNvSpPr/>
          <p:nvPr/>
        </p:nvSpPr>
        <p:spPr>
          <a:xfrm>
            <a:off x="466344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3" name="wk_body_2"/>
          <p:cNvSpPr/>
          <p:nvPr/>
        </p:nvSpPr>
        <p:spPr>
          <a:xfrm>
            <a:off x="466344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トナカイ／ジンジャーブレッド</a:t>
            </a:r>
            <a:endParaRPr lang="en-US" sz="1400" dirty="0"/>
          </a:p>
        </p:txBody>
      </p:sp>
      <p:sp>
        <p:nvSpPr>
          <p:cNvPr id="15" name="wk_head_3"/>
          <p:cNvSpPr/>
          <p:nvPr/>
        </p:nvSpPr>
        <p:spPr>
          <a:xfrm>
            <a:off x="676656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17" name="wk_body_3"/>
          <p:cNvSpPr/>
          <p:nvPr/>
        </p:nvSpPr>
        <p:spPr>
          <a:xfrm>
            <a:off x="676656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サンタ（男女）／ツリー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同じワークショップが続く週も、型・モチーフ・衣装を変えて“新作”として訴求。毎週来ても新しい体験になります。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サンタとスノーマン付きのエアーアーチ参考写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91840" cy="32735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370832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参考イメージ</a:t>
            </a:r>
            <a:endParaRPr lang="en-US" sz="1000" dirty="0"/>
          </a:p>
        </p:txBody>
      </p:sp>
      <p:sp>
        <p:nvSpPr>
          <p:cNvPr id="5" name="arch_badge_0"/>
          <p:cNvSpPr/>
          <p:nvPr/>
        </p:nvSpPr>
        <p:spPr>
          <a:xfrm>
            <a:off x="411480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遠くからでも目立つ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463040"/>
            <a:ext cx="40233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サンタ＆スノーマン付きのエアーアーチを入口に設置。ワークショップ開催中がひと目で伝わる。</a:t>
            </a:r>
            <a:endParaRPr lang="en-US" sz="1300" dirty="0"/>
          </a:p>
        </p:txBody>
      </p:sp>
      <p:sp>
        <p:nvSpPr>
          <p:cNvPr id="9" name="arch_badge_1"/>
          <p:cNvSpPr/>
          <p:nvPr/>
        </p:nvSpPr>
        <p:spPr>
          <a:xfrm>
            <a:off x="4114800" y="21945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176272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フォトスポットに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560320"/>
            <a:ext cx="40233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300" dirty="0"/>
          </a:p>
        </p:txBody>
      </p:sp>
      <p:sp>
        <p:nvSpPr>
          <p:cNvPr id="13" name="arch_badge_2"/>
          <p:cNvSpPr/>
          <p:nvPr/>
        </p:nvSpPr>
        <p:spPr>
          <a:xfrm>
            <a:off x="4114800" y="32918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期間中レンタル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57600"/>
            <a:ext cx="40233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4週の期間中は返却不要。期間終了後に回収。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ワークショップ開催中ツール（案）</a:t>
            </a:r>
            <a:endParaRPr lang="en-US" sz="2400" dirty="0"/>
          </a:p>
        </p:txBody>
      </p:sp>
      <p:sp>
        <p:nvSpPr>
          <p:cNvPr id="3" name="tool_0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ool_badge_0"/>
          <p:cNvSpPr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スタンド看板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200" dirty="0"/>
          </a:p>
        </p:txBody>
      </p:sp>
      <p:sp>
        <p:nvSpPr>
          <p:cNvPr id="8" name="tool_1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ool_badge_1"/>
          <p:cNvSpPr/>
          <p:nvPr/>
        </p:nvSpPr>
        <p:spPr>
          <a:xfrm>
            <a:off x="484632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のぼり・タペストリー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クリスマス柄。遠目でも開催がわかる</a:t>
            </a:r>
            <a:endParaRPr lang="en-US" sz="1200" dirty="0"/>
          </a:p>
        </p:txBody>
      </p:sp>
      <p:sp>
        <p:nvSpPr>
          <p:cNvPr id="13" name="tool_2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ool_badge_2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テーブル装飾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1576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赤緑のテーブルクロス、ミニツリー、LEDライト</a:t>
            </a:r>
            <a:endParaRPr lang="en-US" sz="1200" dirty="0"/>
          </a:p>
        </p:txBody>
      </p:sp>
      <p:sp>
        <p:nvSpPr>
          <p:cNvPr id="18" name="tool_3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ool_badge_3"/>
          <p:cNvSpPr/>
          <p:nvPr/>
        </p:nvSpPr>
        <p:spPr>
          <a:xfrm>
            <a:off x="4846320" y="2514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吊り下げPOP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271576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雪の結晶・オーナメント型で天井から演出</a:t>
            </a:r>
            <a:endParaRPr lang="en-US" sz="1200" dirty="0"/>
          </a:p>
        </p:txBody>
      </p:sp>
      <p:sp>
        <p:nvSpPr>
          <p:cNvPr id="23" name="tool_4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ool_badge_4"/>
          <p:cNvSpPr/>
          <p:nvPr/>
        </p:nvSpPr>
        <p:spPr>
          <a:xfrm>
            <a:off x="640080" y="3703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作品ディスプレイ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完成見本を展示し、通行客に“つくれるもの”を見せる</a:t>
            </a:r>
            <a:endParaRPr lang="en-US" sz="1200" dirty="0"/>
          </a:p>
        </p:txBody>
      </p:sp>
      <p:sp>
        <p:nvSpPr>
          <p:cNvPr id="28" name="tool_5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ool_badge_5"/>
          <p:cNvSpPr/>
          <p:nvPr/>
        </p:nvSpPr>
        <p:spPr>
          <a:xfrm>
            <a:off x="4846320" y="37033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週替わり告知カード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「来週はこれがつくれる！」で再来店を促す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105156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s_dot_0"/>
          <p:cNvSpPr/>
          <p:nvPr/>
        </p:nvSpPr>
        <p:spPr>
          <a:xfrm>
            <a:off x="64008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23444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サンタ（男女）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帽子・ひげ・ベルト付セット</a:t>
            </a:r>
            <a:endParaRPr lang="en-US" sz="1100" dirty="0"/>
          </a:p>
        </p:txBody>
      </p:sp>
      <p:sp>
        <p:nvSpPr>
          <p:cNvPr id="7" name="cos_1"/>
          <p:cNvSpPr/>
          <p:nvPr/>
        </p:nvSpPr>
        <p:spPr>
          <a:xfrm>
            <a:off x="3246120" y="105156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os_dot_1"/>
          <p:cNvSpPr/>
          <p:nvPr/>
        </p:nvSpPr>
        <p:spPr>
          <a:xfrm>
            <a:off x="3429000" y="1371600"/>
            <a:ext cx="548640" cy="548640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0" y="123444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トナカイ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フリース着ぐるみ＋角カチューシャ</a:t>
            </a:r>
            <a:endParaRPr lang="en-US" sz="1100" dirty="0"/>
          </a:p>
        </p:txBody>
      </p:sp>
      <p:sp>
        <p:nvSpPr>
          <p:cNvPr id="11" name="cos_2"/>
          <p:cNvSpPr/>
          <p:nvPr/>
        </p:nvSpPr>
        <p:spPr>
          <a:xfrm>
            <a:off x="6035040" y="105156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os_dot_2"/>
          <p:cNvSpPr/>
          <p:nvPr/>
        </p:nvSpPr>
        <p:spPr>
          <a:xfrm>
            <a:off x="6217920" y="1371600"/>
            <a:ext cx="548640" cy="548640"/>
          </a:xfrm>
          <a:prstGeom prst="ellipse">
            <a:avLst/>
          </a:prstGeom>
          <a:solidFill>
            <a:srgbClr val="9CC9DD"/>
          </a:solidFill>
          <a:ln w="12700">
            <a:solidFill>
              <a:srgbClr val="9CC9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23444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雪だるま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着ぐるみ／ポンチョ</a:t>
            </a:r>
            <a:endParaRPr lang="en-US" sz="1100" dirty="0"/>
          </a:p>
        </p:txBody>
      </p:sp>
      <p:sp>
        <p:nvSpPr>
          <p:cNvPr id="15" name="cos_3"/>
          <p:cNvSpPr/>
          <p:nvPr/>
        </p:nvSpPr>
        <p:spPr>
          <a:xfrm>
            <a:off x="457200" y="237744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os_dot_3"/>
          <p:cNvSpPr/>
          <p:nvPr/>
        </p:nvSpPr>
        <p:spPr>
          <a:xfrm>
            <a:off x="640080" y="2697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25880" y="256032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エルフ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緑の衣装＋とんがり帽子</a:t>
            </a:r>
            <a:endParaRPr lang="en-US" sz="1100" dirty="0"/>
          </a:p>
        </p:txBody>
      </p:sp>
      <p:sp>
        <p:nvSpPr>
          <p:cNvPr id="19" name="cos_4"/>
          <p:cNvSpPr/>
          <p:nvPr/>
        </p:nvSpPr>
        <p:spPr>
          <a:xfrm>
            <a:off x="3246120" y="237744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os_dot_4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B7792E"/>
          </a:solidFill>
          <a:ln w="12700">
            <a:solidFill>
              <a:srgbClr val="B779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14800" y="256032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ジンジャーブレッド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着ぐるみタイプ</a:t>
            </a:r>
            <a:endParaRPr lang="en-US" sz="1100" dirty="0"/>
          </a:p>
        </p:txBody>
      </p:sp>
      <p:sp>
        <p:nvSpPr>
          <p:cNvPr id="23" name="cos_5"/>
          <p:cNvSpPr/>
          <p:nvPr/>
        </p:nvSpPr>
        <p:spPr>
          <a:xfrm>
            <a:off x="6035040" y="237744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os_dot_5"/>
          <p:cNvSpPr/>
          <p:nvPr/>
        </p:nvSpPr>
        <p:spPr>
          <a:xfrm>
            <a:off x="6217920" y="2697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256032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クリスマスツリー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かぶり物・ポンチョ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Amazonで調達可能な市販衣装から選定（大人サイズ・スタッフ着用）。週ごとに衣装を入れ替え、毎週ちがう店頭の雰囲気をつくります。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B0ポスター　デザイン案</a:t>
            </a:r>
            <a:endParaRPr lang="en-US" sz="2400" dirty="0"/>
          </a:p>
        </p:txBody>
      </p:sp>
      <p:sp>
        <p:nvSpPr>
          <p:cNvPr id="3" name="poster_A"/>
          <p:cNvSpPr/>
          <p:nvPr/>
        </p:nvSpPr>
        <p:spPr>
          <a:xfrm>
            <a:off x="1143000" y="1051560"/>
            <a:ext cx="12344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051560"/>
            <a:ext cx="1234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80360"/>
            <a:ext cx="2606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スノードーム主役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大きなスノードームの中に雪景色とお店。「あなただけのスノードームをつくろう」</a:t>
            </a:r>
            <a:endParaRPr lang="en-US" sz="1200" dirty="0"/>
          </a:p>
        </p:txBody>
      </p:sp>
      <p:sp>
        <p:nvSpPr>
          <p:cNvPr id="7" name="poster_B"/>
          <p:cNvSpPr/>
          <p:nvPr/>
        </p:nvSpPr>
        <p:spPr>
          <a:xfrm>
            <a:off x="3931920" y="1051560"/>
            <a:ext cx="1234440" cy="1737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1051560"/>
            <a:ext cx="1234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4週カレンダー型（推奨）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291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4週の内容をアドベントカレンダー風に配置。「毎週かわる！クリスマスワークショップ」</a:t>
            </a:r>
            <a:endParaRPr lang="en-US" sz="1200" dirty="0"/>
          </a:p>
        </p:txBody>
      </p:sp>
      <p:sp>
        <p:nvSpPr>
          <p:cNvPr id="11" name="poster_C"/>
          <p:cNvSpPr/>
          <p:nvPr/>
        </p:nvSpPr>
        <p:spPr>
          <a:xfrm>
            <a:off x="6720840" y="1051560"/>
            <a:ext cx="12344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20840" y="1051560"/>
            <a:ext cx="1234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880360"/>
            <a:ext cx="2606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キャラクター型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91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サンタ・雪だるま・トナカイが手招き。完成作品の写真を大きく配置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共通：開催日時・対象年齢・参加条件・店舗名記入欄（手書き可）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ご発注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10月下旬〜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11月上旬</a:t>
            </a:r>
            <a:endParaRPr lang="en-US" sz="1200" dirty="0"/>
          </a:p>
        </p:txBody>
      </p:sp>
      <p:sp>
        <p:nvSpPr>
          <p:cNvPr id="6" name="step_1"/>
          <p:cNvSpPr/>
          <p:nvPr/>
        </p:nvSpPr>
        <p:spPr>
          <a:xfrm>
            <a:off x="2139696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2576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制作・調達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キット・ポスター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衣装・ツール</a:t>
            </a:r>
            <a:endParaRPr lang="en-US" sz="1200" dirty="0"/>
          </a:p>
        </p:txBody>
      </p:sp>
      <p:sp>
        <p:nvSpPr>
          <p:cNvPr id="9" name="step_2"/>
          <p:cNvSpPr/>
          <p:nvPr/>
        </p:nvSpPr>
        <p:spPr>
          <a:xfrm>
            <a:off x="3822192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05072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配送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10地区へ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11月下旬着</a:t>
            </a:r>
            <a:endParaRPr lang="en-US" sz="1200" dirty="0"/>
          </a:p>
        </p:txBody>
      </p:sp>
      <p:sp>
        <p:nvSpPr>
          <p:cNvPr id="12" name="step_3"/>
          <p:cNvSpPr/>
          <p:nvPr/>
        </p:nvSpPr>
        <p:spPr>
          <a:xfrm>
            <a:off x="5504688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87568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店舗で実施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11/28〜12/25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4週間</a:t>
            </a:r>
            <a:endParaRPr lang="en-US" sz="1200" dirty="0"/>
          </a:p>
        </p:txBody>
      </p:sp>
      <p:sp>
        <p:nvSpPr>
          <p:cNvPr id="15" name="step_4"/>
          <p:cNvSpPr/>
          <p:nvPr/>
        </p:nvSpPr>
        <p:spPr>
          <a:xfrm>
            <a:off x="7187184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回収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87184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期間終了後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アーチを回収</a:t>
            </a:r>
            <a:endParaRPr lang="en-US" sz="1200" dirty="0"/>
          </a:p>
        </p:txBody>
      </p:sp>
      <p:sp>
        <p:nvSpPr>
          <p:cNvPr id="18" name="ops_note"/>
          <p:cNvSpPr/>
          <p:nvPr/>
        </p:nvSpPr>
        <p:spPr>
          <a:xfrm>
            <a:off x="457200" y="2926080"/>
            <a:ext cx="82296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017520"/>
            <a:ext cx="7863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週替わりの内容に合わせ、キットは週ごとに仕分けして納品します。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4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ワークショップキット（スノードーム／スクイーズ）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1地区300個/週×4週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販促物一式（クリスマスアーチ・B0ポスター10枚・開催中ツール・コスプレ）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企画・ディレクション・運用マニュアル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03320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033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03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32504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325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32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61688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61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616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4904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株式会社DreamCreation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こどもが夢中になる体験を、企画から当日の準備物まで一社でお届けします。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主な実績：大手家電量販店・大型商業施設・携帯キャリア店頭イベント（全国対応）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xtVision Christmas">
  <a:themeElements>
    <a:clrScheme name="NextVision Christmas">
      <a:dk1>
        <a:srgbClr val="222222"/>
      </a:dk1>
      <a:lt1>
        <a:srgbClr val="FFFFFF"/>
      </a:lt1>
      <a:dk2>
        <a:srgbClr val="1E4D2B"/>
      </a:dk2>
      <a:lt2>
        <a:srgbClr val="EEF3EF"/>
      </a:lt2>
      <a:accent1>
        <a:srgbClr val="B3202E"/>
      </a:accent1>
      <a:accent2>
        <a:srgbClr val="1E4D2B"/>
      </a:accent2>
      <a:accent3>
        <a:srgbClr val="C9A227"/>
      </a:accent3>
      <a:accent4>
        <a:srgbClr val="6B8F71"/>
      </a:accent4>
      <a:accent5>
        <a:srgbClr val="DCE7DF"/>
      </a:accent5>
      <a:accent6>
        <a:srgbClr val="7A1420"/>
      </a:accent6>
      <a:hlink>
        <a:srgbClr val="B3202E"/>
      </a:hlink>
      <a:folHlink>
        <a:srgbClr val="7A1420"/>
      </a:folHlink>
    </a:clrScheme>
    <a:fontScheme name="NextVision Christmas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クリスマスワークショップパッケージ ご提案</dc:title>
  <dc:subject>PptxGenJS Presentation</dc:subject>
  <dc:creator>株式会社DreamCreation</dc:creator>
  <cp:lastModifiedBy>株式会社DreamCreation</cp:lastModifiedBy>
  <cp:revision>1</cp:revision>
  <dcterms:created xsi:type="dcterms:W3CDTF">2026-10-20T08:32:02Z</dcterms:created>
  <dcterms:modified xsi:type="dcterms:W3CDTF">2026-10-20T08:32:02Z</dcterms:modified>
</cp:coreProperties>
</file>