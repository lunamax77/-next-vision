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da6624f7-f545-6171-b07a-b83446d9004d}">
          <p14:sldIdLst>
            <p14:sldId id="256"/>
          </p14:sldIdLst>
        </p14:section>
        <p14:section name="ご提案の概要" id="{35b16945-b03d-0010-b072-0a591e452b31}">
          <p14:sldIdLst>
            <p14:sldId id="257"/>
            <p14:sldId id="258"/>
            <p14:sldId id="259"/>
          </p14:sldIdLst>
        </p14:section>
        <p14:section name="ワークショップ" id="{e905b895-c3db-11dd-f646-a88e0bc356c6}">
          <p14:sldIdLst>
            <p14:sldId id="260"/>
            <p14:sldId id="261"/>
            <p14:sldId id="262"/>
            <p14:sldId id="263"/>
          </p14:sldIdLst>
        </p14:section>
        <p14:section name="店頭演出" id="{b3964270-7385-24b3-2d77-00ebdfcc29bc}">
          <p14:sldIdLst>
            <p14:sldId id="264"/>
            <p14:sldId id="265"/>
            <p14:sldId id="266"/>
            <p14:sldId id="267"/>
          </p14:sldIdLst>
        </p14:section>
        <p14:section name="運用・お見積" id="{4eefe3a4-e2bd-161d-24bd-770bb740c52e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株式会社DreamCreation ｜ ドコモイベント支援向けコンテンツ提案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926080" cy="36576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ドコモ様向け 提案書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ドコモイベント支援向け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コンテンツ提案</a:t>
            </a: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クリスマス限定ワークショップで、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家族の来店と商談のきっかけを毎週つくる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5303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株式会社NTTドコモ　チャネル統括部　イベントマネジメント担当 御中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2026年10月　株式会社DreamCreation</a:t>
            </a:r>
            <a:endParaRPr lang="en-US" sz="1200" dirty="0"/>
          </a:p>
        </p:txBody>
      </p:sp>
      <p:pic>
        <p:nvPicPr>
          <p:cNvPr id="6" name="cover_img" descr="スノードームの完成イメー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914400"/>
            <a:ext cx="2743200" cy="274320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2026.11.28 ─ 12.25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ご依頼内容の整理</a:t>
            </a:r>
            <a:endParaRPr lang="en-US" sz="2400" dirty="0"/>
          </a:p>
        </p:txBody>
      </p:sp>
      <p:graphicFrame>
        <p:nvGraphicFramePr>
          <p:cNvPr id="3" name="reques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749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ご依頼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クリスマス仕様のスノードームワークショップパッケージ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コスプレ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サンタ・雪だるま・トナカイ ほか（全週で展開）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WSキット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4週実施分（1地区 300個／週）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開催中ツール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クリスマスアーチ ほか、開催中が伝わる装飾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ポスター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B0サイズ 10枚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数量・配送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上記10セット ／ 全国10地区へ配送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rea_card"/>
          <p:cNvSpPr/>
          <p:nvPr/>
        </p:nvSpPr>
        <p:spPr>
          <a:xfrm>
            <a:off x="5852160" y="1051560"/>
            <a:ext cx="2834640" cy="3493008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配送先 10地区</a:t>
            </a:r>
            <a:endParaRPr lang="en-US" sz="1500" dirty="0"/>
          </a:p>
        </p:txBody>
      </p:sp>
      <p:sp>
        <p:nvSpPr>
          <p:cNvPr id="6" name="area_0"/>
          <p:cNvSpPr/>
          <p:nvPr/>
        </p:nvSpPr>
        <p:spPr>
          <a:xfrm>
            <a:off x="6035040" y="169164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北海道</a:t>
            </a:r>
            <a:endParaRPr lang="en-US" sz="1300" dirty="0"/>
          </a:p>
        </p:txBody>
      </p:sp>
      <p:sp>
        <p:nvSpPr>
          <p:cNvPr id="8" name="area_1"/>
          <p:cNvSpPr/>
          <p:nvPr/>
        </p:nvSpPr>
        <p:spPr>
          <a:xfrm>
            <a:off x="7315200" y="169164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16916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東北</a:t>
            </a:r>
            <a:endParaRPr lang="en-US" sz="1300" dirty="0"/>
          </a:p>
        </p:txBody>
      </p:sp>
      <p:sp>
        <p:nvSpPr>
          <p:cNvPr id="10" name="area_2"/>
          <p:cNvSpPr/>
          <p:nvPr/>
        </p:nvSpPr>
        <p:spPr>
          <a:xfrm>
            <a:off x="6035040" y="224028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22402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関信越</a:t>
            </a:r>
            <a:endParaRPr lang="en-US" sz="1300" dirty="0"/>
          </a:p>
        </p:txBody>
      </p:sp>
      <p:sp>
        <p:nvSpPr>
          <p:cNvPr id="12" name="area_3"/>
          <p:cNvSpPr/>
          <p:nvPr/>
        </p:nvSpPr>
        <p:spPr>
          <a:xfrm>
            <a:off x="7315200" y="224028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0" y="22402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首都圏</a:t>
            </a:r>
            <a:endParaRPr lang="en-US" sz="1300" dirty="0"/>
          </a:p>
        </p:txBody>
      </p:sp>
      <p:sp>
        <p:nvSpPr>
          <p:cNvPr id="14" name="area_4"/>
          <p:cNvSpPr/>
          <p:nvPr/>
        </p:nvSpPr>
        <p:spPr>
          <a:xfrm>
            <a:off x="6035040" y="278892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東海</a:t>
            </a:r>
            <a:endParaRPr lang="en-US" sz="1300" dirty="0"/>
          </a:p>
        </p:txBody>
      </p:sp>
      <p:sp>
        <p:nvSpPr>
          <p:cNvPr id="16" name="area_5"/>
          <p:cNvSpPr/>
          <p:nvPr/>
        </p:nvSpPr>
        <p:spPr>
          <a:xfrm>
            <a:off x="7315200" y="278892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0" y="2788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北陸</a:t>
            </a:r>
            <a:endParaRPr lang="en-US" sz="1300" dirty="0"/>
          </a:p>
        </p:txBody>
      </p:sp>
      <p:sp>
        <p:nvSpPr>
          <p:cNvPr id="18" name="area_6"/>
          <p:cNvSpPr/>
          <p:nvPr/>
        </p:nvSpPr>
        <p:spPr>
          <a:xfrm>
            <a:off x="6035040" y="333756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35040" y="3337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関西</a:t>
            </a:r>
            <a:endParaRPr lang="en-US" sz="1300" dirty="0"/>
          </a:p>
        </p:txBody>
      </p:sp>
      <p:sp>
        <p:nvSpPr>
          <p:cNvPr id="20" name="area_7"/>
          <p:cNvSpPr/>
          <p:nvPr/>
        </p:nvSpPr>
        <p:spPr>
          <a:xfrm>
            <a:off x="7315200" y="333756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0" y="3337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中国</a:t>
            </a:r>
            <a:endParaRPr lang="en-US" sz="1300" dirty="0"/>
          </a:p>
        </p:txBody>
      </p:sp>
      <p:sp>
        <p:nvSpPr>
          <p:cNvPr id="22" name="area_8"/>
          <p:cNvSpPr/>
          <p:nvPr/>
        </p:nvSpPr>
        <p:spPr>
          <a:xfrm>
            <a:off x="6035040" y="388620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38862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四国</a:t>
            </a:r>
            <a:endParaRPr lang="en-US" sz="1300" dirty="0"/>
          </a:p>
        </p:txBody>
      </p:sp>
      <p:sp>
        <p:nvSpPr>
          <p:cNvPr id="24" name="area_9"/>
          <p:cNvSpPr/>
          <p:nvPr/>
        </p:nvSpPr>
        <p:spPr>
          <a:xfrm>
            <a:off x="7315200" y="3886200"/>
            <a:ext cx="1143000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0" y="38862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九州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本企画の3つの目的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無料のクリスマス体験で家族連れを惹きつけ、毎週の来店と商談機会を創出します。</a:t>
            </a:r>
            <a:endParaRPr lang="en-US" sz="1500" dirty="0"/>
          </a:p>
        </p:txBody>
      </p:sp>
      <p:sp>
        <p:nvSpPr>
          <p:cNvPr id="4" name="goal_1"/>
          <p:cNvSpPr/>
          <p:nvPr/>
        </p:nvSpPr>
        <p:spPr>
          <a:xfrm>
            <a:off x="457200" y="160020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oal_badge_1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家族連れが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自然に集まる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クリスマスアーチ＋コスプレ＋B0ボードPOPで、通行中のファミリー層をブースへ誘導。</a:t>
            </a:r>
            <a:endParaRPr lang="en-US" sz="1300" dirty="0"/>
          </a:p>
        </p:txBody>
      </p:sp>
      <p:sp>
        <p:nvSpPr>
          <p:cNvPr id="9" name="goal_2"/>
          <p:cNvSpPr/>
          <p:nvPr/>
        </p:nvSpPr>
        <p:spPr>
          <a:xfrm>
            <a:off x="3246120" y="160020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goal_badge_2"/>
          <p:cNvSpPr/>
          <p:nvPr/>
        </p:nvSpPr>
        <p:spPr>
          <a:xfrm>
            <a:off x="342900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毎週ちがう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作品で再来店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スノードームとスクイーズを週替わりで。型・モチーフも変え、4週連続の来店動機に。</a:t>
            </a:r>
            <a:endParaRPr lang="en-US" sz="1300" dirty="0"/>
          </a:p>
        </p:txBody>
      </p:sp>
      <p:sp>
        <p:nvSpPr>
          <p:cNvPr id="14" name="goal_3"/>
          <p:cNvSpPr/>
          <p:nvPr/>
        </p:nvSpPr>
        <p:spPr>
          <a:xfrm>
            <a:off x="6035040" y="160020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goal_badge_3"/>
          <p:cNvSpPr/>
          <p:nvPr/>
        </p:nvSpPr>
        <p:spPr>
          <a:xfrm>
            <a:off x="621792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親子分離で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商談機会を創出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お子様は約20分の制作に集中。その間に保護者様をカウンターへご案内できます。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1セットの中身（×10セット）</a:t>
            </a:r>
            <a:endParaRPr lang="en-US" sz="2400" dirty="0"/>
          </a:p>
        </p:txBody>
      </p:sp>
      <p:sp>
        <p:nvSpPr>
          <p:cNvPr id="3" name="part_0"/>
          <p:cNvSpPr/>
          <p:nvPr/>
        </p:nvSpPr>
        <p:spPr>
          <a:xfrm>
            <a:off x="45720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rt_badge_0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WSキット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スノードーム／スクイーズ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300個／週 × 4週＝1,200個</a:t>
            </a:r>
            <a:endParaRPr lang="en-US" sz="1200" dirty="0"/>
          </a:p>
        </p:txBody>
      </p:sp>
      <p:sp>
        <p:nvSpPr>
          <p:cNvPr id="8" name="part_1"/>
          <p:cNvSpPr/>
          <p:nvPr/>
        </p:nvSpPr>
        <p:spPr>
          <a:xfrm>
            <a:off x="324612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rt_badge_1"/>
          <p:cNvSpPr/>
          <p:nvPr/>
        </p:nvSpPr>
        <p:spPr>
          <a:xfrm>
            <a:off x="3429000" y="1234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クリスマスアーチ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エアーディスプレイ（期間中レンタル）</a:t>
            </a:r>
            <a:endParaRPr lang="en-US" sz="1200" dirty="0"/>
          </a:p>
        </p:txBody>
      </p:sp>
      <p:sp>
        <p:nvSpPr>
          <p:cNvPr id="13" name="part_2"/>
          <p:cNvSpPr/>
          <p:nvPr/>
        </p:nvSpPr>
        <p:spPr>
          <a:xfrm>
            <a:off x="6035040" y="10515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rt_badge_2"/>
          <p:cNvSpPr/>
          <p:nvPr/>
        </p:nvSpPr>
        <p:spPr>
          <a:xfrm>
            <a:off x="6217920" y="1234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衣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コスプレ衣装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サンタ・トナカイ・雪だるま・エルフ ほか</a:t>
            </a:r>
            <a:endParaRPr lang="en-US" sz="1200" dirty="0"/>
          </a:p>
        </p:txBody>
      </p:sp>
      <p:sp>
        <p:nvSpPr>
          <p:cNvPr id="18" name="part_3"/>
          <p:cNvSpPr/>
          <p:nvPr/>
        </p:nvSpPr>
        <p:spPr>
          <a:xfrm>
            <a:off x="45720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rt_badge_3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掲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B0ボードPOP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10枚。4週の内容がひと目でわかるデザイン</a:t>
            </a:r>
            <a:endParaRPr lang="en-US" sz="1200" dirty="0"/>
          </a:p>
        </p:txBody>
      </p:sp>
      <p:sp>
        <p:nvSpPr>
          <p:cNvPr id="23" name="part_4"/>
          <p:cNvSpPr/>
          <p:nvPr/>
        </p:nvSpPr>
        <p:spPr>
          <a:xfrm>
            <a:off x="324612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rt_badge_4"/>
          <p:cNvSpPr/>
          <p:nvPr/>
        </p:nvSpPr>
        <p:spPr>
          <a:xfrm>
            <a:off x="3429000" y="30175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飾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開催中ツール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スタンド看板・のぼり・テーブル装飾 ほか</a:t>
            </a:r>
            <a:endParaRPr lang="en-US" sz="1200" dirty="0"/>
          </a:p>
        </p:txBody>
      </p:sp>
      <p:sp>
        <p:nvSpPr>
          <p:cNvPr id="28" name="part_5"/>
          <p:cNvSpPr/>
          <p:nvPr/>
        </p:nvSpPr>
        <p:spPr>
          <a:xfrm>
            <a:off x="6035040" y="28346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art_badge_5"/>
          <p:cNvSpPr/>
          <p:nvPr/>
        </p:nvSpPr>
        <p:spPr>
          <a:xfrm>
            <a:off x="6217920" y="30175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手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運用マニュアル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店舗スタッフ様だけで運営できる手順書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目玉①　スノードーム作り</a:t>
            </a:r>
            <a:endParaRPr lang="en-US" sz="2400" dirty="0"/>
          </a:p>
        </p:txBody>
      </p:sp>
      <p:pic>
        <p:nvPicPr>
          <p:cNvPr id="3" name="img_snowdome" descr="スノードームの完成イメー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完成イメージ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3749040" y="1097280"/>
            <a:ext cx="1280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内容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09728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ミニフィギュア（サンタ・ツリー・雪だるま等）とラメ雪を選んで、自分だけのスノードームを制作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所要時間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約15〜20分／人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対象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3歳〜小学生（未就学児は保護者様と一緒に）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3703320"/>
            <a:ext cx="1280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持ち帰り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冬のインテリアとして飾れる。記念性が高く、家族の会話が続く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目玉②　スクイーズ作り（ぷにラボ）</a:t>
            </a:r>
            <a:endParaRPr lang="en-US" sz="2400" dirty="0"/>
          </a:p>
        </p:txBody>
      </p:sp>
      <p:pic>
        <p:nvPicPr>
          <p:cNvPr id="3" name="img_squeeze_event" descr="ドコモ店頭でのスクイーズ作成体験ブー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057400" cy="2743200"/>
          </a:xfrm>
          <a:prstGeom prst="rect">
            <a:avLst/>
          </a:prstGeom>
        </p:spPr>
      </p:pic>
      <p:pic>
        <p:nvPicPr>
          <p:cNvPr id="4" name="img_punilab_paw" descr="肉球スクイーズの完成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005840"/>
            <a:ext cx="2743200" cy="2743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ドコモ店頭での実施風景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（ヨドバシ梅田）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265176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完成品（肉球スクイーズ）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623560" y="1005840"/>
            <a:ext cx="3063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内容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623560" y="1280160"/>
            <a:ext cx="3063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型とカラーを選び、液を混ぜて型に流し込む。型のまま持ち帰り、おうちで完成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623560" y="1874520"/>
            <a:ext cx="3063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クリスマス仕様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623560" y="2148840"/>
            <a:ext cx="3063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ツリー・ブーツ・雪だるま・プレゼント型／赤・緑・白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62356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所要時間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3017520"/>
            <a:ext cx="3063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会場作業 約20分（＋自宅仕上げ）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3611880"/>
            <a:ext cx="3063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実績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623560" y="3886200"/>
            <a:ext cx="30632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ドコモショップ・量販店のドコモブースで実施済み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4週ローテーション計画（11月最終週〜12月）</a:t>
            </a:r>
            <a:endParaRPr lang="en-US" sz="2400" dirty="0"/>
          </a:p>
        </p:txBody>
      </p:sp>
      <p:sp>
        <p:nvSpPr>
          <p:cNvPr id="3" name="wk_head_0"/>
          <p:cNvSpPr/>
          <p:nvPr/>
        </p:nvSpPr>
        <p:spPr>
          <a:xfrm>
            <a:off x="457200" y="105156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第1週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11/28(土)〜12/4(金)</a:t>
            </a:r>
            <a:endParaRPr lang="en-US" sz="1400" dirty="0"/>
          </a:p>
        </p:txBody>
      </p:sp>
      <p:sp>
        <p:nvSpPr>
          <p:cNvPr id="5" name="wk_body_0"/>
          <p:cNvSpPr/>
          <p:nvPr/>
        </p:nvSpPr>
        <p:spPr>
          <a:xfrm>
            <a:off x="457200" y="182880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920240"/>
            <a:ext cx="170078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ワークショップ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スノードーム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サンタモチーフ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コスプレ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サンタ／トナカイ</a:t>
            </a:r>
            <a:endParaRPr lang="en-US" sz="1400" dirty="0"/>
          </a:p>
        </p:txBody>
      </p:sp>
      <p:sp>
        <p:nvSpPr>
          <p:cNvPr id="7" name="wk_head_1"/>
          <p:cNvSpPr/>
          <p:nvPr/>
        </p:nvSpPr>
        <p:spPr>
          <a:xfrm>
            <a:off x="2560320" y="105156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第2週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12/5(土)〜12/11(金)</a:t>
            </a:r>
            <a:endParaRPr lang="en-US" sz="1400" dirty="0"/>
          </a:p>
        </p:txBody>
      </p:sp>
      <p:sp>
        <p:nvSpPr>
          <p:cNvPr id="9" name="wk_body_1"/>
          <p:cNvSpPr/>
          <p:nvPr/>
        </p:nvSpPr>
        <p:spPr>
          <a:xfrm>
            <a:off x="2560320" y="182880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920240"/>
            <a:ext cx="170078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ワークショップ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スクイーズ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ツリー・ブーツ型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コスプレ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雪だるま／エルフ</a:t>
            </a:r>
            <a:endParaRPr lang="en-US" sz="1400" dirty="0"/>
          </a:p>
        </p:txBody>
      </p:sp>
      <p:sp>
        <p:nvSpPr>
          <p:cNvPr id="11" name="wk_head_2"/>
          <p:cNvSpPr/>
          <p:nvPr/>
        </p:nvSpPr>
        <p:spPr>
          <a:xfrm>
            <a:off x="4663440" y="105156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第3週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12/12(土)〜12/18(金)</a:t>
            </a:r>
            <a:endParaRPr lang="en-US" sz="1400" dirty="0"/>
          </a:p>
        </p:txBody>
      </p:sp>
      <p:sp>
        <p:nvSpPr>
          <p:cNvPr id="13" name="wk_body_2"/>
          <p:cNvSpPr/>
          <p:nvPr/>
        </p:nvSpPr>
        <p:spPr>
          <a:xfrm>
            <a:off x="4663440" y="182880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920240"/>
            <a:ext cx="170078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ワークショップ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スクイーズ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雪だるま・プレゼント型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コスプレ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トナカイ／ジンジャーブレッド</a:t>
            </a:r>
            <a:endParaRPr lang="en-US" sz="1400" dirty="0"/>
          </a:p>
        </p:txBody>
      </p:sp>
      <p:sp>
        <p:nvSpPr>
          <p:cNvPr id="15" name="wk_head_3"/>
          <p:cNvSpPr/>
          <p:nvPr/>
        </p:nvSpPr>
        <p:spPr>
          <a:xfrm>
            <a:off x="6766560" y="105156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051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第4週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12/19(土)〜12/25(金)</a:t>
            </a:r>
            <a:endParaRPr lang="en-US" sz="1400" dirty="0"/>
          </a:p>
        </p:txBody>
      </p:sp>
      <p:sp>
        <p:nvSpPr>
          <p:cNvPr id="17" name="wk_body_3"/>
          <p:cNvSpPr/>
          <p:nvPr/>
        </p:nvSpPr>
        <p:spPr>
          <a:xfrm>
            <a:off x="6766560" y="182880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76288" y="1920240"/>
            <a:ext cx="170078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ワークショップ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スノードーム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雪だるま・トナカイモチーフ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コスプレ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サンタ（男女）／ツリー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同じワークショップが続く週も、型・モチーフ・衣装を変えて“新作”として訴求。毎週来ても新しい体験になります。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親子分離の運用設計</a:t>
            </a:r>
            <a:endParaRPr lang="en-US" sz="2400" dirty="0"/>
          </a:p>
        </p:txBody>
      </p:sp>
      <p:sp>
        <p:nvSpPr>
          <p:cNvPr id="3" name="pc_head_0"/>
          <p:cNvSpPr/>
          <p:nvPr/>
        </p:nvSpPr>
        <p:spPr>
          <a:xfrm>
            <a:off x="457200" y="1005840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お子様　約20分</a:t>
            </a:r>
            <a:endParaRPr lang="en-US" sz="1600" dirty="0"/>
          </a:p>
        </p:txBody>
      </p:sp>
      <p:sp>
        <p:nvSpPr>
          <p:cNvPr id="5" name="pc_0_0"/>
          <p:cNvSpPr/>
          <p:nvPr/>
        </p:nvSpPr>
        <p:spPr>
          <a:xfrm>
            <a:off x="457200" y="169164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c_b_0_0"/>
          <p:cNvSpPr/>
          <p:nvPr/>
        </p:nvSpPr>
        <p:spPr>
          <a:xfrm>
            <a:off x="566928" y="17739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91640"/>
            <a:ext cx="3337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スノードーム／スクイーズを選ぶ</a:t>
            </a:r>
            <a:endParaRPr lang="en-US" sz="1300" dirty="0"/>
          </a:p>
        </p:txBody>
      </p:sp>
      <p:sp>
        <p:nvSpPr>
          <p:cNvPr id="9" name="pc_0_1"/>
          <p:cNvSpPr/>
          <p:nvPr/>
        </p:nvSpPr>
        <p:spPr>
          <a:xfrm>
            <a:off x="457200" y="2313432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c_b_0_1"/>
          <p:cNvSpPr/>
          <p:nvPr/>
        </p:nvSpPr>
        <p:spPr>
          <a:xfrm>
            <a:off x="566928" y="239572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13432"/>
            <a:ext cx="3337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見本と手順カードを見ながら制作に集中</a:t>
            </a:r>
            <a:endParaRPr lang="en-US" sz="1300" dirty="0"/>
          </a:p>
        </p:txBody>
      </p:sp>
      <p:sp>
        <p:nvSpPr>
          <p:cNvPr id="13" name="pc_0_2"/>
          <p:cNvSpPr/>
          <p:nvPr/>
        </p:nvSpPr>
        <p:spPr>
          <a:xfrm>
            <a:off x="457200" y="2935224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c_b_0_2"/>
          <p:cNvSpPr/>
          <p:nvPr/>
        </p:nvSpPr>
        <p:spPr>
          <a:xfrm>
            <a:off x="566928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35224"/>
            <a:ext cx="3337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完成（スクイーズは型のまま袋へ）</a:t>
            </a:r>
            <a:endParaRPr lang="en-US" sz="1300" dirty="0"/>
          </a:p>
        </p:txBody>
      </p:sp>
      <p:sp>
        <p:nvSpPr>
          <p:cNvPr id="17" name="pc_0_3"/>
          <p:cNvSpPr/>
          <p:nvPr/>
        </p:nvSpPr>
        <p:spPr>
          <a:xfrm>
            <a:off x="457200" y="3557016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c_b_0_3"/>
          <p:cNvSpPr/>
          <p:nvPr/>
        </p:nvSpPr>
        <p:spPr>
          <a:xfrm>
            <a:off x="566928" y="3639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57016"/>
            <a:ext cx="3337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作品を持って保護者様と合流</a:t>
            </a:r>
            <a:endParaRPr lang="en-US" sz="1300" dirty="0"/>
          </a:p>
        </p:txBody>
      </p:sp>
      <p:sp>
        <p:nvSpPr>
          <p:cNvPr id="21" name="pc_head_1"/>
          <p:cNvSpPr/>
          <p:nvPr/>
        </p:nvSpPr>
        <p:spPr>
          <a:xfrm>
            <a:off x="4663440" y="1005840"/>
            <a:ext cx="40233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1005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保護者様　約20分</a:t>
            </a:r>
            <a:endParaRPr lang="en-US" sz="1600" dirty="0"/>
          </a:p>
        </p:txBody>
      </p:sp>
      <p:sp>
        <p:nvSpPr>
          <p:cNvPr id="23" name="pc_1_0"/>
          <p:cNvSpPr/>
          <p:nvPr/>
        </p:nvSpPr>
        <p:spPr>
          <a:xfrm>
            <a:off x="4663440" y="169164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c_b_1_0"/>
          <p:cNvSpPr/>
          <p:nvPr/>
        </p:nvSpPr>
        <p:spPr>
          <a:xfrm>
            <a:off x="4773168" y="1773936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3168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1691640"/>
            <a:ext cx="3337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隣接の商談カウンターへご案内</a:t>
            </a:r>
            <a:endParaRPr lang="en-US" sz="1300" dirty="0"/>
          </a:p>
        </p:txBody>
      </p:sp>
      <p:sp>
        <p:nvSpPr>
          <p:cNvPr id="27" name="pc_1_1"/>
          <p:cNvSpPr/>
          <p:nvPr/>
        </p:nvSpPr>
        <p:spPr>
          <a:xfrm>
            <a:off x="4663440" y="2313432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pc_b_1_1"/>
          <p:cNvSpPr/>
          <p:nvPr/>
        </p:nvSpPr>
        <p:spPr>
          <a:xfrm>
            <a:off x="4773168" y="2395728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7316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2313432"/>
            <a:ext cx="3337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料金プラン・機種変更のご相談</a:t>
            </a:r>
            <a:endParaRPr lang="en-US" sz="1300" dirty="0"/>
          </a:p>
        </p:txBody>
      </p:sp>
      <p:sp>
        <p:nvSpPr>
          <p:cNvPr id="31" name="pc_1_2"/>
          <p:cNvSpPr/>
          <p:nvPr/>
        </p:nvSpPr>
        <p:spPr>
          <a:xfrm>
            <a:off x="4663440" y="2935224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pc_b_1_2"/>
          <p:cNvSpPr/>
          <p:nvPr/>
        </p:nvSpPr>
        <p:spPr>
          <a:xfrm>
            <a:off x="4773168" y="30175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7316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2935224"/>
            <a:ext cx="3337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見積ご依頼でクリスマス特典をご案内</a:t>
            </a:r>
            <a:endParaRPr lang="en-US" sz="1300" dirty="0"/>
          </a:p>
        </p:txBody>
      </p:sp>
      <p:sp>
        <p:nvSpPr>
          <p:cNvPr id="35" name="pc_1_3"/>
          <p:cNvSpPr/>
          <p:nvPr/>
        </p:nvSpPr>
        <p:spPr>
          <a:xfrm>
            <a:off x="4663440" y="3557016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c_b_1_3"/>
          <p:cNvSpPr/>
          <p:nvPr/>
        </p:nvSpPr>
        <p:spPr>
          <a:xfrm>
            <a:off x="4773168" y="36393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73168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257800" y="3557016"/>
            <a:ext cx="33375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お子様の完成作品を一緒に確認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運営スタッフの派遣はなし。店舗スタッフ様1名でも回せるよう、手順カードと運用マニュアルを同梱します。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クリスマスアーチ（開催中ツールの主役）</a:t>
            </a:r>
            <a:endParaRPr lang="en-US" sz="2400" dirty="0"/>
          </a:p>
        </p:txBody>
      </p:sp>
      <p:pic>
        <p:nvPicPr>
          <p:cNvPr id="3" name="img_arch" descr="サンタとスノーマン付きのエアーアーチ参考写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291840" cy="32735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370832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参考イメージ</a:t>
            </a:r>
            <a:endParaRPr lang="en-US" sz="1000" dirty="0"/>
          </a:p>
        </p:txBody>
      </p:sp>
      <p:sp>
        <p:nvSpPr>
          <p:cNvPr id="5" name="arch_badge_0"/>
          <p:cNvSpPr/>
          <p:nvPr/>
        </p:nvSpPr>
        <p:spPr>
          <a:xfrm>
            <a:off x="4114800" y="1097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遠くからでも目立つ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463040"/>
            <a:ext cx="4023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サンタ＆スノーマン付きのエアーアーチを入口に設置。ワークショップ開催中がひと目で伝わる。</a:t>
            </a:r>
            <a:endParaRPr lang="en-US" sz="1300" dirty="0"/>
          </a:p>
        </p:txBody>
      </p:sp>
      <p:sp>
        <p:nvSpPr>
          <p:cNvPr id="9" name="arch_badge_1"/>
          <p:cNvSpPr/>
          <p:nvPr/>
        </p:nvSpPr>
        <p:spPr>
          <a:xfrm>
            <a:off x="4114800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176272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フォトスポットに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560320"/>
            <a:ext cx="4023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アーチ前での記念撮影がSNS投稿のきっかけに。</a:t>
            </a:r>
            <a:endParaRPr lang="en-US" sz="1300" dirty="0"/>
          </a:p>
        </p:txBody>
      </p:sp>
      <p:sp>
        <p:nvSpPr>
          <p:cNvPr id="13" name="arch_badge_2"/>
          <p:cNvSpPr/>
          <p:nvPr/>
        </p:nvSpPr>
        <p:spPr>
          <a:xfrm>
            <a:off x="4114800" y="32918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期間中レンタル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3657600"/>
            <a:ext cx="40233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4週の期間中は返却不要。期間終了後に回収。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ワークショップ開催中ツール（案）</a:t>
            </a:r>
            <a:endParaRPr lang="en-US" sz="2400" dirty="0"/>
          </a:p>
        </p:txBody>
      </p:sp>
      <p:sp>
        <p:nvSpPr>
          <p:cNvPr id="3" name="tool_0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ol_badge_0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スタンド看板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27048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ツリー型A型看板「ただいまワークショップ開催中」</a:t>
            </a:r>
            <a:endParaRPr lang="en-US" sz="1200" dirty="0"/>
          </a:p>
        </p:txBody>
      </p:sp>
      <p:sp>
        <p:nvSpPr>
          <p:cNvPr id="8" name="tool_1"/>
          <p:cNvSpPr/>
          <p:nvPr/>
        </p:nvSpPr>
        <p:spPr>
          <a:xfrm>
            <a:off x="466344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ool_badge_1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のぼり・タペストリー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527048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クリスマス柄。遠目でも開催がわかる</a:t>
            </a:r>
            <a:endParaRPr lang="en-US" sz="1200" dirty="0"/>
          </a:p>
        </p:txBody>
      </p:sp>
      <p:sp>
        <p:nvSpPr>
          <p:cNvPr id="13" name="tool_2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ool_badge_2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テーブル装飾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15768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赤緑のテーブルクロス、ミニツリー、LEDライト</a:t>
            </a:r>
            <a:endParaRPr lang="en-US" sz="1200" dirty="0"/>
          </a:p>
        </p:txBody>
      </p:sp>
      <p:sp>
        <p:nvSpPr>
          <p:cNvPr id="18" name="tool_3"/>
          <p:cNvSpPr/>
          <p:nvPr/>
        </p:nvSpPr>
        <p:spPr>
          <a:xfrm>
            <a:off x="466344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ool_badge_3"/>
          <p:cNvSpPr/>
          <p:nvPr/>
        </p:nvSpPr>
        <p:spPr>
          <a:xfrm>
            <a:off x="4846320" y="25146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吊り下げPOP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715768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雪の結晶・オーナメント型で天井から演出</a:t>
            </a:r>
            <a:endParaRPr lang="en-US" sz="1200" dirty="0"/>
          </a:p>
        </p:txBody>
      </p:sp>
      <p:sp>
        <p:nvSpPr>
          <p:cNvPr id="23" name="tool_4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ool_badge_4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538728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作品ディスプレイ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904488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完成見本を展示し、通行客に“つくれるもの”を見せる</a:t>
            </a:r>
            <a:endParaRPr lang="en-US" sz="1200" dirty="0"/>
          </a:p>
        </p:txBody>
      </p:sp>
      <p:sp>
        <p:nvSpPr>
          <p:cNvPr id="28" name="tool_5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ool_badge_5"/>
          <p:cNvSpPr/>
          <p:nvPr/>
        </p:nvSpPr>
        <p:spPr>
          <a:xfrm>
            <a:off x="4846320" y="3703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538728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週替わり告知カード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904488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「来週はこれがつくれる！」で再来店を促す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コスプレ（全週で週替わり展開）</a:t>
            </a:r>
            <a:endParaRPr lang="en-US" sz="2400" dirty="0"/>
          </a:p>
        </p:txBody>
      </p:sp>
      <p:sp>
        <p:nvSpPr>
          <p:cNvPr id="3" name="cos_0"/>
          <p:cNvSpPr/>
          <p:nvPr/>
        </p:nvSpPr>
        <p:spPr>
          <a:xfrm>
            <a:off x="457200" y="105156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s_dot_0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サンタ（男女）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帽子・ひげ・ベルト付セット</a:t>
            </a:r>
            <a:endParaRPr lang="en-US" sz="1100" dirty="0"/>
          </a:p>
        </p:txBody>
      </p:sp>
      <p:sp>
        <p:nvSpPr>
          <p:cNvPr id="7" name="cos_1"/>
          <p:cNvSpPr/>
          <p:nvPr/>
        </p:nvSpPr>
        <p:spPr>
          <a:xfrm>
            <a:off x="3246120" y="105156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s_dot_1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トナカイ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フリース着ぐるみ＋角カチューシャ</a:t>
            </a:r>
            <a:endParaRPr lang="en-US" sz="1100" dirty="0"/>
          </a:p>
        </p:txBody>
      </p:sp>
      <p:sp>
        <p:nvSpPr>
          <p:cNvPr id="11" name="cos_2"/>
          <p:cNvSpPr/>
          <p:nvPr/>
        </p:nvSpPr>
        <p:spPr>
          <a:xfrm>
            <a:off x="6035040" y="105156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s_dot_2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9CC9DD"/>
          </a:solidFill>
          <a:ln w="12700">
            <a:solidFill>
              <a:srgbClr val="9CC9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雪だるま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着ぐるみ／ポンチョ</a:t>
            </a:r>
            <a:endParaRPr lang="en-US" sz="1100" dirty="0"/>
          </a:p>
        </p:txBody>
      </p:sp>
      <p:sp>
        <p:nvSpPr>
          <p:cNvPr id="15" name="cos_3"/>
          <p:cNvSpPr/>
          <p:nvPr/>
        </p:nvSpPr>
        <p:spPr>
          <a:xfrm>
            <a:off x="457200" y="237744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os_dot_3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エルフ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緑の衣装＋とんがり帽子</a:t>
            </a:r>
            <a:endParaRPr lang="en-US" sz="1100" dirty="0"/>
          </a:p>
        </p:txBody>
      </p:sp>
      <p:sp>
        <p:nvSpPr>
          <p:cNvPr id="19" name="cos_4"/>
          <p:cNvSpPr/>
          <p:nvPr/>
        </p:nvSpPr>
        <p:spPr>
          <a:xfrm>
            <a:off x="3246120" y="237744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os_dot_4"/>
          <p:cNvSpPr/>
          <p:nvPr/>
        </p:nvSpPr>
        <p:spPr>
          <a:xfrm>
            <a:off x="3429000" y="2697480"/>
            <a:ext cx="548640" cy="548640"/>
          </a:xfrm>
          <a:prstGeom prst="ellipse">
            <a:avLst/>
          </a:prstGeom>
          <a:solidFill>
            <a:srgbClr val="B7792E"/>
          </a:solidFill>
          <a:ln w="12700">
            <a:solidFill>
              <a:srgbClr val="B779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ジンジャーブレッド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着ぐるみタイプ</a:t>
            </a:r>
            <a:endParaRPr lang="en-US" sz="1100" dirty="0"/>
          </a:p>
        </p:txBody>
      </p:sp>
      <p:sp>
        <p:nvSpPr>
          <p:cNvPr id="23" name="cos_5"/>
          <p:cNvSpPr/>
          <p:nvPr/>
        </p:nvSpPr>
        <p:spPr>
          <a:xfrm>
            <a:off x="6035040" y="237744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os_dot_5"/>
          <p:cNvSpPr/>
          <p:nvPr/>
        </p:nvSpPr>
        <p:spPr>
          <a:xfrm>
            <a:off x="6217920" y="26974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クリスマスツリー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かぶり物・ポンチョ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Amazonで調達可能な市販衣装から選定（大人サイズ・スタッフ着用）。週ごとに衣装を入れ替え、毎週ちがう店頭の雰囲気をつくります。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B0ボードPOP　デザイン案</a:t>
            </a:r>
            <a:endParaRPr lang="en-US" sz="2400" dirty="0"/>
          </a:p>
        </p:txBody>
      </p:sp>
      <p:sp>
        <p:nvSpPr>
          <p:cNvPr id="3" name="poster_A"/>
          <p:cNvSpPr/>
          <p:nvPr/>
        </p:nvSpPr>
        <p:spPr>
          <a:xfrm>
            <a:off x="1143000" y="1051560"/>
            <a:ext cx="1234440" cy="17373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051560"/>
            <a:ext cx="1234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スノードーム主役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2423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大きなスノードームの中に雪景色とお店。「あなただけのスノードームをつくろう」</a:t>
            </a:r>
            <a:endParaRPr lang="en-US" sz="1200" dirty="0"/>
          </a:p>
        </p:txBody>
      </p:sp>
      <p:sp>
        <p:nvSpPr>
          <p:cNvPr id="7" name="poster_B"/>
          <p:cNvSpPr/>
          <p:nvPr/>
        </p:nvSpPr>
        <p:spPr>
          <a:xfrm>
            <a:off x="3931920" y="1051560"/>
            <a:ext cx="1234440" cy="1737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051560"/>
            <a:ext cx="1234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4週カレンダー型（推奨）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291840"/>
            <a:ext cx="2423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4週の内容をアドベントカレンダー風に配置。「毎週かわる！クリスマスワークショップ」</a:t>
            </a:r>
            <a:endParaRPr lang="en-US" sz="1200" dirty="0"/>
          </a:p>
        </p:txBody>
      </p:sp>
      <p:sp>
        <p:nvSpPr>
          <p:cNvPr id="11" name="poster_C"/>
          <p:cNvSpPr/>
          <p:nvPr/>
        </p:nvSpPr>
        <p:spPr>
          <a:xfrm>
            <a:off x="6720840" y="1051560"/>
            <a:ext cx="1234440" cy="17373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0840" y="1051560"/>
            <a:ext cx="1234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C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キャラクター型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291840"/>
            <a:ext cx="2423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サンタ・雪だるま・トナカイが手招き。完成作品の写真を大きく配置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共通：開催日時・対象年齢・参加条件・店舗名記入欄（手書き可）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運用フロー・スケジュール</a:t>
            </a:r>
            <a:endParaRPr lang="en-US" sz="2400" dirty="0"/>
          </a:p>
        </p:txBody>
      </p:sp>
      <p:sp>
        <p:nvSpPr>
          <p:cNvPr id="3" name="step_0"/>
          <p:cNvSpPr/>
          <p:nvPr/>
        </p:nvSpPr>
        <p:spPr>
          <a:xfrm>
            <a:off x="457200" y="1188720"/>
            <a:ext cx="1600200" cy="7315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ご発注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600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10月下旬〜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11月上旬</a:t>
            </a:r>
            <a:endParaRPr lang="en-US" sz="1200" dirty="0"/>
          </a:p>
        </p:txBody>
      </p:sp>
      <p:sp>
        <p:nvSpPr>
          <p:cNvPr id="6" name="step_1"/>
          <p:cNvSpPr/>
          <p:nvPr/>
        </p:nvSpPr>
        <p:spPr>
          <a:xfrm>
            <a:off x="2139696" y="1188720"/>
            <a:ext cx="1600200" cy="7315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22576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制作・調達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2011680"/>
            <a:ext cx="1600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キット・ポスター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衣装・ツール</a:t>
            </a:r>
            <a:endParaRPr lang="en-US" sz="1200" dirty="0"/>
          </a:p>
        </p:txBody>
      </p:sp>
      <p:sp>
        <p:nvSpPr>
          <p:cNvPr id="9" name="step_2"/>
          <p:cNvSpPr/>
          <p:nvPr/>
        </p:nvSpPr>
        <p:spPr>
          <a:xfrm>
            <a:off x="3822192" y="1188720"/>
            <a:ext cx="1600200" cy="7315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05072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配送・検品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2011680"/>
            <a:ext cx="1600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11月下旬着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検品確認書を返送</a:t>
            </a:r>
            <a:endParaRPr lang="en-US" sz="1200" dirty="0"/>
          </a:p>
        </p:txBody>
      </p:sp>
      <p:sp>
        <p:nvSpPr>
          <p:cNvPr id="12" name="step_3"/>
          <p:cNvSpPr/>
          <p:nvPr/>
        </p:nvSpPr>
        <p:spPr>
          <a:xfrm>
            <a:off x="5504688" y="1188720"/>
            <a:ext cx="160020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87568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店舗で実施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2011680"/>
            <a:ext cx="1600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11/28〜12/25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4週間</a:t>
            </a:r>
            <a:endParaRPr lang="en-US" sz="1200" dirty="0"/>
          </a:p>
        </p:txBody>
      </p:sp>
      <p:sp>
        <p:nvSpPr>
          <p:cNvPr id="15" name="step_4"/>
          <p:cNvSpPr/>
          <p:nvPr/>
        </p:nvSpPr>
        <p:spPr>
          <a:xfrm>
            <a:off x="7187184" y="1188720"/>
            <a:ext cx="1600200" cy="7315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70064" y="1188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返却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87184" y="2011680"/>
            <a:ext cx="1600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アーチを梱包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着払い伝票で返送</a:t>
            </a:r>
            <a:endParaRPr lang="en-US" sz="1200" dirty="0"/>
          </a:p>
        </p:txBody>
      </p:sp>
      <p:sp>
        <p:nvSpPr>
          <p:cNvPr id="18" name="ops_note"/>
          <p:cNvSpPr/>
          <p:nvPr/>
        </p:nvSpPr>
        <p:spPr>
          <a:xfrm>
            <a:off x="457200" y="2926080"/>
            <a:ext cx="82296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17520"/>
            <a:ext cx="78638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店舗スタッフ様だけで運営できる体制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運営スタッフの派遣はなし。キット・物品と運用マニュアル（準備・受付・制作手順・片付け）をお届けします。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週替わりの内容に合わせ、キットは週ごとに仕分けして納品します。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アーチの返却は箱・緩衝材を再利用し、同梱の着払い伝票で発送いただくだけです。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御見積書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株式会社NTTドコモ 御中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303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件名：クリスマスワークショップパッケージについて（10セット）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実施期間：2026年11月28日〜12月25日（4週間）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914400"/>
            <a:ext cx="2926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株式会社DreamCreation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〒550-0015 大阪府大阪市西区南堀江1-10-1 KT堀江801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TEL 06-4967-1038　担当：竹村</a:t>
            </a:r>
            <a:endParaRPr lang="en-US" sz="900" dirty="0"/>
          </a:p>
        </p:txBody>
      </p:sp>
      <p:graphicFrame>
        <p:nvGraphicFramePr>
          <p:cNvPr id="15" name="quote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00400"/>
                <a:gridCol w="457200"/>
                <a:gridCol w="457200"/>
                <a:gridCol w="777240"/>
                <a:gridCol w="96012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御見積内容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数量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日数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単価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金額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摘要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ワークショップキット（スノードーム／スクイーズ）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4,000,000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1地区300個/週×4週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販促物一式（クリスマスアーチ・B0ボードPOP10枚・開催中ツール・コスプレ）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アーチは期間中レンタル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企画・ディレクション・運用マニュアル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配送料（10地区 往復）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別途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別途請求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実費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B9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ot_0"/>
          <p:cNvSpPr/>
          <p:nvPr/>
        </p:nvSpPr>
        <p:spPr>
          <a:xfrm>
            <a:off x="5577840" y="3703320"/>
            <a:ext cx="3108960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0" y="3703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小計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7033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￥5,000,000</a:t>
            </a:r>
            <a:endParaRPr lang="en-US" sz="1200" dirty="0"/>
          </a:p>
        </p:txBody>
      </p:sp>
      <p:sp>
        <p:nvSpPr>
          <p:cNvPr id="10" name="tot_1"/>
          <p:cNvSpPr/>
          <p:nvPr/>
        </p:nvSpPr>
        <p:spPr>
          <a:xfrm>
            <a:off x="5577840" y="4032504"/>
            <a:ext cx="3108960" cy="31089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4032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消費税（10%）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40325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￥500,000</a:t>
            </a:r>
            <a:endParaRPr lang="en-US" sz="1200" dirty="0"/>
          </a:p>
        </p:txBody>
      </p:sp>
      <p:sp>
        <p:nvSpPr>
          <p:cNvPr id="13" name="tot_2"/>
          <p:cNvSpPr/>
          <p:nvPr/>
        </p:nvSpPr>
        <p:spPr>
          <a:xfrm>
            <a:off x="5577840" y="4361688"/>
            <a:ext cx="3108960" cy="3108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0" y="43616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合計金額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361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￥5,500,000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※金額は税別表示。配送料は別途、実費にてご請求いたします。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※運営スタッフの派遣は含みません。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株式会社DreamCreation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こどもが夢中になる体験を、企画から当日の準備物まで一社でお届けします。</a:t>
            </a:r>
            <a:endParaRPr lang="en-US" sz="1500" dirty="0"/>
          </a:p>
        </p:txBody>
      </p:sp>
      <p:pic>
        <p:nvPicPr>
          <p:cNvPr id="4" name="end_img" descr="肉球スクイー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914400"/>
            <a:ext cx="2743200" cy="274320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主な実績：ドコモショップ・量販店ドコモブース・大型商業施設でのイベント（全国対応）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TEL 070-1319-2126　／　MAIL data@d-creation-o.com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como Light Red">
  <a:themeElements>
    <a:clrScheme name="Docomo Light Red">
      <a:dk1>
        <a:srgbClr val="333333"/>
      </a:dk1>
      <a:lt1>
        <a:srgbClr val="FFFFFF"/>
      </a:lt1>
      <a:dk2>
        <a:srgbClr val="B8283A"/>
      </a:dk2>
      <a:lt2>
        <a:srgbClr val="FDEFF1"/>
      </a:lt2>
      <a:accent1>
        <a:srgbClr val="E0485A"/>
      </a:accent1>
      <a:accent2>
        <a:srgbClr val="2E7D4F"/>
      </a:accent2>
      <a:accent3>
        <a:srgbClr val="D9A21B"/>
      </a:accent3>
      <a:accent4>
        <a:srgbClr val="8A6A6E"/>
      </a:accent4>
      <a:accent5>
        <a:srgbClr val="FBE3E6"/>
      </a:accent5>
      <a:accent6>
        <a:srgbClr val="8E1F2C"/>
      </a:accent6>
      <a:hlink>
        <a:srgbClr val="B8283A"/>
      </a:hlink>
      <a:folHlink>
        <a:srgbClr val="8E1F2C"/>
      </a:folHlink>
    </a:clrScheme>
    <a:fontScheme name="Docomo Light Red">
      <a:majorFont>
        <a:latin typeface="メイリオ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ドコモイベント支援向けコンテンツ提案</dc:title>
  <dc:subject>PptxGenJS Presentation</dc:subject>
  <dc:creator>株式会社DreamCreation</dc:creator>
  <cp:lastModifiedBy>株式会社DreamCreation</cp:lastModifiedBy>
  <cp:revision>1</cp:revision>
  <dcterms:created xsi:type="dcterms:W3CDTF">2026-10-20T08:40:24Z</dcterms:created>
  <dcterms:modified xsi:type="dcterms:W3CDTF">2026-10-20T08:40:24Z</dcterms:modified>
</cp:coreProperties>
</file>