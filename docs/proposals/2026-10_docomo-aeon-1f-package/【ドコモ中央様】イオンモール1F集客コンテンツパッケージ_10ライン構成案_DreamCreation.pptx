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イオンモール 1F メインイベントスペース展開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ファミリー集客コンテンツ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パッケージ ご提案（10ライン構成案）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ワークショップ × エア遊具 × ゲーム遊具を「役割分担」で組み合わせ、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視認 → 立寄 → 参加 → 会話 → 商談 までを1ブースで完結させる構成案です。</a:t>
            </a:r>
          </a:p>
        </p:txBody>
      </p:sp>
      <p:pic>
        <p:nvPicPr>
          <p:cNvPr id="6" name="Picture 5" descr="airizm.jpg"/>
          <p:cNvPicPr>
            <a:picLocks noChangeAspect="1"/>
          </p:cNvPicPr>
          <p:nvPr/>
        </p:nvPicPr>
        <p:blipFill>
          <a:blip r:embed="rId2"/>
          <a:srcRect l="12500" r="12500"/>
          <a:stretch>
            <a:fillRect/>
          </a:stretch>
        </p:blipFill>
        <p:spPr>
          <a:xfrm>
            <a:off x="7406640" y="3063240"/>
            <a:ext cx="13716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44805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エアリズム</a:t>
            </a:r>
          </a:p>
        </p:txBody>
      </p:sp>
      <p:pic>
        <p:nvPicPr>
          <p:cNvPr id="8" name="Picture 7" descr="punilab-paw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87968" y="306324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87968" y="44805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スクイーズWS</a:t>
            </a:r>
          </a:p>
        </p:txBody>
      </p:sp>
      <p:pic>
        <p:nvPicPr>
          <p:cNvPr id="10" name="Picture 9" descr="carnival-b.jpg"/>
          <p:cNvPicPr>
            <a:picLocks noChangeAspect="1"/>
          </p:cNvPicPr>
          <p:nvPr/>
        </p:nvPicPr>
        <p:blipFill>
          <a:blip r:embed="rId4"/>
          <a:srcRect l="22200" r="22200"/>
          <a:stretch>
            <a:fillRect/>
          </a:stretch>
        </p:blipFill>
        <p:spPr>
          <a:xfrm>
            <a:off x="10369296" y="3063240"/>
            <a:ext cx="137160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69296" y="44805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カーニバル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5074920"/>
            <a:ext cx="10698480" cy="0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525780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2026年10月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株式会社DreamCreation 企画書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52578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提出先：NTTドコモ 中央 ご担当者様</a:t>
            </a:r>
          </a:p>
          <a:p>
            <a:pPr algn="r">
              <a:lnSpc>
                <a:spcPct val="115000"/>
              </a:lnSpc>
            </a:pPr>
            <a:r>
              <a:rPr sz="10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コンテンツ企画・運営協力：株式会社NextVision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NTT DOCOMO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本提案の要点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91440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イオンモール1Fメインに展開できる集客コンテンツを、10ラインのパッケージとしてご提案します。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74552" cy="1097280"/>
          </a:xfrm>
          <a:prstGeom prst="rect">
            <a:avLst/>
          </a:prstGeom>
          <a:solidFill>
            <a:srgbClr val="FDF0F0"/>
          </a:solidFill>
          <a:ln w="9525">
            <a:solidFill>
              <a:srgbClr val="F4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901952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19072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役割分担型パッケージ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719072"/>
            <a:ext cx="6309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1ブースを「アイキャッチ（エア遊具）」「滞在（ワークショップ）」「キッズケア（ゲーム遊具）」の3役で構成。集客だけで終わらせず、保護者様との会話・商談時間を生み出す設計です。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1719072"/>
            <a:ext cx="868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→ P.03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16352"/>
            <a:ext cx="11274552" cy="1097280"/>
          </a:xfrm>
          <a:prstGeom prst="rect">
            <a:avLst/>
          </a:prstGeom>
          <a:solidFill>
            <a:srgbClr val="FDF0F0"/>
          </a:solidFill>
          <a:ln w="9525">
            <a:solidFill>
              <a:srgbClr val="F4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3163824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80944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10ライン構成 × 4タイプ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80944"/>
            <a:ext cx="6309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会場面積・施設ルールに合わせて選べる4タイプ（大型／スタンダード／季節限定／省スペース）で計10ラインを編成。どのモールの1Fメインにも当てはめやすい型で揃えます。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2980944"/>
            <a:ext cx="868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→ P.06 / P.07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78224"/>
            <a:ext cx="11274552" cy="1097280"/>
          </a:xfrm>
          <a:prstGeom prst="rect">
            <a:avLst/>
          </a:prstGeom>
          <a:solidFill>
            <a:srgbClr val="FDF0F0"/>
          </a:solidFill>
          <a:ln w="9525">
            <a:solidFill>
              <a:srgbClr val="F4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442569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42816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新ワークショップ「スノードーム」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242816"/>
            <a:ext cx="6309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スクイーズ・めじるしチャームに加え、試験段階のスノードーム作りを冬季限定で試験導入。2ラインで検証後、反応を見て横展開する段階導入をご提案します。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4242816"/>
            <a:ext cx="868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→ P.10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40680"/>
            <a:ext cx="11274552" cy="566928"/>
          </a:xfrm>
          <a:prstGeom prst="rect">
            <a:avLst/>
          </a:prstGeom>
          <a:solidFill>
            <a:srgbClr val="F4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513832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C0000"/>
                </a:solidFill>
                <a:latin typeface="メイリオ"/>
                <a:ea typeface="メイリオ"/>
                <a:cs typeface="メイリオ"/>
              </a:rPr>
              <a:t>前提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513832"/>
            <a:ext cx="88696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すべてのラインはリースライン内で完結する配置とし、過度な声掛けに頼らず「お客様から近づいていただける」体験で集客します。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02 / 13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NTT DOCOMO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6510528"/>
            <a:ext cx="3227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DREAM CREATION · OCTOBER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パッケージの考え方 ─ 3つの役割で1ブースを構成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91440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コンテンツを単体で置くのではなく、来場者の行動段階ごとに役割を割り当てて組み合わせます。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118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11880" cy="82296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ROLE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アイキャッチ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505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エア遊具 / キッズライセンスパーク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▍遠目から「何かやっている」が伝わる大型ビジュアル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▍通行客の足を止め、立寄率を上げる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▍例：エアリズム・カーニバルA/B・2GAME in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554480"/>
            <a:ext cx="36118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554480"/>
            <a:ext cx="3611880" cy="82296"/>
          </a:xfrm>
          <a:prstGeom prst="rect">
            <a:avLst/>
          </a:prstGeom>
          <a:solidFill>
            <a:srgbClr val="1F5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8308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F5FAD"/>
                </a:solidFill>
                <a:latin typeface="メイリオ"/>
                <a:ea typeface="メイリオ"/>
                <a:cs typeface="メイリオ"/>
              </a:rPr>
              <a:t>ROLE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滞在・参加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4505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5FAD"/>
                </a:solidFill>
                <a:latin typeface="メイリオ"/>
                <a:ea typeface="メイリオ"/>
                <a:cs typeface="メイリオ"/>
              </a:rPr>
              <a:t>ワークショップ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88036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▍「世界に一つの作品づくり」で着座を生む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▍作品完成までの待ち時間＝保護者様とのヒアリング時間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▍例：スクイーズ・めじるしチャーム・スノードーム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6" y="1554480"/>
            <a:ext cx="36118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1554480"/>
            <a:ext cx="3611880" cy="82296"/>
          </a:xfrm>
          <a:prstGeom prst="rect">
            <a:avLst/>
          </a:prstGeom>
          <a:solidFill>
            <a:srgbClr val="387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178308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8761D"/>
                </a:solidFill>
                <a:latin typeface="メイリオ"/>
                <a:ea typeface="メイリオ"/>
                <a:cs typeface="メイリオ"/>
              </a:rPr>
              <a:t>ROLE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キッズケア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4505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8761D"/>
                </a:solidFill>
                <a:latin typeface="メイリオ"/>
                <a:ea typeface="メイリオ"/>
                <a:cs typeface="メイリオ"/>
              </a:rPr>
              <a:t>ゲーム遊具（イライラ棒）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288036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▍商談中のお子様が飽きずに待てる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▍保護者様が落ち着いて話を聞ける環境をつくる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▍例：電撃チャレンジ（イライラ棒）</a:t>
            </a:r>
          </a:p>
        </p:txBody>
      </p:sp>
      <p:sp>
        <p:nvSpPr>
          <p:cNvPr id="23" name="Pentagon 22"/>
          <p:cNvSpPr/>
          <p:nvPr/>
        </p:nvSpPr>
        <p:spPr>
          <a:xfrm>
            <a:off x="457200" y="4572000"/>
            <a:ext cx="2103120" cy="566928"/>
          </a:xfrm>
          <a:prstGeom prst="homePlat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視認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9379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主役：アイキャッチ</a:t>
            </a:r>
          </a:p>
        </p:txBody>
      </p:sp>
      <p:sp>
        <p:nvSpPr>
          <p:cNvPr id="25" name="Chevron 24"/>
          <p:cNvSpPr/>
          <p:nvPr/>
        </p:nvSpPr>
        <p:spPr>
          <a:xfrm>
            <a:off x="2715768" y="4572000"/>
            <a:ext cx="2103120" cy="566928"/>
          </a:xfrm>
          <a:prstGeom prst="chevron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立寄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19379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主役：アイキャッチ</a:t>
            </a:r>
          </a:p>
        </p:txBody>
      </p:sp>
      <p:sp>
        <p:nvSpPr>
          <p:cNvPr id="27" name="Chevron 26"/>
          <p:cNvSpPr/>
          <p:nvPr/>
        </p:nvSpPr>
        <p:spPr>
          <a:xfrm>
            <a:off x="4974336" y="4572000"/>
            <a:ext cx="2103120" cy="566928"/>
          </a:xfrm>
          <a:prstGeom prst="chevron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参加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4336" y="519379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主役：ワークショップ</a:t>
            </a:r>
          </a:p>
        </p:txBody>
      </p:sp>
      <p:sp>
        <p:nvSpPr>
          <p:cNvPr id="29" name="Chevron 28"/>
          <p:cNvSpPr/>
          <p:nvPr/>
        </p:nvSpPr>
        <p:spPr>
          <a:xfrm>
            <a:off x="7232904" y="4572000"/>
            <a:ext cx="2103120" cy="566928"/>
          </a:xfrm>
          <a:prstGeom prst="chevron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519379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主役：WS待ち時間</a:t>
            </a:r>
          </a:p>
        </p:txBody>
      </p:sp>
      <p:sp>
        <p:nvSpPr>
          <p:cNvPr id="31" name="Chevron 30"/>
          <p:cNvSpPr/>
          <p:nvPr/>
        </p:nvSpPr>
        <p:spPr>
          <a:xfrm>
            <a:off x="9491472" y="4572000"/>
            <a:ext cx="2103120" cy="566928"/>
          </a:xfrm>
          <a:prstGeom prst="chevron">
            <a:avLst/>
          </a:prstGeom>
          <a:solidFill>
            <a:srgbClr val="8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商談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519379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主役：キッズケア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577840"/>
            <a:ext cx="11274552" cy="731520"/>
          </a:xfrm>
          <a:prstGeom prst="rect">
            <a:avLst/>
          </a:prstGeom>
          <a:solidFill>
            <a:srgbClr val="F4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650992"/>
            <a:ext cx="192024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C0000"/>
                </a:solidFill>
                <a:latin typeface="メイリオ"/>
                <a:ea typeface="メイリオ"/>
                <a:cs typeface="メイリオ"/>
              </a:rPr>
              <a:t>現場からの学び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5650992"/>
            <a:ext cx="886968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直近の稼働では、イライラ棒は「集客」より「商談中のお子様対応」で効果を発揮しました。役割を固定して配置することで、各コンテンツの強みを最大化します。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03 / 13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NTT DOCOMO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510528"/>
            <a:ext cx="3227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DREAM CREATION · OCTOBER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コンテンツラインアップ ① ワークショップ（滞在・参加）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91440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当社保有の3種のワークショップ。低年齢でも参加できる難易度で、親子の着座時間を生み出します。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36118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unilab-paw.jpg"/>
          <p:cNvPicPr>
            <a:picLocks noChangeAspect="1"/>
          </p:cNvPicPr>
          <p:nvPr/>
        </p:nvPicPr>
        <p:blipFill>
          <a:blip r:embed="rId2"/>
          <a:srcRect t="26027" b="26027"/>
          <a:stretch>
            <a:fillRect/>
          </a:stretch>
        </p:blipFill>
        <p:spPr>
          <a:xfrm>
            <a:off x="594360" y="1645920"/>
            <a:ext cx="3337560" cy="1600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3383279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実績あり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6674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スクイーズ ワークショップ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14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所要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1480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約20分／組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445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544568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3歳〜小学生・親子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974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974336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動物型・カラーを選び、型から剥がして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マジックパウダーで仕上げ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40410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強み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404104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現場評価が高く、待ち時間をそのまま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ヒアリング時間に転換できる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1508760"/>
            <a:ext cx="36118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07408" y="1645920"/>
            <a:ext cx="3337560" cy="160020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写真差し込み予定
（試作品撮影後）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7408" y="3383279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実績あり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66674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めじるしチャーム ワークショップ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114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所要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411480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約10〜15分／組（要確認）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45445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4544568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未就学〜小学生・親子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4974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4974336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パーツを選んで作る、持ち物の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“めじるし”になるオリジナルチャーム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540410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強み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048" y="5404104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回転が早く家族単位で集まりやすい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（直近稼働で集客の立ち上がりが早い）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3296" y="1508760"/>
            <a:ext cx="36118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0456" y="1645920"/>
            <a:ext cx="3337560" cy="160020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写真差し込み予定
（試作品撮影後）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0456" y="3383279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A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試験導入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6" y="366674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スノードーム ワークショップ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6" y="4114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66A00"/>
                </a:solidFill>
                <a:latin typeface="メイリオ"/>
                <a:ea typeface="メイリオ"/>
                <a:cs typeface="メイリオ"/>
              </a:rPr>
              <a:t>所要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69096" y="411480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約15〜20分／組（試作検証中）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45445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66A0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9096" y="4544568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小学生〜大人・親子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0456" y="4974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66A00"/>
                </a:solidFill>
                <a:latin typeface="メイリオ"/>
                <a:ea typeface="メイリオ"/>
                <a:cs typeface="メイリオ"/>
              </a:rPr>
              <a:t>内容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9096" y="4974336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フィギュアやラメを選んで閉じ込める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冬らしい作品づくり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0456" y="540410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66A00"/>
                </a:solidFill>
                <a:latin typeface="メイリオ"/>
                <a:ea typeface="メイリオ"/>
                <a:cs typeface="メイリオ"/>
              </a:rPr>
              <a:t>強み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69096" y="5404104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クリスマス〜冬の季節感で話題化。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大人も参加でき滞在時間が長い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※ 参考価格（最新カタログ・税別）：スクイーズWS ¥70,000／日。めじるしチャーム・スノードームは別途お見積り。材料費・送料は別途。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7200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04 / 13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NTT DOCOMO Confidential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6510528"/>
            <a:ext cx="3227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DREAM CREATION · OCTOBER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コンテンツラインアップ ② エア遊具・ゲーム遊具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91440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NextVisionが自社保有・運用する大型コンテンツ。1Fメインの吹き抜けでも遠目から目に留まります。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11880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rizm.jpg"/>
          <p:cNvPicPr>
            <a:picLocks noChangeAspect="1"/>
          </p:cNvPicPr>
          <p:nvPr/>
        </p:nvPicPr>
        <p:blipFill>
          <a:blip r:embed="rId2"/>
          <a:srcRect l="22477" r="22477"/>
          <a:stretch>
            <a:fillRect/>
          </a:stretch>
        </p:blipFill>
        <p:spPr>
          <a:xfrm>
            <a:off x="566928" y="1572768"/>
            <a:ext cx="1463040" cy="19933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148840" y="160020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アイキャッチ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90195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エアリズム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45059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風船が舞う屋内向けドーム。安全性と視認性を両立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03580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本体 W2800×D1000×H1750</a:t>
            </a:r>
          </a:p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¥50,000 ／日（税別・参考）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463040"/>
            <a:ext cx="3611880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rnival-a.jpg"/>
          <p:cNvPicPr>
            <a:picLocks noChangeAspect="1"/>
          </p:cNvPicPr>
          <p:nvPr/>
        </p:nvPicPr>
        <p:blipFill>
          <a:blip r:embed="rId3"/>
          <a:srcRect l="28495" r="28495"/>
          <a:stretch>
            <a:fillRect/>
          </a:stretch>
        </p:blipFill>
        <p:spPr>
          <a:xfrm>
            <a:off x="4379976" y="1572768"/>
            <a:ext cx="1463040" cy="199339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61888" y="160020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アイキャッチ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190195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カーニバルA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45059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短時間回転で行列をつくりやすい的当てゲーム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303580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本体 W1500×D1450×H2000</a:t>
            </a:r>
          </a:p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¥50,000 ／日（税別・参考）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6" y="1463040"/>
            <a:ext cx="3611880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arnival-b.jpg"/>
          <p:cNvPicPr>
            <a:picLocks noChangeAspect="1"/>
          </p:cNvPicPr>
          <p:nvPr/>
        </p:nvPicPr>
        <p:blipFill>
          <a:blip r:embed="rId4"/>
          <a:srcRect l="29596" r="29596"/>
          <a:stretch>
            <a:fillRect/>
          </a:stretch>
        </p:blipFill>
        <p:spPr>
          <a:xfrm>
            <a:off x="8193024" y="1572768"/>
            <a:ext cx="1463040" cy="199339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774936" y="160020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アイキャッチ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4936" y="190195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カーニバルB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4936" y="245059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兄弟・家族で同時参加でき、滞在を延ばせる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4936" y="303580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本体 W1500×D1450×H2000</a:t>
            </a:r>
          </a:p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¥50,000 ／日（税別・参考）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22192"/>
            <a:ext cx="3611880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2game.png"/>
          <p:cNvPicPr>
            <a:picLocks noChangeAspect="1"/>
          </p:cNvPicPr>
          <p:nvPr/>
        </p:nvPicPr>
        <p:blipFill>
          <a:blip r:embed="rId5"/>
          <a:srcRect l="25496" r="25496"/>
          <a:stretch>
            <a:fillRect/>
          </a:stretch>
        </p:blipFill>
        <p:spPr>
          <a:xfrm>
            <a:off x="566928" y="3931920"/>
            <a:ext cx="1463040" cy="199339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2148840" y="3959352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アイキャッチ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261104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2GAME in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4809744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高さ3mのテント型。吹き抜けで最も目立つ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3949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本体 W2700×D2000×H3000</a:t>
            </a:r>
          </a:p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¥50,000 ／日（税別・参考）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822192"/>
            <a:ext cx="3611880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dengeki.png"/>
          <p:cNvPicPr>
            <a:picLocks noChangeAspect="1"/>
          </p:cNvPicPr>
          <p:nvPr/>
        </p:nvPicPr>
        <p:blipFill>
          <a:blip r:embed="rId6"/>
          <a:srcRect l="13303" r="13303"/>
          <a:stretch>
            <a:fillRect/>
          </a:stretch>
        </p:blipFill>
        <p:spPr>
          <a:xfrm>
            <a:off x="4379976" y="3931920"/>
            <a:ext cx="1463040" cy="1993392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5961888" y="3959352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387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キッズケア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61888" y="4261104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電撃チャレンジ（イライラ棒）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1888" y="4809744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商談中のお子様が夢中になれる。省スペース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1888" y="53949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本体 W1260×D485×H1460</a:t>
            </a:r>
          </a:p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¥80,000 ／日（税別・参考）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83296" y="3822192"/>
            <a:ext cx="3611880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klp.jpg"/>
          <p:cNvPicPr>
            <a:picLocks noChangeAspect="1"/>
          </p:cNvPicPr>
          <p:nvPr/>
        </p:nvPicPr>
        <p:blipFill>
          <a:blip r:embed="rId7"/>
          <a:srcRect l="25523" r="25523"/>
          <a:stretch>
            <a:fillRect/>
          </a:stretch>
        </p:blipFill>
        <p:spPr>
          <a:xfrm>
            <a:off x="8193024" y="3931920"/>
            <a:ext cx="1463040" cy="1993392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9774936" y="3959352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アイキャッチ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74936" y="4261104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キッズライセンスパーク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74936" y="4809744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EVカー運転＋こども免許証。記念性・撮影価値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74936" y="53949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本体 コース約6×4m〜</a:t>
            </a:r>
          </a:p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¥80,000〜 ／日（税別・参考）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7200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05 / 13　価格は最新カタログの参考価格（税別・送料別途）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NTT DOCOMO Confidential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6510528"/>
            <a:ext cx="3227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DREAM CREATION · OCTOBER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パッケージ 4タイプ ─ 会場面積と施設ルールで選べる型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91440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1Fメインの広さ・天井高・リースラインの厳しさに応じて、4つの型から選択いただけます。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26974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2697480" cy="8686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TYPE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5623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大型フル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想定面積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約10m×8m〜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8211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構成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1071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エア遊具 ＋ ワークショップ ＋ イライラ棒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03904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想定会場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3250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吹き抜け・大型催事スペース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2569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ねらい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54296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集客力最大。週末・大型連休向け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1508760"/>
            <a:ext cx="26974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0128" y="1508760"/>
            <a:ext cx="2697480" cy="868680"/>
          </a:xfrm>
          <a:prstGeom prst="rect">
            <a:avLst/>
          </a:prstGeom>
          <a:solidFill>
            <a:srgbClr val="1F5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93008" y="16002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TYPE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185623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スタンダード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256032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F5FAD"/>
                </a:solidFill>
                <a:latin typeface="メイリオ"/>
                <a:ea typeface="メイリオ"/>
                <a:cs typeface="メイリオ"/>
              </a:rPr>
              <a:t>想定面積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27889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約8m×6m〜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318211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F5FAD"/>
                </a:solidFill>
                <a:latin typeface="メイリオ"/>
                <a:ea typeface="メイリオ"/>
                <a:cs typeface="メイリオ"/>
              </a:rPr>
              <a:t>構成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341071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ゲーム遊具 ＋ ワークショップ（＋イライラ棒）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3803904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F5FAD"/>
                </a:solidFill>
                <a:latin typeface="メイリオ"/>
                <a:ea typeface="メイリオ"/>
                <a:cs typeface="メイリオ"/>
              </a:rPr>
              <a:t>想定会場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403250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標準的な1Fイベントスペース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442569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F5FAD"/>
                </a:solidFill>
                <a:latin typeface="メイリオ"/>
                <a:ea typeface="メイリオ"/>
                <a:cs typeface="メイリオ"/>
              </a:rPr>
              <a:t>ねらい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4654296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最も汎用性が高い基本形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3056" y="1508760"/>
            <a:ext cx="26974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63056" y="1508760"/>
            <a:ext cx="2697480" cy="868680"/>
          </a:xfrm>
          <a:prstGeom prst="rect">
            <a:avLst/>
          </a:prstGeom>
          <a:solidFill>
            <a:srgbClr val="A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45936" y="16002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TYPE 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185623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季節限定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256032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66A00"/>
                </a:solidFill>
                <a:latin typeface="メイリオ"/>
                <a:ea typeface="メイリオ"/>
                <a:cs typeface="メイリオ"/>
              </a:rPr>
              <a:t>想定面積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27889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約8m×6m〜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318211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66A00"/>
                </a:solidFill>
                <a:latin typeface="メイリオ"/>
                <a:ea typeface="メイリオ"/>
                <a:cs typeface="メイリオ"/>
              </a:rPr>
              <a:t>構成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5936" y="341071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エア遊具 or ゲーム ＋ スノードーム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3803904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66A00"/>
                </a:solidFill>
                <a:latin typeface="メイリオ"/>
                <a:ea typeface="メイリオ"/>
                <a:cs typeface="メイリオ"/>
              </a:rPr>
              <a:t>想定会場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403250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11月〜2月のクリスマス・冬催事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442569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66A00"/>
                </a:solidFill>
                <a:latin typeface="メイリオ"/>
                <a:ea typeface="メイリオ"/>
                <a:cs typeface="メイリオ"/>
              </a:rPr>
              <a:t>ねらい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5936" y="4654296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季節感で話題化。試験導入枠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15984" y="1508760"/>
            <a:ext cx="26974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15984" y="1508760"/>
            <a:ext cx="2697480" cy="868680"/>
          </a:xfrm>
          <a:prstGeom prst="rect">
            <a:avLst/>
          </a:prstGeom>
          <a:solidFill>
            <a:srgbClr val="387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98864" y="16002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TYPE 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98864" y="185623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省スペース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8864" y="256032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8761D"/>
                </a:solidFill>
                <a:latin typeface="メイリオ"/>
                <a:ea typeface="メイリオ"/>
                <a:cs typeface="メイリオ"/>
              </a:rPr>
              <a:t>想定面積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98864" y="27889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約5m×4m〜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98864" y="318211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8761D"/>
                </a:solidFill>
                <a:latin typeface="メイリオ"/>
                <a:ea typeface="メイリオ"/>
                <a:cs typeface="メイリオ"/>
              </a:rPr>
              <a:t>構成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98864" y="341071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ワークショップ2種 ＋ イライラ棒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98864" y="3803904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8761D"/>
                </a:solidFill>
                <a:latin typeface="メイリオ"/>
                <a:ea typeface="メイリオ"/>
                <a:cs typeface="メイリオ"/>
              </a:rPr>
              <a:t>想定会場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98864" y="403250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狭小スペース・規制の厳しい施設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98864" y="442569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8761D"/>
                </a:solidFill>
                <a:latin typeface="メイリオ"/>
                <a:ea typeface="メイリオ"/>
                <a:cs typeface="メイリオ"/>
              </a:rPr>
              <a:t>ねらい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98864" y="4654296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リースライン内で確実に完結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303520"/>
            <a:ext cx="11274552" cy="731520"/>
          </a:xfrm>
          <a:prstGeom prst="rect">
            <a:avLst/>
          </a:prstGeom>
          <a:solidFill>
            <a:srgbClr val="F4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5376672"/>
            <a:ext cx="192024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C0000"/>
                </a:solidFill>
                <a:latin typeface="メイリオ"/>
                <a:ea typeface="メイリオ"/>
                <a:cs typeface="メイリオ"/>
              </a:rPr>
              <a:t>選定の進め方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51760" y="5376672"/>
            <a:ext cx="886968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ロケハン時に面積・天井高・音出し可否・リースラインを実測し、型を確定します。規制が厳しい施設では無理に大型を持ち込まず、TYPE Dに切り替えます。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57200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06 / 13　面積は目安。各モールの施設規定・設置図により調整します。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4880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NTT DOCOMO Confidential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0" y="6510528"/>
            <a:ext cx="3227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DREAM CREATION · OCTOBER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10ライン構成案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91440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4タイプを組み合わせ、同時期に10ラインを稼働できる編成です。ラインごとにメインのWSを分散させ、在庫を平準化します。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74552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2606040"/>
                <a:gridCol w="548640"/>
                <a:gridCol w="2194560"/>
                <a:gridCol w="2194560"/>
                <a:gridCol w="1399032"/>
                <a:gridCol w="164592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No.</a:t>
                      </a:r>
                    </a:p>
                  </a:txBody>
                  <a:tcPr marL="54864" marR="54864" marT="27432" marB="27432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ライン名（仮）</a:t>
                      </a:r>
                    </a:p>
                  </a:txBody>
                  <a:tcPr marL="54864" marR="54864" marT="27432" marB="27432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型</a:t>
                      </a:r>
                    </a:p>
                  </a:txBody>
                  <a:tcPr marL="54864" marR="54864" marT="27432" marB="27432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アイキャッチ</a:t>
                      </a:r>
                    </a:p>
                  </a:txBody>
                  <a:tcPr marL="54864" marR="54864" marT="27432" marB="27432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ワークショップ</a:t>
                      </a:r>
                    </a:p>
                  </a:txBody>
                  <a:tcPr marL="54864" marR="54864" marT="27432" marB="27432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キッズケア</a:t>
                      </a:r>
                    </a:p>
                  </a:txBody>
                  <a:tcPr marL="54864" marR="54864" marT="27432" marB="27432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推奨時期</a:t>
                      </a:r>
                    </a:p>
                  </a:txBody>
                  <a:tcPr marL="54864" marR="54864" marT="27432" marB="27432" anchor="ctr">
                    <a:solidFill>
                      <a:srgbClr val="CC000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ふわふわバルーンパーク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エアリズム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スクイーズ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イライラ棒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通年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L-02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バルーン×チャーム工房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エアリズム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めじるしチャーム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イライラ棒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通年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L-03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ビッグカーニバル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2GAME in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スクイーズ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イライラ棒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通年・連休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L-04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キッズドライブ＆クラフト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キッズライセンスパーク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めじるしチャーム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─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通年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L-05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カーニバル工房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カーニバルA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スクイーズ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イライラ棒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通年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L-06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ファミリーチャレンジ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カーニバルB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めじるしチャーム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イライラ棒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通年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L-07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スノードーム・ウィンター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エアリズム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スノードーム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イライラ棒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11月〜2月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L-08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ウィンターカーニバル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カーニバルB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スノードーム＋チャーム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─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11月〜2月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L-09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クラフトステーション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─（装飾・POP）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スクイーズ＋チャーム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イライラ棒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通年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L-10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ミニ工房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─（装飾・POP）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スクイーズ or チャーム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イライラ棒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通年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96128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▍WS内訳：スクイーズ L-01/03/05/09/10　めじるしチャーム L-02/04/06/08/09/10　スノードーム L-07/08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▍アイキャッチ内訳：エアリズム 3／カーニバルA 1／カーニバルB 2／2GAME in 1 1／キッズライセンスパーク 1／TYPE D 2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▍同時稼働時の機材在庫（特にエアリズム3基・イライラ棒8台）は確認のうえ、不足分は追加調達または時期分散で対応します。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07 / 13　ライン名は仮称。施設・時期に応じて入れ替え可能です。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NTT DOCOMO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510528"/>
            <a:ext cx="3227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DREAM CREATION · OCTOBER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1Fメイン レイアウトイメージ（TYPE A 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91440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通路側にアイキャッチ、中央にワークショップ、奥に商談席。お子様の動線と保護者様の動線を分けます。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6766560" cy="4480560"/>
          </a:xfrm>
          <a:prstGeom prst="rect">
            <a:avLst/>
          </a:prstGeom>
          <a:solidFill>
            <a:srgbClr val="FAFAFA"/>
          </a:solidFill>
          <a:ln w="25400">
            <a:solidFill>
              <a:srgbClr val="CC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リースライン（施設様と実測・床面表示）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126480"/>
            <a:ext cx="6766560" cy="20116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← 通路（メイン動線）→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4340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FDF0F0"/>
          </a:solidFill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16552"/>
            <a:ext cx="2560320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① アイキャッチ</a:t>
            </a:r>
          </a:p>
          <a:p>
            <a:pPr algn="ctr">
              <a:lnSpc>
                <a:spcPct val="115000"/>
              </a:lnSpc>
            </a:pPr>
            <a:r>
              <a:rPr sz="8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エアリズム等（通路側・視認）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4617720"/>
            <a:ext cx="1371600" cy="1188720"/>
          </a:xfrm>
          <a:prstGeom prst="roundRect">
            <a:avLst>
              <a:gd name="adj" fmla="val 8000"/>
            </a:avLst>
          </a:prstGeom>
          <a:solidFill>
            <a:srgbClr val="E2EFD9"/>
          </a:solidFill>
          <a:ln w="952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4690872"/>
            <a:ext cx="1188720" cy="10424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受付</a:t>
            </a:r>
          </a:p>
          <a:p>
            <a:pPr algn="ctr">
              <a:lnSpc>
                <a:spcPct val="115000"/>
              </a:lnSpc>
            </a:pPr>
            <a:r>
              <a:rPr sz="8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お得診断アンケート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794760"/>
            <a:ext cx="1645920" cy="2011680"/>
          </a:xfrm>
          <a:prstGeom prst="roundRect">
            <a:avLst>
              <a:gd name="adj" fmla="val 8000"/>
            </a:avLst>
          </a:prstGeom>
          <a:solidFill>
            <a:srgbClr val="E3EEFA"/>
          </a:solidFill>
          <a:ln w="9525">
            <a:solidFill>
              <a:srgbClr val="1F5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3867912"/>
            <a:ext cx="1463040" cy="1865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② WS テーブル</a:t>
            </a:r>
          </a:p>
          <a:p>
            <a:pPr algn="ctr">
              <a:lnSpc>
                <a:spcPct val="115000"/>
              </a:lnSpc>
            </a:pPr>
            <a:r>
              <a:rPr sz="8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6〜8席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1874520"/>
            <a:ext cx="42062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947672"/>
            <a:ext cx="4023360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④ 商談テーブル</a:t>
            </a:r>
          </a:p>
          <a:p>
            <a:pPr algn="ctr">
              <a:lnSpc>
                <a:spcPct val="115000"/>
              </a:lnSpc>
            </a:pPr>
            <a:r>
              <a:rPr sz="8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保護者様のヒアリング・ご提案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1874520"/>
            <a:ext cx="1645920" cy="1645920"/>
          </a:xfrm>
          <a:prstGeom prst="roundRect">
            <a:avLst>
              <a:gd name="adj" fmla="val 8000"/>
            </a:avLst>
          </a:prstGeom>
          <a:solidFill>
            <a:srgbClr val="E2EFD9"/>
          </a:solidFill>
          <a:ln w="9525">
            <a:solidFill>
              <a:srgbClr val="387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1947672"/>
            <a:ext cx="1463040" cy="149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③ イライラ棒</a:t>
            </a:r>
          </a:p>
          <a:p>
            <a:pPr algn="ctr">
              <a:lnSpc>
                <a:spcPct val="115000"/>
              </a:lnSpc>
            </a:pPr>
            <a:r>
              <a:rPr sz="8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商談席から見える位置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6002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来場者の動き</a:t>
            </a:r>
          </a:p>
        </p:txBody>
      </p:sp>
      <p:sp>
        <p:nvSpPr>
          <p:cNvPr id="19" name="Oval 18"/>
          <p:cNvSpPr/>
          <p:nvPr/>
        </p:nvSpPr>
        <p:spPr>
          <a:xfrm>
            <a:off x="7680960" y="2011680"/>
            <a:ext cx="347472" cy="34747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048256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通路から①が目に入り、立ち寄り</a:t>
            </a:r>
          </a:p>
        </p:txBody>
      </p:sp>
      <p:sp>
        <p:nvSpPr>
          <p:cNvPr id="21" name="Oval 20"/>
          <p:cNvSpPr/>
          <p:nvPr/>
        </p:nvSpPr>
        <p:spPr>
          <a:xfrm>
            <a:off x="7680960" y="2578608"/>
            <a:ext cx="347472" cy="34747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615184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受付でお得診断アンケートを記入しWSへ</a:t>
            </a:r>
          </a:p>
        </p:txBody>
      </p:sp>
      <p:sp>
        <p:nvSpPr>
          <p:cNvPr id="23" name="Oval 22"/>
          <p:cNvSpPr/>
          <p:nvPr/>
        </p:nvSpPr>
        <p:spPr>
          <a:xfrm>
            <a:off x="7680960" y="3145536"/>
            <a:ext cx="347472" cy="34747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18211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WS制作中に保護者様へヒアリング</a:t>
            </a:r>
          </a:p>
        </p:txBody>
      </p:sp>
      <p:sp>
        <p:nvSpPr>
          <p:cNvPr id="25" name="Oval 24"/>
          <p:cNvSpPr/>
          <p:nvPr/>
        </p:nvSpPr>
        <p:spPr>
          <a:xfrm>
            <a:off x="7680960" y="3712464"/>
            <a:ext cx="347472" cy="34747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374904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④商談テーブルへご案内</a:t>
            </a:r>
          </a:p>
        </p:txBody>
      </p:sp>
      <p:sp>
        <p:nvSpPr>
          <p:cNvPr id="27" name="Oval 26"/>
          <p:cNvSpPr/>
          <p:nvPr/>
        </p:nvSpPr>
        <p:spPr>
          <a:xfrm>
            <a:off x="7680960" y="4279392"/>
            <a:ext cx="347472" cy="34747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31596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お子様は③で遊びながら待機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4937760"/>
            <a:ext cx="4050791" cy="1143000"/>
          </a:xfrm>
          <a:prstGeom prst="rect">
            <a:avLst/>
          </a:prstGeom>
          <a:solidFill>
            <a:srgbClr val="FDF0F0"/>
          </a:solidFill>
          <a:ln w="9525">
            <a:solidFill>
              <a:srgbClr val="F4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5029200"/>
            <a:ext cx="374903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8C0000"/>
                </a:solidFill>
                <a:latin typeface="メイリオ"/>
                <a:ea typeface="メイリオ"/>
                <a:cs typeface="メイリオ"/>
              </a:rPr>
              <a:t>配置のポイント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・すべての什器・スタッフはライン内側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・商談席から子どもが見える位置にキッズケア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・混雑時はWS受付を整理券制に切替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08 / 13　図はイメージ。実際の配置はロケハン後の設置図でご提出します。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NTT DOCOMO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6510528"/>
            <a:ext cx="3227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DREAM CREATION · OCTOBER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運営フローとKPI ─ 「賑わい」で終わらせない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91440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各段階をプロセスKPIで管理し、2時間単位で未達のステップを特定。稼働中に打ち手を切り替えます。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74552" cy="2514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040"/>
                <a:gridCol w="2194560"/>
                <a:gridCol w="4690872"/>
                <a:gridCol w="292608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段階</a:t>
                      </a:r>
                    </a:p>
                  </a:txBody>
                  <a:tcPr marL="54864" marR="54864" marT="27432" marB="27432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主役コンテンツ</a:t>
                      </a:r>
                    </a:p>
                  </a:txBody>
                  <a:tcPr marL="54864" marR="54864" marT="27432" marB="27432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具体的な打ち手</a:t>
                      </a:r>
                    </a:p>
                  </a:txBody>
                  <a:tcPr marL="54864" marR="54864" marT="27432" marB="27432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モニタリング指標</a:t>
                      </a:r>
                    </a:p>
                  </a:txBody>
                  <a:tcPr marL="54864" marR="54864" marT="27432" marB="27432" anchor="ctr">
                    <a:solidFill>
                      <a:srgbClr val="CC000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視認・立寄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エア遊具 / ゲーム遊具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通路側に配置。装飾・POPで「何のイベントか」を一目で伝える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通行者数・立寄数・立寄率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参加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ワークショップ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参加条件として簡易アンケート（お得診断）を記入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WS参加組数・参加率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WS待ち時間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制作中の保護者様へ通信・決済・固定回線をヒアリング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接客化数・ヒアリング完了数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商談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イライラ棒（キッズケア）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お子様を遊ばせつつ商談テーブルで落ち着いてご提案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着座数・提案数・PI／副商材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343400"/>
            <a:ext cx="3611880" cy="1920240"/>
          </a:xfrm>
          <a:prstGeom prst="rect">
            <a:avLst/>
          </a:prstGeom>
          <a:solidFill>
            <a:srgbClr val="FDF0F0"/>
          </a:solidFill>
          <a:ln w="9525">
            <a:solidFill>
              <a:srgbClr val="F4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C0000"/>
                </a:solidFill>
                <a:latin typeface="メイリオ"/>
                <a:ea typeface="メイリオ"/>
                <a:cs typeface="メイリオ"/>
              </a:rPr>
              <a:t>コンテンツ別の効果を記録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会場ごとに「コンテンツによる集客・着火の規模」と「そこからの成約数」を毎日記録し、ライン編成の見直しに使います。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4343400"/>
            <a:ext cx="3611880" cy="1920240"/>
          </a:xfrm>
          <a:prstGeom prst="rect">
            <a:avLst/>
          </a:prstGeom>
          <a:solidFill>
            <a:srgbClr val="FDF0F0"/>
          </a:solidFill>
          <a:ln w="9525">
            <a:solidFill>
              <a:srgbClr val="F4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448056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C0000"/>
                </a:solidFill>
                <a:latin typeface="メイリオ"/>
                <a:ea typeface="メイリオ"/>
                <a:cs typeface="メイリオ"/>
              </a:rPr>
              <a:t>二次策・三次策を事前準備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4892040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主コンテンツの反応が弱い場合に備え、WSの入替（スクイーズ⇔チャーム）やアンケート起点への切替をロケハン時点で用意します。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4343400"/>
            <a:ext cx="3611880" cy="1920240"/>
          </a:xfrm>
          <a:prstGeom prst="rect">
            <a:avLst/>
          </a:prstGeom>
          <a:solidFill>
            <a:srgbClr val="FDF0F0"/>
          </a:solidFill>
          <a:ln w="9525">
            <a:solidFill>
              <a:srgbClr val="F4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448056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C0000"/>
                </a:solidFill>
                <a:latin typeface="メイリオ"/>
                <a:ea typeface="メイリオ"/>
                <a:cs typeface="メイリオ"/>
              </a:rPr>
              <a:t>ヒアリングを飛ばさない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4892040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WS待ち時間を活用し、ヒアリングを十分に行ってから提案に入る接客順序を徹底します。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09 / 13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NTT DOCOMO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6510528"/>
            <a:ext cx="3227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DREAM CREATION · OCTOBER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新ワークショップ「スノードーム」試験導入プラン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91440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現在試作段階のため、2ラインで小さく検証し、基準を満たした時点で横展開する段階導入とします。</a:t>
            </a:r>
          </a:p>
        </p:txBody>
      </p:sp>
      <p:sp>
        <p:nvSpPr>
          <p:cNvPr id="5" name="Pentagon 4"/>
          <p:cNvSpPr/>
          <p:nvPr/>
        </p:nvSpPr>
        <p:spPr>
          <a:xfrm>
            <a:off x="457200" y="1508760"/>
            <a:ext cx="3611880" cy="822960"/>
          </a:xfrm>
          <a:prstGeom prst="homePlate">
            <a:avLst/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PHASE 1　〜11月上旬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社内試作・安全確認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3611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3246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▍材料・工程の確定（液漏れ・破損の確認）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▍所要時間・1日あたり対応組数の計測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▍材料原価と参加費設定の検討</a:t>
            </a:r>
          </a:p>
        </p:txBody>
      </p:sp>
      <p:sp>
        <p:nvSpPr>
          <p:cNvPr id="9" name="Chevron 8"/>
          <p:cNvSpPr/>
          <p:nvPr/>
        </p:nvSpPr>
        <p:spPr>
          <a:xfrm>
            <a:off x="4270248" y="1508760"/>
            <a:ext cx="3611880" cy="822960"/>
          </a:xfrm>
          <a:prstGeom prst="chevron">
            <a:avLst/>
          </a:prstGeom>
          <a:solidFill>
            <a:srgbClr val="A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600200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PHASE 2　11月中旬〜12月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2ラインで試験稼働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2468880"/>
            <a:ext cx="3611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2606040"/>
            <a:ext cx="3246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▍L-07・L-08で冬季限定として稼働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▍スクイーズ・チャームと参加率を比較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▍保護者様の反応・着座への転換を記録</a:t>
            </a:r>
          </a:p>
        </p:txBody>
      </p:sp>
      <p:sp>
        <p:nvSpPr>
          <p:cNvPr id="13" name="Chevron 12"/>
          <p:cNvSpPr/>
          <p:nvPr/>
        </p:nvSpPr>
        <p:spPr>
          <a:xfrm>
            <a:off x="8083296" y="1508760"/>
            <a:ext cx="3611880" cy="822960"/>
          </a:xfrm>
          <a:prstGeom prst="chevron">
            <a:avLst/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94776" y="1600200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PHASE 3　12月末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評価・横展開判断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2468880"/>
            <a:ext cx="3611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2606040"/>
            <a:ext cx="3246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▍検証KPIを満たせば他ラインへ展開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▍未達ならチャーム／スクイーズに戻す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▍結果をご報告のうえ1月以降の編成に反映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4343400"/>
          <a:ext cx="749808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080"/>
                <a:gridCol w="2377440"/>
                <a:gridCol w="219456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検証KPI（案）</a:t>
                      </a:r>
                    </a:p>
                  </a:txBody>
                  <a:tcPr marL="54864" marR="54864" marT="27432" marB="27432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基準（案）</a:t>
                      </a:r>
                    </a:p>
                  </a:txBody>
                  <a:tcPr marL="54864" marR="54864" marT="27432" marB="27432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確認方法</a:t>
                      </a:r>
                    </a:p>
                  </a:txBody>
                  <a:tcPr marL="54864" marR="54864" marT="27432" marB="27432" anchor="ctr">
                    <a:solidFill>
                      <a:srgbClr val="CC000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WS参加率（立寄に対する参加）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スクイーズと同等以上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時間帯別カウント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1組あたり所要時間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20分以内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受付〜お渡しの実測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保護者様の接客化率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既存WSと同等以上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日次実績シート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安全・品質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破損・液漏れ ゼロ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お渡し時チェック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8183879" y="4343400"/>
            <a:ext cx="3547872" cy="173736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写真差し込み予定
（試作品撮影後）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10 / 13　基準値は案です。試作結果を踏まえて確定します。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NTT DOCOMO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510528"/>
            <a:ext cx="3227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DREAM CREATION · OCTOBER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施設ルールの順守 ─ 1Fメインで安心してご利用いただくために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91440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コンテンツ選定の段階から施設ルールを前提にし、「持ち込んだが使えない」を起こしません。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190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リースライン内で完結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246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▍ロケハン時に施設様と実測し、ロケハンシートに記録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▍初日朝に床面表示し全スタッフで共有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▍ライン外での声掛けは行わない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▍手を挙げて呼び込む等の目立つ所作は行わない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50876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53128" y="169164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190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コンテンツの事前適合確認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2286000"/>
            <a:ext cx="3246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▍面積・天井高・重量・電源・音出し可否を一覧化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▍規制が厳しい施設は TYPE D（省スペース）を選択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▍施設様の安全審査書類（保険証書・仕様書・設置図）を事前提出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150876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66176" y="169164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9096" y="17190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店舗様・施設様との連携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286000"/>
            <a:ext cx="32461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▍事前MTGで受け入れキャパシティを数値で確認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▍ご指摘は当日中に事務局長からご報告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▍申し入れがあれば即時に活動停止し是正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29200"/>
            <a:ext cx="11274552" cy="1005840"/>
          </a:xfrm>
          <a:prstGeom prst="rect">
            <a:avLst/>
          </a:prstGeom>
          <a:solidFill>
            <a:srgbClr val="F4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102352"/>
            <a:ext cx="192024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C0000"/>
                </a:solidFill>
                <a:latin typeface="メイリオ"/>
                <a:ea typeface="メイリオ"/>
                <a:cs typeface="メイリオ"/>
              </a:rPr>
              <a:t>直近の反省を反映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5102352"/>
            <a:ext cx="8869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直近の催事で「リースラインの順守」「施設条件に合わないコンテンツ」がご指摘となった事例を踏まえ、本パッケージでは型の選定段階で施設条件を確認し、ラインごとに順守状況をディレクターが1日3回巡回確認します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11 / 13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NTT DOCOMO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510528"/>
            <a:ext cx="3227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DREAM CREATION · OCTOBER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季節ごとの展開イメージ（11月〜3月）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91440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同じ10ラインでも、時期に合わせてワークショップと装飾を入れ替え、リピーターにも新鮮さを保ちます。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130552" cy="6858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13055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856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秋〜ブラックフライデー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1856231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通常編成で立ち上げ。スノードームはPHASE 2開始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554480"/>
            <a:ext cx="2130552" cy="685800"/>
          </a:xfrm>
          <a:prstGeom prst="rect">
            <a:avLst/>
          </a:prstGeom>
          <a:solidFill>
            <a:srgbClr val="A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12月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286000"/>
            <a:ext cx="213055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423160"/>
            <a:ext cx="1856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66A00"/>
                </a:solidFill>
                <a:latin typeface="メイリオ"/>
                <a:ea typeface="メイリオ"/>
                <a:cs typeface="メイリオ"/>
              </a:rPr>
              <a:t>クリスマス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926080"/>
            <a:ext cx="1856231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TYPE C（スノードーム）を2ラインで本格稼働。装飾をクリスマス仕様に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554480"/>
            <a:ext cx="2130552" cy="6858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286000"/>
            <a:ext cx="213055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423160"/>
            <a:ext cx="1856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お正月・初売り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926080"/>
            <a:ext cx="1856231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検証結果を反映し編成を再構築。連休はTYPE Aを優先配置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554480"/>
            <a:ext cx="2130552" cy="685800"/>
          </a:xfrm>
          <a:prstGeom prst="rect">
            <a:avLst/>
          </a:prstGeom>
          <a:solidFill>
            <a:srgbClr val="1F5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2286000"/>
            <a:ext cx="213055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2423160"/>
            <a:ext cx="1856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5FAD"/>
                </a:solidFill>
                <a:latin typeface="メイリオ"/>
                <a:ea typeface="メイリオ"/>
                <a:cs typeface="メイリオ"/>
              </a:rPr>
              <a:t>冬休み明け・バレンタイン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926080"/>
            <a:ext cx="1856231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チャームをハート・ギフト仕様に。平日はTYPE B/Dで効率運営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554480"/>
            <a:ext cx="2130552" cy="685800"/>
          </a:xfrm>
          <a:prstGeom prst="rect">
            <a:avLst/>
          </a:prstGeom>
          <a:solidFill>
            <a:srgbClr val="387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2286000"/>
            <a:ext cx="213055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2423160"/>
            <a:ext cx="1856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8761D"/>
                </a:solidFill>
                <a:latin typeface="メイリオ"/>
                <a:ea typeface="メイリオ"/>
                <a:cs typeface="メイリオ"/>
              </a:rPr>
              <a:t>春休み・新生活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2926080"/>
            <a:ext cx="1856231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家族来場が増える時期。TYPE A比率を高め集客を最大化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83480"/>
            <a:ext cx="11274552" cy="822960"/>
          </a:xfrm>
          <a:prstGeom prst="rect">
            <a:avLst/>
          </a:prstGeom>
          <a:solidFill>
            <a:srgbClr val="F4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056632"/>
            <a:ext cx="19202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C0000"/>
                </a:solidFill>
                <a:latin typeface="メイリオ"/>
                <a:ea typeface="メイリオ"/>
                <a:cs typeface="メイリオ"/>
              </a:rPr>
              <a:t>ねらい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056632"/>
            <a:ext cx="88696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ワークショップの作品は「持ち帰って家族に見せる記念品」。季節テーマを変えることで、同じモールへの再来場とドコモショップ様への来店予約につなげます。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12 / 13　季節施策は案です。各モールの販促カレンダーに合わせて調整します。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NTT DOCOMO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510528"/>
            <a:ext cx="3227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DREAM CREATION · OCTOBER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84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次のステップとご確認事項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91440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本資料は構成案です。以下をすり合わせのうえ、正式なお見積りと稼働計画をご提出します。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694944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0"/>
                <a:gridCol w="466344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ご確認させていただきたい事項</a:t>
                      </a:r>
                    </a:p>
                  </a:txBody>
                  <a:tcPr marL="54864" marR="54864" marT="27432" marB="27432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内容</a:t>
                      </a:r>
                    </a:p>
                  </a:txBody>
                  <a:tcPr marL="54864" marR="54864" marT="27432" marB="27432" anchor="ctr">
                    <a:solidFill>
                      <a:srgbClr val="CC0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対象モール・稼働期間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10ラインの展開候補モール、稼働開始時期・期間・曜日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1Fメインの規格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各モールの面積・天井高・電源・音出し可否・リースライン条件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ライン構成のご希望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TYPE A〜Dの比率、スノードーム試験導入の可否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ご予算感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1ラインあたりのご予算（コンテンツ費・運営人件費・送料の切り分け）</a:t>
                      </a:r>
                    </a:p>
                  </a:txBody>
                  <a:tcPr marL="54864" marR="54864" marT="27432" marB="27432" anchor="ctr">
                    <a:solidFill>
                      <a:srgbClr val="FDF0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運営体制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スタッフ供給範囲（コンテンツ運営のみ／販売スタッフ込み）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0" y="1463040"/>
            <a:ext cx="3959352" cy="822960"/>
          </a:xfrm>
          <a:prstGeom prst="rect">
            <a:avLst/>
          </a:prstGeom>
          <a:solidFill>
            <a:srgbClr val="F4CFCF"/>
          </a:solidFill>
          <a:ln w="9525">
            <a:solidFill>
              <a:srgbClr val="F4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55448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STEP 1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構成案のすり合わせ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本資料をもとにご要望を伺う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423160"/>
            <a:ext cx="3959352" cy="822960"/>
          </a:xfrm>
          <a:prstGeom prst="rect">
            <a:avLst/>
          </a:prstGeom>
          <a:solidFill>
            <a:srgbClr val="FDF0F0"/>
          </a:solidFill>
          <a:ln w="9525">
            <a:solidFill>
              <a:srgbClr val="F4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51460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STEP 2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ロケハン・型の確定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候補モールの実測と TYPE 決定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383280"/>
            <a:ext cx="3959352" cy="822960"/>
          </a:xfrm>
          <a:prstGeom prst="rect">
            <a:avLst/>
          </a:prstGeom>
          <a:solidFill>
            <a:srgbClr val="FDF0F0"/>
          </a:solidFill>
          <a:ln w="9525">
            <a:solidFill>
              <a:srgbClr val="F4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347472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STEP 3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お見積り・稼働計画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ライン別の費用と稼働カレンダー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343400"/>
            <a:ext cx="3959352" cy="822960"/>
          </a:xfrm>
          <a:prstGeom prst="rect">
            <a:avLst/>
          </a:prstGeom>
          <a:solidFill>
            <a:srgbClr val="FDF0F0"/>
          </a:solidFill>
          <a:ln w="9525">
            <a:solidFill>
              <a:srgbClr val="F4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43484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CC0000"/>
                </a:solidFill>
                <a:latin typeface="メイリオ"/>
                <a:ea typeface="メイリオ"/>
                <a:cs typeface="メイリオ"/>
              </a:rPr>
              <a:t>STEP 4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1A1A1A"/>
                </a:solidFill>
                <a:latin typeface="メイリオ"/>
                <a:ea typeface="メイリオ"/>
                <a:cs typeface="メイリオ"/>
              </a:rPr>
              <a:t>稼働開始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4A4A4A"/>
                </a:solidFill>
                <a:latin typeface="メイリオ"/>
                <a:ea typeface="メイリオ"/>
                <a:cs typeface="メイリオ"/>
              </a:rPr>
              <a:t>日次KPI報告・週次の編成見直し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440680"/>
            <a:ext cx="11274552" cy="822960"/>
          </a:xfrm>
          <a:prstGeom prst="rect">
            <a:avLst/>
          </a:prstGeom>
          <a:solidFill>
            <a:srgbClr val="3D2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504688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お問い合わせ　株式会社DreamCreation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TEL 070-1319-2126　／　MAIL data@d-creation-o.com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13 / 13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NTT DOCOMO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510528"/>
            <a:ext cx="3227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67676"/>
                </a:solidFill>
                <a:latin typeface="メイリオ"/>
                <a:ea typeface="メイリオ"/>
                <a:cs typeface="メイリオ"/>
              </a:rPr>
              <a:t>DREAM CREATION ·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